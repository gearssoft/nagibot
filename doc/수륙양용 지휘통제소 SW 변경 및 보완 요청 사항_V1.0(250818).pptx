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1631" r:id="rId4"/>
    <p:sldId id="1632" r:id="rId5"/>
    <p:sldId id="1616" r:id="rId6"/>
    <p:sldId id="1679" r:id="rId7"/>
    <p:sldId id="1683" r:id="rId8"/>
    <p:sldId id="1610" r:id="rId9"/>
    <p:sldId id="1633" r:id="rId10"/>
    <p:sldId id="1684" r:id="rId11"/>
    <p:sldId id="1636" r:id="rId12"/>
    <p:sldId id="1637" r:id="rId13"/>
    <p:sldId id="1653" r:id="rId14"/>
    <p:sldId id="1646" r:id="rId15"/>
    <p:sldId id="1694" r:id="rId16"/>
    <p:sldId id="1619" r:id="rId17"/>
    <p:sldId id="1654" r:id="rId18"/>
    <p:sldId id="262" r:id="rId19"/>
    <p:sldId id="263" r:id="rId20"/>
    <p:sldId id="1617" r:id="rId21"/>
    <p:sldId id="1634" r:id="rId22"/>
    <p:sldId id="1695" r:id="rId23"/>
    <p:sldId id="264" r:id="rId24"/>
    <p:sldId id="259" r:id="rId25"/>
    <p:sldId id="1635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368FDAB-21DE-4EA2-BA4A-8FEAFF3DBD41}">
          <p14:sldIdLst>
            <p14:sldId id="256"/>
            <p14:sldId id="260"/>
          </p14:sldIdLst>
        </p14:section>
        <p14:section name="주관기관 협의안(참조)" id="{7A2238B9-9961-4B84-A72C-1DFEC10BDF57}">
          <p14:sldIdLst>
            <p14:sldId id="1631"/>
            <p14:sldId id="1632"/>
            <p14:sldId id="1616"/>
            <p14:sldId id="1679"/>
            <p14:sldId id="1683"/>
            <p14:sldId id="1610"/>
            <p14:sldId id="1633"/>
            <p14:sldId id="1684"/>
            <p14:sldId id="1636"/>
            <p14:sldId id="1637"/>
            <p14:sldId id="1653"/>
            <p14:sldId id="1646"/>
            <p14:sldId id="1694"/>
            <p14:sldId id="1619"/>
            <p14:sldId id="1654"/>
          </p14:sldIdLst>
        </p14:section>
        <p14:section name="MD 요청 및 변경 사항" id="{8C398121-7C30-45F7-AAC5-B6447053BF16}">
          <p14:sldIdLst>
            <p14:sldId id="262"/>
            <p14:sldId id="263"/>
            <p14:sldId id="1617"/>
            <p14:sldId id="1634"/>
            <p14:sldId id="1695"/>
            <p14:sldId id="264"/>
            <p14:sldId id="259"/>
            <p14:sldId id="16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81CA7-344E-499B-A4C4-537184890C4A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CCF75-3081-45CD-839A-E2952108CF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0" y="0"/>
            <a:ext cx="898020" cy="48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8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1C3B-A418-CBE4-E428-342B0ED4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2656DB-ED87-6939-3A29-6A0F4E2CB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783A07-1294-C7F6-92C2-4827DB15B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00B95-809E-848D-E498-667A13702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5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1C3B-A418-CBE4-E428-342B0ED4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2656DB-ED87-6939-3A29-6A0F4E2CB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783A07-1294-C7F6-92C2-4827DB15B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00B95-809E-848D-E498-667A13702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63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59AC-2217-40EE-B4E5-6877DC48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ECF617-5ECA-2D98-BA3C-65AF19F75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AD93C4-9919-4B8A-024C-80D34C1E0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652B1-1CCA-1024-C3E1-8C2C46A3B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464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344E-65EC-0A65-1BDA-FBF89F9C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AB617D-A593-F18C-CA4C-5A7272996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49C1FE-9D10-2F04-04F5-BC1774EB9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BBAE8C-DD87-F565-5B99-AE82423E6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002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01EB-957C-C729-1E22-D6023B87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4BEA6C-D0B4-5C11-7455-97548436B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B0171D-2BE6-701B-957A-797859DC4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3A8210-D083-4B68-53B9-475F00DBF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4248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765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20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964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371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118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B4DE-0148-FB8D-EDEC-BB7934C0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3AB8EE-9FB8-17E5-58FF-4F131865C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3E2BA6-28AC-B116-83BB-0BF729E0E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27C3CA-5262-905C-E25C-7532C351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541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739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F0B8-E816-99EA-2A39-90668E04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22BAF0-6032-6189-308A-D20ACAF66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5DC6E-58FF-816D-DF00-C3FF8E75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22247-E3A1-5B6C-646A-19E844B50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03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A77E-E136-1ADE-CED0-E4D751F8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1534B3-8651-B506-0E1A-B69851899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29B672-0E55-2661-8459-D857D56BD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076F5-DA53-9C9C-9EEF-6A3E55A84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855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B024-40A2-B4F5-2DB3-EF1F9AAA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98186C-4651-E720-83B1-DE5F4FB7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DF5609-5D1C-784D-C79D-3D6BA4BE8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D2A9F-A994-77A6-0536-C64BE9364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68B0F-EF3B-4ED9-B589-2C93D3DDEB9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23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937" y="6356350"/>
            <a:ext cx="67972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0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54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36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88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508" y="76802"/>
            <a:ext cx="11232292" cy="66460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937" y="6356350"/>
            <a:ext cx="679728" cy="365125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 flipV="1">
            <a:off x="121507" y="873212"/>
            <a:ext cx="11880000" cy="6590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49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6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31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445212" y="987425"/>
            <a:ext cx="6285234" cy="51712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937" y="6356350"/>
            <a:ext cx="679728" cy="365125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 userDrawn="1"/>
        </p:nvSpPr>
        <p:spPr>
          <a:xfrm>
            <a:off x="121508" y="76802"/>
            <a:ext cx="8141043" cy="664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 flipV="1">
            <a:off x="121507" y="873212"/>
            <a:ext cx="11880000" cy="6590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2"/>
          <p:cNvSpPr>
            <a:spLocks noGrp="1"/>
          </p:cNvSpPr>
          <p:nvPr>
            <p:ph type="body" idx="13"/>
          </p:nvPr>
        </p:nvSpPr>
        <p:spPr>
          <a:xfrm>
            <a:off x="312566" y="987425"/>
            <a:ext cx="4959650" cy="77547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2" name="내용 개체 틀 3"/>
          <p:cNvSpPr>
            <a:spLocks noGrp="1"/>
          </p:cNvSpPr>
          <p:nvPr>
            <p:ph sz="half" idx="14"/>
          </p:nvPr>
        </p:nvSpPr>
        <p:spPr>
          <a:xfrm>
            <a:off x="312566" y="1811208"/>
            <a:ext cx="4959650" cy="434743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7576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92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304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14867" y="255374"/>
            <a:ext cx="11201400" cy="625076"/>
          </a:xfrm>
        </p:spPr>
        <p:txBody>
          <a:bodyPr>
            <a:noAutofit/>
          </a:bodyPr>
          <a:lstStyle>
            <a:lvl1pPr marL="0" algn="l" defTabSz="342900" rtl="0" eaLnBrk="1" latinLnBrk="0" hangingPunct="1">
              <a:defRPr lang="en-US" sz="24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849" y="1070198"/>
            <a:ext cx="11561075" cy="5131731"/>
          </a:xfrm>
        </p:spPr>
        <p:txBody>
          <a:bodyPr/>
          <a:lstStyle>
            <a:lvl1pPr marL="216000" indent="-216000" algn="l" defTabSz="342900" rtl="0" eaLnBrk="1" latinLnBrk="0" hangingPunct="1">
              <a:lnSpc>
                <a:spcPct val="13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ko-KR" altLang="en-US" sz="16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>
              <a:spcBef>
                <a:spcPts val="600"/>
              </a:spcBef>
              <a:buFontTx/>
              <a:buBlip>
                <a:blip r:embed="rId3"/>
              </a:buBlip>
              <a:defRPr lang="ko-KR" altLang="en-US" sz="14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>
              <a:buClr>
                <a:schemeClr val="accent1">
                  <a:lumMod val="60000"/>
                  <a:lumOff val="40000"/>
                </a:schemeClr>
              </a:buClr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12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03BC630-89AA-4C2C-A8B1-538541DBDA45}"/>
              </a:ext>
            </a:extLst>
          </p:cNvPr>
          <p:cNvGrpSpPr/>
          <p:nvPr userDrawn="1"/>
        </p:nvGrpSpPr>
        <p:grpSpPr>
          <a:xfrm flipV="1">
            <a:off x="1" y="6786000"/>
            <a:ext cx="12192001" cy="72000"/>
            <a:chOff x="762001" y="6793200"/>
            <a:chExt cx="9144000" cy="64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7BD349-2BBF-4D7D-A7AE-1C2E0583FEED}"/>
                </a:ext>
              </a:extLst>
            </p:cNvPr>
            <p:cNvSpPr/>
            <p:nvPr/>
          </p:nvSpPr>
          <p:spPr>
            <a:xfrm>
              <a:off x="762001" y="6793200"/>
              <a:ext cx="9143999" cy="6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B3A9358-781B-445A-A5B2-28C23CBEAC15}"/>
                </a:ext>
              </a:extLst>
            </p:cNvPr>
            <p:cNvSpPr/>
            <p:nvPr/>
          </p:nvSpPr>
          <p:spPr>
            <a:xfrm>
              <a:off x="9474201" y="6793200"/>
              <a:ext cx="431800" cy="64800"/>
            </a:xfrm>
            <a:prstGeom prst="rect">
              <a:avLst/>
            </a:prstGeom>
            <a:solidFill>
              <a:srgbClr val="0B7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786D18C-7FBD-4960-AD03-502F925D8FFF}"/>
              </a:ext>
            </a:extLst>
          </p:cNvPr>
          <p:cNvGrpSpPr/>
          <p:nvPr userDrawn="1"/>
        </p:nvGrpSpPr>
        <p:grpSpPr>
          <a:xfrm>
            <a:off x="0" y="0"/>
            <a:ext cx="1824000" cy="108000"/>
            <a:chOff x="-563928" y="562129"/>
            <a:chExt cx="5171738" cy="431800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6A4723CA-7CB9-4869-A989-246E9D0F5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3070" y="562129"/>
              <a:ext cx="3614740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45AF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938" tIns="36969" rIns="73938" bIns="3696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56">
                <a:solidFill>
                  <a:srgbClr val="0070C0"/>
                </a:solidFill>
              </a:endParaRPr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E1E17392-60DD-43C2-AAC0-6C1DCF99E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24520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00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0A214BE6-5877-467B-8B02-E133C3D4F6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63928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0B70B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latinLnBrk="1"/>
              <a:endParaRPr lang="ko-KR" altLang="en-US" sz="1400"/>
            </a:p>
          </p:txBody>
        </p:sp>
      </p:grp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A5B4779-4FA1-4D7D-87F2-2C7405A21397}"/>
              </a:ext>
            </a:extLst>
          </p:cNvPr>
          <p:cNvCxnSpPr/>
          <p:nvPr userDrawn="1"/>
        </p:nvCxnSpPr>
        <p:spPr>
          <a:xfrm>
            <a:off x="575734" y="880450"/>
            <a:ext cx="110405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 descr="D:\12. FTC_downloads\11.PNG">
            <a:extLst>
              <a:ext uri="{FF2B5EF4-FFF2-40B4-BE49-F238E27FC236}">
                <a16:creationId xmlns:a16="http://schemas.microsoft.com/office/drawing/2014/main" id="{ECFE5053-E7C5-3485-D837-9F6090D920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00" y="6303157"/>
            <a:ext cx="2405427" cy="34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869A65-ECC8-C1D2-61CA-1EAC7F6492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85577" y="6237064"/>
            <a:ext cx="1032373" cy="3959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A854F3-011F-505C-D673-62ED413D52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40512" y="6296120"/>
            <a:ext cx="727733" cy="3450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BED135-F681-B419-0158-B78E647153C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765002" y="6303156"/>
            <a:ext cx="2250565" cy="3401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8C140B-5575-9FE8-9D55-8CBBCE96362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974145" y="6237064"/>
            <a:ext cx="1032375" cy="44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8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14867" y="358296"/>
            <a:ext cx="9833936" cy="424732"/>
          </a:xfrm>
        </p:spPr>
        <p:txBody>
          <a:bodyPr>
            <a:noAutofit/>
          </a:bodyPr>
          <a:lstStyle>
            <a:lvl1pPr marL="0" algn="l" defTabSz="342900" rtl="0" eaLnBrk="1" latinLnBrk="0" hangingPunct="1">
              <a:defRPr lang="en-US" sz="18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851" y="1070198"/>
            <a:ext cx="5585255" cy="5131731"/>
          </a:xfrm>
        </p:spPr>
        <p:txBody>
          <a:bodyPr/>
          <a:lstStyle>
            <a:lvl1pPr marL="172800" indent="-172800" algn="l" defTabSz="342900" rtl="0" eaLnBrk="1" latinLnBrk="0" hangingPunct="1">
              <a:lnSpc>
                <a:spcPct val="110000"/>
              </a:lnSpc>
              <a:spcBef>
                <a:spcPts val="675"/>
              </a:spcBef>
              <a:buSzPct val="100000"/>
              <a:buFontTx/>
              <a:buBlip>
                <a:blip r:embed="rId2"/>
              </a:buBlip>
              <a:defRPr lang="ko-KR" altLang="en-US" sz="12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>
              <a:lnSpc>
                <a:spcPct val="110000"/>
              </a:lnSpc>
              <a:spcBef>
                <a:spcPts val="450"/>
              </a:spcBef>
              <a:buFontTx/>
              <a:buBlip>
                <a:blip r:embed="rId3"/>
              </a:buBlip>
              <a:defRPr lang="ko-KR" altLang="en-US" sz="105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>
              <a:lnSpc>
                <a:spcPct val="110000"/>
              </a:lnSpc>
              <a:spcBef>
                <a:spcPts val="225"/>
              </a:spcBef>
              <a:buClr>
                <a:schemeClr val="accent1">
                  <a:lumMod val="60000"/>
                  <a:lumOff val="40000"/>
                </a:schemeClr>
              </a:buClr>
              <a:defRPr lang="ko-KR" altLang="en-US" sz="975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>
              <a:lnSpc>
                <a:spcPct val="110000"/>
              </a:lnSpc>
              <a:spcBef>
                <a:spcPts val="225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9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03BC630-89AA-4C2C-A8B1-538541DBDA45}"/>
              </a:ext>
            </a:extLst>
          </p:cNvPr>
          <p:cNvGrpSpPr/>
          <p:nvPr userDrawn="1"/>
        </p:nvGrpSpPr>
        <p:grpSpPr>
          <a:xfrm flipV="1">
            <a:off x="3" y="6786000"/>
            <a:ext cx="12191999" cy="72000"/>
            <a:chOff x="762001" y="6793200"/>
            <a:chExt cx="9144000" cy="648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F7BD349-2BBF-4D7D-A7AE-1C2E0583FEED}"/>
                </a:ext>
              </a:extLst>
            </p:cNvPr>
            <p:cNvSpPr/>
            <p:nvPr/>
          </p:nvSpPr>
          <p:spPr>
            <a:xfrm>
              <a:off x="762001" y="6793200"/>
              <a:ext cx="9143999" cy="6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B3A9358-781B-445A-A5B2-28C23CBEAC15}"/>
                </a:ext>
              </a:extLst>
            </p:cNvPr>
            <p:cNvSpPr/>
            <p:nvPr/>
          </p:nvSpPr>
          <p:spPr>
            <a:xfrm>
              <a:off x="9474201" y="6793200"/>
              <a:ext cx="431800" cy="64800"/>
            </a:xfrm>
            <a:prstGeom prst="rect">
              <a:avLst/>
            </a:prstGeom>
            <a:solidFill>
              <a:srgbClr val="0B7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786D18C-7FBD-4960-AD03-502F925D8FFF}"/>
              </a:ext>
            </a:extLst>
          </p:cNvPr>
          <p:cNvGrpSpPr/>
          <p:nvPr userDrawn="1"/>
        </p:nvGrpSpPr>
        <p:grpSpPr>
          <a:xfrm>
            <a:off x="0" y="0"/>
            <a:ext cx="1368000" cy="108000"/>
            <a:chOff x="-563928" y="562129"/>
            <a:chExt cx="5171738" cy="431800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A4723CA-7CB9-4869-A989-246E9D0F5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3070" y="562129"/>
              <a:ext cx="3614740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45AF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938" tIns="36969" rIns="73938" bIns="3696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92" dirty="0">
                <a:solidFill>
                  <a:srgbClr val="0070C0"/>
                </a:solidFill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E1E17392-60DD-43C2-AAC0-6C1DCF99E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424520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 dirty="0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0A214BE6-5877-467B-8B02-E133C3D4F6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563928" y="562129"/>
              <a:ext cx="3614738" cy="431800"/>
            </a:xfrm>
            <a:custGeom>
              <a:avLst/>
              <a:gdLst>
                <a:gd name="T0" fmla="*/ 0 w 961"/>
                <a:gd name="T1" fmla="*/ 112 h 112"/>
                <a:gd name="T2" fmla="*/ 825 w 961"/>
                <a:gd name="T3" fmla="*/ 112 h 112"/>
                <a:gd name="T4" fmla="*/ 949 w 961"/>
                <a:gd name="T5" fmla="*/ 33 h 112"/>
                <a:gd name="T6" fmla="*/ 961 w 961"/>
                <a:gd name="T7" fmla="*/ 0 h 112"/>
                <a:gd name="T8" fmla="*/ 0 w 961"/>
                <a:gd name="T9" fmla="*/ 0 h 112"/>
                <a:gd name="T10" fmla="*/ 0 w 961"/>
                <a:gd name="T11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1" h="112">
                  <a:moveTo>
                    <a:pt x="0" y="112"/>
                  </a:moveTo>
                  <a:cubicBezTo>
                    <a:pt x="825" y="112"/>
                    <a:pt x="825" y="112"/>
                    <a:pt x="825" y="112"/>
                  </a:cubicBezTo>
                  <a:cubicBezTo>
                    <a:pt x="869" y="112"/>
                    <a:pt x="924" y="77"/>
                    <a:pt x="949" y="33"/>
                  </a:cubicBezTo>
                  <a:cubicBezTo>
                    <a:pt x="956" y="21"/>
                    <a:pt x="959" y="10"/>
                    <a:pt x="96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0B70B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latinLnBrk="1"/>
              <a:endParaRPr lang="ko-KR" altLang="en-US" sz="1050" dirty="0"/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CEDF86E0-4D1E-4FEA-8FA4-0EDB0C823D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05" y="486131"/>
            <a:ext cx="1506513" cy="240081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A5B4779-4FA1-4D7D-87F2-2C7405A21397}"/>
              </a:ext>
            </a:extLst>
          </p:cNvPr>
          <p:cNvCxnSpPr/>
          <p:nvPr userDrawn="1"/>
        </p:nvCxnSpPr>
        <p:spPr>
          <a:xfrm flipV="1">
            <a:off x="411849" y="881840"/>
            <a:ext cx="11343467" cy="1566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54817" y="1070198"/>
            <a:ext cx="5585255" cy="5131731"/>
          </a:xfrm>
        </p:spPr>
        <p:txBody>
          <a:bodyPr/>
          <a:lstStyle>
            <a:lvl1pPr marL="172800" indent="-172800" algn="l" defTabSz="342900" rtl="0" eaLnBrk="1" latinLnBrk="0" hangingPunct="1">
              <a:lnSpc>
                <a:spcPct val="110000"/>
              </a:lnSpc>
              <a:spcBef>
                <a:spcPts val="675"/>
              </a:spcBef>
              <a:buSzPct val="100000"/>
              <a:buFontTx/>
              <a:buBlip>
                <a:blip r:embed="rId2"/>
              </a:buBlip>
              <a:defRPr lang="ko-KR" altLang="en-US" sz="1200" b="1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1pPr>
            <a:lvl2pPr marL="351000" indent="-171450">
              <a:lnSpc>
                <a:spcPct val="110000"/>
              </a:lnSpc>
              <a:spcBef>
                <a:spcPts val="450"/>
              </a:spcBef>
              <a:buFontTx/>
              <a:buBlip>
                <a:blip r:embed="rId3"/>
              </a:buBlip>
              <a:defRPr lang="ko-KR" altLang="en-US" sz="105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2pPr>
            <a:lvl3pPr marL="486000" indent="-108000">
              <a:lnSpc>
                <a:spcPct val="110000"/>
              </a:lnSpc>
              <a:spcBef>
                <a:spcPts val="225"/>
              </a:spcBef>
              <a:buClr>
                <a:schemeClr val="accent1">
                  <a:lumMod val="60000"/>
                  <a:lumOff val="40000"/>
                </a:schemeClr>
              </a:buClr>
              <a:defRPr lang="ko-KR" altLang="en-US" sz="975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3pPr>
            <a:lvl4pPr marL="648000" indent="-108000">
              <a:lnSpc>
                <a:spcPct val="110000"/>
              </a:lnSpc>
              <a:spcBef>
                <a:spcPts val="225"/>
              </a:spcBef>
              <a:buClr>
                <a:schemeClr val="accent1">
                  <a:lumMod val="60000"/>
                  <a:lumOff val="40000"/>
                </a:schemeClr>
              </a:buClr>
              <a:buFont typeface="맑은 고딕" panose="020B0503020000020004" pitchFamily="50" charset="-127"/>
              <a:buChar char="-"/>
              <a:defRPr lang="ko-KR" altLang="en-US" sz="900" kern="1200" baseline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  <a:cs typeface="+mn-cs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6733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BCF9-1098-499D-80AE-C3BEC58A878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EC894-D22B-4F99-91FF-C9D0ED6523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32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수륙양용 지휘통제소 </a:t>
            </a:r>
            <a:r>
              <a:rPr lang="en-US" altLang="ko-KR" dirty="0"/>
              <a:t>SW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ko-KR" altLang="en-US" dirty="0"/>
              <a:t>변경 및 보완 요청 사항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(</a:t>
            </a:r>
            <a:r>
              <a:rPr lang="ko-KR" altLang="en-US" dirty="0" err="1"/>
              <a:t>모터에이드</a:t>
            </a:r>
            <a:r>
              <a:rPr lang="en-US" altLang="ko-KR" dirty="0"/>
              <a:t>) –</a:t>
            </a:r>
          </a:p>
          <a:p>
            <a:r>
              <a:rPr lang="en-US" altLang="ko-KR" dirty="0"/>
              <a:t>‘25.08.18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42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53C6-9827-569D-5B6C-79C6B83D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9EDE3F7-276E-9B43-5A3C-85C1485E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시스템 구성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5D986B-2B8B-A345-7B65-3E77F0527C1D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1.1 </a:t>
            </a:r>
            <a:r>
              <a:rPr lang="ko-KR" altLang="en-US" dirty="0"/>
              <a:t>시스템 구성</a:t>
            </a:r>
            <a:r>
              <a:rPr lang="en-US" altLang="ko-KR" dirty="0"/>
              <a:t> </a:t>
            </a:r>
            <a:r>
              <a:rPr lang="ko-KR" altLang="en-US" dirty="0"/>
              <a:t>제시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0A757-8BAE-5BF8-CA9A-B2E0A02E136D}"/>
              </a:ext>
            </a:extLst>
          </p:cNvPr>
          <p:cNvSpPr txBox="1"/>
          <p:nvPr/>
        </p:nvSpPr>
        <p:spPr>
          <a:xfrm>
            <a:off x="64143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시스템 구성</a:t>
            </a:r>
            <a:r>
              <a:rPr lang="en-US" altLang="ko-KR" dirty="0"/>
              <a:t> </a:t>
            </a:r>
            <a:r>
              <a:rPr lang="ko-KR" altLang="en-US" dirty="0"/>
              <a:t>협의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B867A5-4CDC-F4C7-36E4-61E6E10F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8" y="1927508"/>
            <a:ext cx="4814244" cy="26062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6A626B7-1EB0-F014-6004-D29EAEC7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24" y="1927508"/>
            <a:ext cx="4288596" cy="361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02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FBC6-D20A-6717-CABF-F53AA782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그림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894" y="1253601"/>
            <a:ext cx="7422919" cy="48307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478E7F3-BD2E-40E8-F798-271900E4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지휘통제시스템 개발방안 정립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8B79A8-6E3B-3835-DAC9-6B55832D3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데이터 및 명령 전달 구조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endParaRPr lang="ko-KR" altLang="en-US" dirty="0"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2BF043F-6A78-D255-3E70-941F9F78974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E622F8F6-5384-5FD3-C254-F045915844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35CCC3C3-7B4E-A60A-91E1-919858818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3B476CE-7305-00F7-72A8-826B365727C1}"/>
              </a:ext>
            </a:extLst>
          </p:cNvPr>
          <p:cNvGrpSpPr/>
          <p:nvPr/>
        </p:nvGrpSpPr>
        <p:grpSpPr>
          <a:xfrm>
            <a:off x="5051156" y="617823"/>
            <a:ext cx="1664238" cy="1755773"/>
            <a:chOff x="3538077" y="420312"/>
            <a:chExt cx="2067844" cy="214508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8078" y="420312"/>
              <a:ext cx="2067843" cy="206435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3538077" y="1164439"/>
              <a:ext cx="1043095" cy="14009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768B9F9-3764-A221-07F5-C3986151AA10}"/>
              </a:ext>
            </a:extLst>
          </p:cNvPr>
          <p:cNvSpPr txBox="1"/>
          <p:nvPr/>
        </p:nvSpPr>
        <p:spPr>
          <a:xfrm>
            <a:off x="4676208" y="5621461"/>
            <a:ext cx="3322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주행로봇 조이스틱 회전 추가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감시장비 조이스틱 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인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/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아웃 추가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  <a:p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주행 로봇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감시장비 분리해서 데이터 작성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4042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FBC6-D20A-6717-CABF-F53AA782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C925E7D-0E9E-02D3-1C06-714456B38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50" y="1775535"/>
            <a:ext cx="8844562" cy="4527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478E7F3-BD2E-40E8-F798-271900E4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지휘통제시스템 개발방안 정립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8B79A8-6E3B-3835-DAC9-6B55832D3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데이터 및 명령 전달 구조</a:t>
            </a:r>
            <a:endParaRPr lang="en-US" altLang="ko-KR" dirty="0">
              <a:latin typeface="+mj-ea"/>
              <a:ea typeface="+mj-ea"/>
            </a:endParaRPr>
          </a:p>
          <a:p>
            <a:pPr lvl="3"/>
            <a:endParaRPr lang="ko-KR" altLang="en-US" dirty="0"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2BF043F-6A78-D255-3E70-941F9F78974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E622F8F6-5384-5FD3-C254-F045915844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35CCC3C3-7B4E-A60A-91E1-919858818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5D13B2-8ED9-AEFB-2C58-3068F1B18BBA}"/>
              </a:ext>
            </a:extLst>
          </p:cNvPr>
          <p:cNvGrpSpPr/>
          <p:nvPr/>
        </p:nvGrpSpPr>
        <p:grpSpPr>
          <a:xfrm>
            <a:off x="6266743" y="567912"/>
            <a:ext cx="1817514" cy="1734922"/>
            <a:chOff x="4224997" y="104980"/>
            <a:chExt cx="2067843" cy="218479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4997" y="225425"/>
              <a:ext cx="2067843" cy="206435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4287872" y="104980"/>
              <a:ext cx="1912690" cy="12527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944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5CAF-CF69-809C-981C-7DA1C435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33D8C-7341-3E59-6C81-95F942CB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  <a:ea typeface="+mj-ea"/>
              </a:rPr>
              <a:t>지휘통제시스템 개발방안 정립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0AE1F8-6C1B-9558-554B-E1F29134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48" y="964911"/>
            <a:ext cx="6464968" cy="5131731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지휘통제시스템</a:t>
            </a:r>
            <a:r>
              <a:rPr lang="en-US" altLang="ko-KR" dirty="0">
                <a:latin typeface="+mj-ea"/>
                <a:ea typeface="+mj-ea"/>
              </a:rPr>
              <a:t> – </a:t>
            </a:r>
            <a:r>
              <a:rPr lang="ko-KR" altLang="en-US" dirty="0">
                <a:latin typeface="+mj-ea"/>
                <a:ea typeface="+mj-ea"/>
              </a:rPr>
              <a:t>아키텍처</a:t>
            </a:r>
            <a:endParaRPr lang="en-US" altLang="ko-KR" dirty="0">
              <a:latin typeface="+mj-ea"/>
              <a:ea typeface="+mj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DC9265C-721E-33C9-D156-1FE567A717EC}"/>
              </a:ext>
            </a:extLst>
          </p:cNvPr>
          <p:cNvGrpSpPr/>
          <p:nvPr/>
        </p:nvGrpSpPr>
        <p:grpSpPr>
          <a:xfrm>
            <a:off x="7839959" y="170912"/>
            <a:ext cx="2828041" cy="638715"/>
            <a:chOff x="6315958" y="170912"/>
            <a:chExt cx="2828041" cy="638715"/>
          </a:xfrm>
        </p:grpSpPr>
        <p:sp>
          <p:nvSpPr>
            <p:cNvPr id="9" name="AutoShape 39">
              <a:extLst>
                <a:ext uri="{FF2B5EF4-FFF2-40B4-BE49-F238E27FC236}">
                  <a16:creationId xmlns:a16="http://schemas.microsoft.com/office/drawing/2014/main" id="{9C2037CB-F6A6-77C3-BEB4-F7E19A10D1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10000"/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" name="Rectangle 45">
              <a:extLst>
                <a:ext uri="{FF2B5EF4-FFF2-40B4-BE49-F238E27FC236}">
                  <a16:creationId xmlns:a16="http://schemas.microsoft.com/office/drawing/2014/main" id="{1CAFC96D-6F57-D1E0-5A1F-E1D047464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56268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n-ea"/>
                </a:rPr>
                <a:t>㈜모션다이나믹스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D7199E67-33EB-0BA8-014D-37D222AC5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766" b="28835"/>
          <a:stretch>
            <a:fillRect/>
          </a:stretch>
        </p:blipFill>
        <p:spPr>
          <a:xfrm>
            <a:off x="837779" y="1595971"/>
            <a:ext cx="6464968" cy="37053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FF991F-6117-8668-9D4E-5F19A02B6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778" y="1395970"/>
            <a:ext cx="4112276" cy="410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8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AECB-6068-0D7D-0C32-3FAB6615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A64D5-B8FC-144F-2CAE-787531C8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1" y="358296"/>
            <a:ext cx="7630215" cy="424732"/>
          </a:xfrm>
        </p:spPr>
        <p:txBody>
          <a:bodyPr/>
          <a:lstStyle/>
          <a:p>
            <a:r>
              <a:rPr lang="ko-KR" altLang="en-US" sz="2600" dirty="0">
                <a:latin typeface="+mj-ea"/>
                <a:ea typeface="+mj-ea"/>
              </a:rPr>
              <a:t>데이터 입출력 예시</a:t>
            </a:r>
            <a:r>
              <a:rPr lang="en-US" altLang="ko-KR" sz="2600" dirty="0">
                <a:latin typeface="+mj-ea"/>
                <a:ea typeface="+mj-ea"/>
              </a:rPr>
              <a:t>: </a:t>
            </a:r>
            <a:r>
              <a:rPr lang="ko-KR" altLang="en-US" sz="2600" dirty="0" err="1">
                <a:latin typeface="+mj-ea"/>
                <a:ea typeface="+mj-ea"/>
              </a:rPr>
              <a:t>경유점</a:t>
            </a:r>
            <a:r>
              <a:rPr lang="ko-KR" altLang="en-US" sz="2600" dirty="0">
                <a:latin typeface="+mj-ea"/>
                <a:ea typeface="+mj-ea"/>
              </a:rPr>
              <a:t> 관리방안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2958F0-55CC-16C7-0C05-2E6A594A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848" y="1070199"/>
            <a:ext cx="8483674" cy="5562377"/>
          </a:xfrm>
        </p:spPr>
        <p:txBody>
          <a:bodyPr>
            <a:normAutofit/>
          </a:bodyPr>
          <a:lstStyle/>
          <a:p>
            <a:r>
              <a:rPr lang="ko-KR" altLang="en-US" sz="1600" dirty="0">
                <a:latin typeface="+mn-ea"/>
              </a:rPr>
              <a:t>다중로봇 </a:t>
            </a:r>
            <a:r>
              <a:rPr lang="ko-KR" altLang="en-US" sz="1600" dirty="0" err="1">
                <a:latin typeface="+mn-ea"/>
              </a:rPr>
              <a:t>경유점</a:t>
            </a:r>
            <a:r>
              <a:rPr lang="ko-KR" altLang="en-US" sz="1600" dirty="0">
                <a:latin typeface="+mn-ea"/>
              </a:rPr>
              <a:t> 관리 </a:t>
            </a:r>
            <a:r>
              <a:rPr lang="en-US" altLang="ko-KR" sz="1600" dirty="0">
                <a:latin typeface="+mn-ea"/>
              </a:rPr>
              <a:t>Flow Chart</a:t>
            </a:r>
          </a:p>
          <a:p>
            <a:pPr lvl="1"/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B343C84-8BDC-4FBA-16ED-91DF6FF82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65275" y="-777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7D5ABF-0DE7-C82A-5718-835D1DD32F9B}"/>
              </a:ext>
            </a:extLst>
          </p:cNvPr>
          <p:cNvSpPr/>
          <p:nvPr/>
        </p:nvSpPr>
        <p:spPr>
          <a:xfrm>
            <a:off x="1769373" y="1901029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콘솔</a:t>
            </a:r>
            <a:r>
              <a:rPr lang="en-US" altLang="ko-KR" sz="1350" dirty="0"/>
              <a:t>: </a:t>
            </a:r>
            <a:r>
              <a:rPr lang="ko-KR" altLang="en-US" sz="1350" dirty="0"/>
              <a:t>경로 지정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8C56BF-C6AB-8CDD-03DA-3CDCD0350390}"/>
              </a:ext>
            </a:extLst>
          </p:cNvPr>
          <p:cNvSpPr/>
          <p:nvPr/>
        </p:nvSpPr>
        <p:spPr>
          <a:xfrm>
            <a:off x="1769373" y="2728381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폴더내 </a:t>
            </a:r>
            <a:endParaRPr lang="en-US" altLang="ko-KR" sz="1350" dirty="0"/>
          </a:p>
          <a:p>
            <a:pPr algn="ctr"/>
            <a:r>
              <a:rPr lang="ko-KR" altLang="en-US" sz="1350" dirty="0"/>
              <a:t>경로 파일 선택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59A4D10-51CA-1E17-AB54-BCBEBE1EEE3F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2740405" y="2373848"/>
            <a:ext cx="0" cy="354533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6E884F-99D5-E3AB-7DD5-DD62C979F8AB}"/>
              </a:ext>
            </a:extLst>
          </p:cNvPr>
          <p:cNvSpPr/>
          <p:nvPr/>
        </p:nvSpPr>
        <p:spPr>
          <a:xfrm>
            <a:off x="1769373" y="3530366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운영 정찰로봇 </a:t>
            </a:r>
            <a:endParaRPr lang="en-US" altLang="ko-KR" sz="1350" dirty="0"/>
          </a:p>
          <a:p>
            <a:pPr algn="ctr"/>
            <a:r>
              <a:rPr lang="ko-KR" altLang="en-US" sz="1350" dirty="0"/>
              <a:t>대수 선정</a:t>
            </a:r>
            <a:r>
              <a:rPr lang="en-US" altLang="ko-KR" sz="1350" dirty="0"/>
              <a:t>(k)</a:t>
            </a:r>
            <a:endParaRPr lang="ko-KR" altLang="en-US" sz="135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8AD087B-37FF-80FB-4B62-848F57FA3BD2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2740405" y="3201199"/>
            <a:ext cx="0" cy="329166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33B40A-8452-978C-4CDE-A5C04552C987}"/>
              </a:ext>
            </a:extLst>
          </p:cNvPr>
          <p:cNvSpPr/>
          <p:nvPr/>
        </p:nvSpPr>
        <p:spPr>
          <a:xfrm>
            <a:off x="1769373" y="4332351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 err="1"/>
              <a:t>경유점</a:t>
            </a:r>
            <a:r>
              <a:rPr lang="ko-KR" altLang="en-US" sz="1350" dirty="0"/>
              <a:t> 클러스터링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C9CF67B-D480-65F8-8AF6-9D5291C64F4B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2740405" y="4003184"/>
            <a:ext cx="0" cy="329166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1E2AE1-9B37-7F48-A59D-0CD660B3716B}"/>
              </a:ext>
            </a:extLst>
          </p:cNvPr>
          <p:cNvSpPr txBox="1"/>
          <p:nvPr/>
        </p:nvSpPr>
        <p:spPr>
          <a:xfrm>
            <a:off x="1769374" y="1716362"/>
            <a:ext cx="714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Start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AB48CB-8327-AD97-4092-F1A6CF8DF8E7}"/>
              </a:ext>
            </a:extLst>
          </p:cNvPr>
          <p:cNvSpPr/>
          <p:nvPr/>
        </p:nvSpPr>
        <p:spPr>
          <a:xfrm>
            <a:off x="1769373" y="5222432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0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각 로봇에 </a:t>
            </a:r>
            <a:r>
              <a:rPr lang="ko-KR" altLang="en-US" sz="1350" dirty="0" err="1"/>
              <a:t>경유점</a:t>
            </a:r>
            <a:r>
              <a:rPr lang="ko-KR" altLang="en-US" sz="1350" dirty="0"/>
              <a:t> 목록 전송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18F4FBD-5EE3-B7C7-3FBD-14ADC08A26D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2740405" y="4805169"/>
            <a:ext cx="0" cy="417262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DFC8BC-80B0-BA0A-E4D1-E16D1CEE12DA}"/>
              </a:ext>
            </a:extLst>
          </p:cNvPr>
          <p:cNvSpPr/>
          <p:nvPr/>
        </p:nvSpPr>
        <p:spPr>
          <a:xfrm>
            <a:off x="4414969" y="1907243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3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실시간 로봇 상태 </a:t>
            </a:r>
            <a:endParaRPr lang="en-US" altLang="ko-KR" sz="1350" dirty="0"/>
          </a:p>
          <a:p>
            <a:pPr algn="ctr"/>
            <a:r>
              <a:rPr lang="ko-KR" altLang="en-US" sz="1350" dirty="0"/>
              <a:t>수집 및 저장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3A05EB-D1DF-E7D2-7B9F-27A8C0C1BB2A}"/>
              </a:ext>
            </a:extLst>
          </p:cNvPr>
          <p:cNvSpPr/>
          <p:nvPr/>
        </p:nvSpPr>
        <p:spPr>
          <a:xfrm>
            <a:off x="7047246" y="1900658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59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로봇별 감시영역</a:t>
            </a:r>
            <a:endParaRPr lang="en-US" altLang="ko-KR" sz="1350" dirty="0"/>
          </a:p>
          <a:p>
            <a:pPr algn="ctr"/>
            <a:r>
              <a:rPr lang="ko-KR" altLang="en-US" sz="1350" dirty="0"/>
              <a:t>정찰 시작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275E4B-75F2-17CA-8FC3-238481C50253}"/>
              </a:ext>
            </a:extLst>
          </p:cNvPr>
          <p:cNvSpPr/>
          <p:nvPr/>
        </p:nvSpPr>
        <p:spPr>
          <a:xfrm>
            <a:off x="7047246" y="2728010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59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 err="1"/>
              <a:t>경유점</a:t>
            </a:r>
            <a:r>
              <a:rPr lang="ko-KR" altLang="en-US" sz="1350" dirty="0"/>
              <a:t> 도달 여부 확인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EEDA7B7-CF42-4FC9-B26C-A7291FE96FB6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8018278" y="2373477"/>
            <a:ext cx="0" cy="354533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BBE7A7-6B91-55EC-2106-69166FE1E71D}"/>
              </a:ext>
            </a:extLst>
          </p:cNvPr>
          <p:cNvSpPr/>
          <p:nvPr/>
        </p:nvSpPr>
        <p:spPr>
          <a:xfrm>
            <a:off x="7047246" y="3529995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59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 err="1"/>
              <a:t>경유점</a:t>
            </a:r>
            <a:r>
              <a:rPr lang="ko-KR" altLang="en-US" sz="1350" dirty="0"/>
              <a:t> 도달 처리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F41443E-4E27-550B-A7E2-A1AC257326DD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8018278" y="3200828"/>
            <a:ext cx="0" cy="329166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23BBFA-48E7-9865-B34C-DEE1B7B8D745}"/>
              </a:ext>
            </a:extLst>
          </p:cNvPr>
          <p:cNvSpPr/>
          <p:nvPr/>
        </p:nvSpPr>
        <p:spPr>
          <a:xfrm>
            <a:off x="7047246" y="4315762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59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모든 </a:t>
            </a:r>
            <a:r>
              <a:rPr lang="ko-KR" altLang="en-US" sz="1350" dirty="0" err="1"/>
              <a:t>경유점</a:t>
            </a:r>
            <a:r>
              <a:rPr lang="ko-KR" altLang="en-US" sz="1350" dirty="0"/>
              <a:t> </a:t>
            </a:r>
            <a:endParaRPr lang="en-US" altLang="ko-KR" sz="1350" dirty="0"/>
          </a:p>
          <a:p>
            <a:pPr algn="ctr"/>
            <a:r>
              <a:rPr lang="ko-KR" altLang="en-US" sz="1350" dirty="0"/>
              <a:t>정찰 완료</a:t>
            </a:r>
            <a:r>
              <a:rPr lang="en-US" altLang="ko-KR" sz="1350" dirty="0"/>
              <a:t> </a:t>
            </a:r>
            <a:r>
              <a:rPr lang="ko-KR" altLang="en-US" sz="1350" dirty="0"/>
              <a:t>여부 판단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5CBF8CE-5B48-BABA-08BB-37FAF71F3501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018278" y="4002813"/>
            <a:ext cx="0" cy="312948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D84B3A3-DECC-00F2-0748-7E37AD48BE18}"/>
              </a:ext>
            </a:extLst>
          </p:cNvPr>
          <p:cNvCxnSpPr>
            <a:cxnSpLocks/>
          </p:cNvCxnSpPr>
          <p:nvPr/>
        </p:nvCxnSpPr>
        <p:spPr>
          <a:xfrm flipH="1">
            <a:off x="8039307" y="2537819"/>
            <a:ext cx="921522" cy="0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4" name="원호 23">
            <a:extLst>
              <a:ext uri="{FF2B5EF4-FFF2-40B4-BE49-F238E27FC236}">
                <a16:creationId xmlns:a16="http://schemas.microsoft.com/office/drawing/2014/main" id="{46005DF5-F6D0-E067-4FC3-A8D7DF5B1ACF}"/>
              </a:ext>
            </a:extLst>
          </p:cNvPr>
          <p:cNvSpPr/>
          <p:nvPr/>
        </p:nvSpPr>
        <p:spPr>
          <a:xfrm rot="2579789">
            <a:off x="8060072" y="2794227"/>
            <a:ext cx="1267025" cy="1307655"/>
          </a:xfrm>
          <a:prstGeom prst="arc">
            <a:avLst>
              <a:gd name="adj1" fmla="val 16200000"/>
              <a:gd name="adj2" fmla="val 21448366"/>
            </a:avLst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E88298-7DB2-67C9-7BC6-8005ADE1639A}"/>
              </a:ext>
            </a:extLst>
          </p:cNvPr>
          <p:cNvSpPr/>
          <p:nvPr/>
        </p:nvSpPr>
        <p:spPr>
          <a:xfrm>
            <a:off x="4397970" y="4315762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3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로봇 모드 변경</a:t>
            </a:r>
            <a:endParaRPr lang="en-US" altLang="ko-KR" sz="1350" dirty="0"/>
          </a:p>
          <a:p>
            <a:pPr algn="ctr"/>
            <a:r>
              <a:rPr lang="en-US" altLang="ko-KR" sz="1350" dirty="0"/>
              <a:t>(</a:t>
            </a:r>
            <a:r>
              <a:rPr lang="ko-KR" altLang="en-US" sz="1350" dirty="0"/>
              <a:t>대기</a:t>
            </a:r>
            <a:r>
              <a:rPr lang="en-US" altLang="ko-KR" sz="1350" dirty="0"/>
              <a:t>/</a:t>
            </a:r>
            <a:r>
              <a:rPr lang="ko-KR" altLang="en-US" sz="1350" dirty="0"/>
              <a:t>추가임무 할당</a:t>
            </a:r>
            <a:r>
              <a:rPr lang="en-US" altLang="ko-KR" sz="1350" dirty="0"/>
              <a:t>)</a:t>
            </a:r>
            <a:endParaRPr lang="ko-KR" altLang="en-US" sz="135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00CAB19-4208-DE29-E572-D99D76FB39BD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flipH="1">
            <a:off x="6340034" y="4552171"/>
            <a:ext cx="707212" cy="0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6BF2A4-AC87-84DF-29A2-E93863CB47A4}"/>
              </a:ext>
            </a:extLst>
          </p:cNvPr>
          <p:cNvSpPr/>
          <p:nvPr/>
        </p:nvSpPr>
        <p:spPr>
          <a:xfrm>
            <a:off x="4414969" y="2734588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3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이상로봇 식별</a:t>
            </a:r>
            <a:endParaRPr lang="en-US" altLang="ko-KR" sz="1350" dirty="0"/>
          </a:p>
          <a:p>
            <a:pPr algn="ctr"/>
            <a:r>
              <a:rPr lang="en-US" altLang="ko-KR" sz="1350" dirty="0"/>
              <a:t>(</a:t>
            </a:r>
            <a:r>
              <a:rPr lang="ko-KR" altLang="en-US" sz="1350" dirty="0"/>
              <a:t>센서</a:t>
            </a:r>
            <a:r>
              <a:rPr lang="en-US" altLang="ko-KR" sz="1350" dirty="0"/>
              <a:t>, </a:t>
            </a:r>
            <a:r>
              <a:rPr lang="ko-KR" altLang="en-US" sz="1350" dirty="0"/>
              <a:t>배터리 등</a:t>
            </a:r>
            <a:r>
              <a:rPr lang="en-US" altLang="ko-KR" sz="1350" dirty="0"/>
              <a:t>)</a:t>
            </a:r>
            <a:endParaRPr lang="ko-KR" altLang="en-US" sz="135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DBEE10-1082-DFDB-9471-F7876E0E9738}"/>
              </a:ext>
            </a:extLst>
          </p:cNvPr>
          <p:cNvSpPr/>
          <p:nvPr/>
        </p:nvSpPr>
        <p:spPr>
          <a:xfrm>
            <a:off x="4414970" y="3536572"/>
            <a:ext cx="1942064" cy="472819"/>
          </a:xfrm>
          <a:prstGeom prst="rect">
            <a:avLst/>
          </a:prstGeom>
          <a:gradFill>
            <a:gsLst>
              <a:gs pos="0">
                <a:schemeClr val="bg1"/>
              </a:gs>
              <a:gs pos="63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 err="1"/>
              <a:t>미도달</a:t>
            </a:r>
            <a:r>
              <a:rPr lang="ko-KR" altLang="en-US" sz="1350" dirty="0"/>
              <a:t> </a:t>
            </a:r>
            <a:r>
              <a:rPr lang="ko-KR" altLang="en-US" sz="1350" dirty="0" err="1"/>
              <a:t>경유점</a:t>
            </a:r>
            <a:r>
              <a:rPr lang="ko-KR" altLang="en-US" sz="1350" dirty="0"/>
              <a:t> 수집</a:t>
            </a:r>
            <a:r>
              <a:rPr lang="en-US" altLang="ko-KR" sz="1350" dirty="0"/>
              <a:t>/</a:t>
            </a:r>
            <a:r>
              <a:rPr lang="ko-KR" altLang="en-US" sz="1350" dirty="0"/>
              <a:t>저장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2E2C91B-345D-E2D9-EA41-9E45CCA431F3}"/>
              </a:ext>
            </a:extLst>
          </p:cNvPr>
          <p:cNvCxnSpPr>
            <a:cxnSpLocks/>
            <a:stCxn id="19" idx="1"/>
            <a:endCxn id="28" idx="3"/>
          </p:cNvCxnSpPr>
          <p:nvPr/>
        </p:nvCxnSpPr>
        <p:spPr>
          <a:xfrm flipH="1">
            <a:off x="6357034" y="3766405"/>
            <a:ext cx="690212" cy="6577"/>
          </a:xfrm>
          <a:prstGeom prst="straightConnector1">
            <a:avLst/>
          </a:prstGeom>
          <a:ln w="28575">
            <a:headEnd w="lg" len="lg"/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3541029E-FA57-B4C0-C190-F40DE7F5AED5}"/>
              </a:ext>
            </a:extLst>
          </p:cNvPr>
          <p:cNvCxnSpPr>
            <a:stCxn id="28" idx="1"/>
            <a:endCxn id="3" idx="3"/>
          </p:cNvCxnSpPr>
          <p:nvPr/>
        </p:nvCxnSpPr>
        <p:spPr>
          <a:xfrm rot="10800000">
            <a:off x="3711439" y="2137440"/>
            <a:ext cx="703533" cy="1635543"/>
          </a:xfrm>
          <a:prstGeom prst="bentConnector3">
            <a:avLst>
              <a:gd name="adj1" fmla="val 62715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32A39BB-C6E5-7C2B-015E-2107C91395F6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5386002" y="3207407"/>
            <a:ext cx="1" cy="32916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9E6CFBA-48B4-1E0F-FD8D-F5AC6BB42466}"/>
              </a:ext>
            </a:extLst>
          </p:cNvPr>
          <p:cNvCxnSpPr>
            <a:stCxn id="21" idx="3"/>
            <a:endCxn id="16" idx="3"/>
          </p:cNvCxnSpPr>
          <p:nvPr/>
        </p:nvCxnSpPr>
        <p:spPr>
          <a:xfrm flipV="1">
            <a:off x="8989310" y="2137067"/>
            <a:ext cx="12700" cy="2415104"/>
          </a:xfrm>
          <a:prstGeom prst="bentConnector3">
            <a:avLst>
              <a:gd name="adj1" fmla="val 720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DE73CF-0BFE-5368-32E4-7D1654C47736}"/>
              </a:ext>
            </a:extLst>
          </p:cNvPr>
          <p:cNvSpPr txBox="1"/>
          <p:nvPr/>
        </p:nvSpPr>
        <p:spPr>
          <a:xfrm>
            <a:off x="8906944" y="4266521"/>
            <a:ext cx="446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No</a:t>
            </a:r>
            <a:endParaRPr lang="ko-KR" altLang="en-US" sz="1200" dirty="0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8212DCDD-3316-2718-7612-2241FD730DE7}"/>
              </a:ext>
            </a:extLst>
          </p:cNvPr>
          <p:cNvCxnSpPr>
            <a:stCxn id="13" idx="2"/>
            <a:endCxn id="15" idx="1"/>
          </p:cNvCxnSpPr>
          <p:nvPr/>
        </p:nvCxnSpPr>
        <p:spPr>
          <a:xfrm rot="5400000" flipH="1" flipV="1">
            <a:off x="1801888" y="3082169"/>
            <a:ext cx="3551598" cy="1674564"/>
          </a:xfrm>
          <a:prstGeom prst="bentConnector4">
            <a:avLst>
              <a:gd name="adj1" fmla="val -6437"/>
              <a:gd name="adj2" fmla="val 84336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199BBE5-0A01-8052-48F9-8361A6C0C365}"/>
              </a:ext>
            </a:extLst>
          </p:cNvPr>
          <p:cNvSpPr txBox="1"/>
          <p:nvPr/>
        </p:nvSpPr>
        <p:spPr>
          <a:xfrm>
            <a:off x="7026104" y="4147313"/>
            <a:ext cx="714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</a:t>
            </a:r>
            <a:endParaRPr lang="ko-KR" altLang="en-US" dirty="0">
              <a:solidFill>
                <a:srgbClr val="0000FF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AB989BE-ADCD-6345-C5F7-DC844835365E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6357034" y="2137068"/>
            <a:ext cx="690213" cy="658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F2311BD-914B-7586-AD02-01FE0004C83D}"/>
              </a:ext>
            </a:extLst>
          </p:cNvPr>
          <p:cNvSpPr txBox="1"/>
          <p:nvPr/>
        </p:nvSpPr>
        <p:spPr>
          <a:xfrm>
            <a:off x="8514950" y="2399320"/>
            <a:ext cx="177356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200" dirty="0"/>
              <a:t>로봇의 </a:t>
            </a:r>
            <a:r>
              <a:rPr lang="ko-KR" altLang="en-US" sz="1200" dirty="0" err="1"/>
              <a:t>현위치</a:t>
            </a:r>
            <a:r>
              <a:rPr lang="en-US" altLang="ko-KR" sz="1200" dirty="0"/>
              <a:t>(x, y) </a:t>
            </a:r>
            <a:r>
              <a:rPr lang="ko-KR" altLang="en-US" sz="1200" dirty="0"/>
              <a:t>수신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BA13D2-7060-FEDD-F6A3-9F65A507E449}"/>
              </a:ext>
            </a:extLst>
          </p:cNvPr>
          <p:cNvSpPr/>
          <p:nvPr/>
        </p:nvSpPr>
        <p:spPr>
          <a:xfrm>
            <a:off x="1650433" y="1656513"/>
            <a:ext cx="2170602" cy="4439487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4FC3D8-4227-6CC5-AB0D-50F2C5618E52}"/>
              </a:ext>
            </a:extLst>
          </p:cNvPr>
          <p:cNvSpPr txBox="1"/>
          <p:nvPr/>
        </p:nvSpPr>
        <p:spPr>
          <a:xfrm>
            <a:off x="2079662" y="1494932"/>
            <a:ext cx="1377600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/>
              <a:t>임무통제장치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5CA62B8-6209-CBC8-F2D3-23C9FF2069DA}"/>
              </a:ext>
            </a:extLst>
          </p:cNvPr>
          <p:cNvSpPr/>
          <p:nvPr/>
        </p:nvSpPr>
        <p:spPr>
          <a:xfrm>
            <a:off x="4308827" y="1636636"/>
            <a:ext cx="2163214" cy="340327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EC5CC7-D942-68BD-F891-3BF5181D8193}"/>
              </a:ext>
            </a:extLst>
          </p:cNvPr>
          <p:cNvSpPr txBox="1"/>
          <p:nvPr/>
        </p:nvSpPr>
        <p:spPr>
          <a:xfrm>
            <a:off x="4680202" y="1494932"/>
            <a:ext cx="1377600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/>
              <a:t>운용통제장치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BFBFE6F-FA42-28AE-F73D-F8A8398B2676}"/>
              </a:ext>
            </a:extLst>
          </p:cNvPr>
          <p:cNvSpPr/>
          <p:nvPr/>
        </p:nvSpPr>
        <p:spPr>
          <a:xfrm>
            <a:off x="6634827" y="1614400"/>
            <a:ext cx="3842812" cy="3425507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64E61F-9487-A845-703F-0CA72B64936B}"/>
              </a:ext>
            </a:extLst>
          </p:cNvPr>
          <p:cNvSpPr txBox="1"/>
          <p:nvPr/>
        </p:nvSpPr>
        <p:spPr>
          <a:xfrm>
            <a:off x="7951386" y="1475054"/>
            <a:ext cx="1097364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500" b="1" dirty="0"/>
              <a:t>정찰로봇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E56387-AFCC-85ED-BF71-481B9C27CEAA}"/>
              </a:ext>
            </a:extLst>
          </p:cNvPr>
          <p:cNvSpPr txBox="1"/>
          <p:nvPr/>
        </p:nvSpPr>
        <p:spPr>
          <a:xfrm>
            <a:off x="6595057" y="4269439"/>
            <a:ext cx="446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Yes</a:t>
            </a:r>
            <a:endParaRPr lang="ko-KR" altLang="en-US" sz="12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6A89023-70F4-077B-69F7-71228E228495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46" name="AutoShape 39">
              <a:extLst>
                <a:ext uri="{FF2B5EF4-FFF2-40B4-BE49-F238E27FC236}">
                  <a16:creationId xmlns:a16="http://schemas.microsoft.com/office/drawing/2014/main" id="{81976602-6D6C-016D-7381-0A000F6CE2A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47" name="Rectangle 45">
              <a:extLst>
                <a:ext uri="{FF2B5EF4-FFF2-40B4-BE49-F238E27FC236}">
                  <a16:creationId xmlns:a16="http://schemas.microsoft.com/office/drawing/2014/main" id="{599C941A-5F72-3954-813B-E62223575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786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BAF7-734B-24D0-F1AD-12086A4D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16F6B-3047-9BEA-718F-C0F4BE3F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1" y="358296"/>
            <a:ext cx="6080125" cy="424732"/>
          </a:xfrm>
        </p:spPr>
        <p:txBody>
          <a:bodyPr/>
          <a:lstStyle/>
          <a:p>
            <a:r>
              <a:rPr lang="ko-KR" altLang="en-US" sz="3000" dirty="0">
                <a:latin typeface="+mj-ea"/>
                <a:ea typeface="+mj-ea"/>
              </a:rPr>
              <a:t>지휘통제시스템 역할 구분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A588360-DF2F-1126-CD9B-62FBCC081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848" y="1070199"/>
            <a:ext cx="8483674" cy="5562377"/>
          </a:xfrm>
        </p:spPr>
        <p:txBody>
          <a:bodyPr>
            <a:norm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지휘통제시스템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임무</a:t>
            </a:r>
            <a:r>
              <a:rPr lang="en-US" altLang="ko-KR" sz="1600" dirty="0">
                <a:latin typeface="+mn-ea"/>
                <a:ea typeface="+mn-ea"/>
              </a:rPr>
              <a:t>/</a:t>
            </a:r>
            <a:r>
              <a:rPr lang="ko-KR" altLang="en-US" sz="1600" dirty="0">
                <a:latin typeface="+mn-ea"/>
                <a:ea typeface="+mn-ea"/>
              </a:rPr>
              <a:t>운영통제장치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 및 정찰로봇 역할 구분</a:t>
            </a:r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750" dirty="0">
              <a:latin typeface="+mn-ea"/>
              <a:ea typeface="+mn-ea"/>
            </a:endParaRPr>
          </a:p>
          <a:p>
            <a:pPr lvl="2"/>
            <a:endParaRPr lang="ko-KR" altLang="en-US" sz="1375" dirty="0">
              <a:latin typeface="+mn-ea"/>
              <a:ea typeface="+mn-ea"/>
            </a:endParaRPr>
          </a:p>
          <a:p>
            <a:pPr lvl="1"/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23E75716-EE5F-B0DF-8DDD-BFAB5C923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65275" y="-777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E330238-E56F-D8DA-7C7B-9B62ECEFEA1E}"/>
              </a:ext>
            </a:extLst>
          </p:cNvPr>
          <p:cNvGrpSpPr/>
          <p:nvPr/>
        </p:nvGrpSpPr>
        <p:grpSpPr>
          <a:xfrm>
            <a:off x="1285320" y="1451580"/>
            <a:ext cx="9551644" cy="4305472"/>
            <a:chOff x="-300510" y="930903"/>
            <a:chExt cx="12026050" cy="4715673"/>
          </a:xfrm>
        </p:grpSpPr>
        <p:sp>
          <p:nvSpPr>
            <p:cNvPr id="18" name="모서리가 둥근 직사각형 8"/>
            <p:cNvSpPr/>
            <p:nvPr/>
          </p:nvSpPr>
          <p:spPr>
            <a:xfrm>
              <a:off x="414866" y="1219201"/>
              <a:ext cx="6795559" cy="2571750"/>
            </a:xfrm>
            <a:prstGeom prst="roundRect">
              <a:avLst>
                <a:gd name="adj" fmla="val 704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바른고딕" panose="020B0603020101020101"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1963" y="1517872"/>
              <a:ext cx="2286000" cy="2057400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151" y="1555972"/>
              <a:ext cx="1990725" cy="1952625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2971" y="1860772"/>
              <a:ext cx="1943100" cy="1714500"/>
            </a:xfrm>
            <a:prstGeom prst="rect">
              <a:avLst/>
            </a:prstGeom>
          </p:spPr>
        </p:pic>
        <p:sp>
          <p:nvSpPr>
            <p:cNvPr id="22" name="왼쪽/오른쪽 화살표 14"/>
            <p:cNvSpPr/>
            <p:nvPr/>
          </p:nvSpPr>
          <p:spPr>
            <a:xfrm>
              <a:off x="2847976" y="2532284"/>
              <a:ext cx="1543050" cy="419100"/>
            </a:xfrm>
            <a:prstGeom prst="leftRightArrow">
              <a:avLst>
                <a:gd name="adj1" fmla="val 50000"/>
                <a:gd name="adj2" fmla="val 6886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바른고딕" panose="020B0603020101020101"/>
              </a:endParaRPr>
            </a:p>
          </p:txBody>
        </p:sp>
        <p:sp>
          <p:nvSpPr>
            <p:cNvPr id="23" name="왼쪽/오른쪽 화살표 15"/>
            <p:cNvSpPr/>
            <p:nvPr/>
          </p:nvSpPr>
          <p:spPr>
            <a:xfrm>
              <a:off x="6877050" y="2532284"/>
              <a:ext cx="1907461" cy="419100"/>
            </a:xfrm>
            <a:prstGeom prst="leftRightArrow">
              <a:avLst>
                <a:gd name="adj1" fmla="val 50000"/>
                <a:gd name="adj2" fmla="val 6886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바른고딕" panose="020B0603020101020101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-300510" y="4243718"/>
              <a:ext cx="5584296" cy="138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ko-KR" altLang="en-US" sz="1600" b="1" dirty="0">
                  <a:latin typeface="+mj-ea"/>
                </a:rPr>
                <a:t>임무통제장치</a:t>
              </a:r>
              <a:endParaRPr lang="en-US" altLang="ko-KR" sz="1600" b="1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임무 현황 수집 및 전시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별 시나리오 관리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별 임무</a:t>
              </a:r>
              <a:r>
                <a:rPr lang="en-US" altLang="ko-KR" sz="1200" dirty="0">
                  <a:latin typeface="+mj-ea"/>
                </a:rPr>
                <a:t>(</a:t>
              </a:r>
              <a:r>
                <a:rPr lang="ko-KR" altLang="en-US" sz="1200" dirty="0">
                  <a:latin typeface="+mj-ea"/>
                </a:rPr>
                <a:t>명령</a:t>
              </a:r>
              <a:r>
                <a:rPr lang="en-US" altLang="ko-KR" sz="1200" dirty="0">
                  <a:latin typeface="+mj-ea"/>
                </a:rPr>
                <a:t>) </a:t>
              </a:r>
              <a:r>
                <a:rPr lang="ko-KR" altLang="en-US" sz="1200" dirty="0">
                  <a:latin typeface="+mj-ea"/>
                </a:rPr>
                <a:t>설정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상태 일부 수집 및 전시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별 감시 영역 및 맵 정보 저장</a:t>
              </a:r>
              <a:endParaRPr lang="en-US" altLang="ko-KR" sz="1200" dirty="0">
                <a:latin typeface="+mj-ea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4105531" y="4264467"/>
              <a:ext cx="4481009" cy="1382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ko-KR" altLang="en-US" sz="1600" b="1" dirty="0">
                  <a:latin typeface="+mj-ea"/>
                </a:rPr>
                <a:t>운용통제장치</a:t>
              </a:r>
              <a:endParaRPr lang="en-US" altLang="ko-KR" sz="1600" b="1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감시</a:t>
              </a:r>
              <a:r>
                <a:rPr lang="en-US" altLang="ko-KR" sz="1200" dirty="0">
                  <a:latin typeface="+mj-ea"/>
                </a:rPr>
                <a:t>/</a:t>
              </a:r>
              <a:r>
                <a:rPr lang="ko-KR" altLang="en-US" sz="1200" dirty="0">
                  <a:latin typeface="+mj-ea"/>
                </a:rPr>
                <a:t>주행 영상 전시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원격 제어</a:t>
              </a:r>
              <a:r>
                <a:rPr lang="en-US" altLang="ko-KR" sz="1200" dirty="0">
                  <a:latin typeface="+mj-ea"/>
                </a:rPr>
                <a:t>(</a:t>
              </a:r>
              <a:r>
                <a:rPr lang="ko-KR" altLang="en-US" sz="1200" dirty="0" err="1">
                  <a:latin typeface="+mj-ea"/>
                </a:rPr>
                <a:t>주행로봇</a:t>
              </a:r>
              <a:r>
                <a:rPr lang="en-US" altLang="ko-KR" sz="1200" dirty="0">
                  <a:latin typeface="+mj-ea"/>
                </a:rPr>
                <a:t>/ </a:t>
              </a:r>
              <a:r>
                <a:rPr lang="ko-KR" altLang="en-US" sz="1200" dirty="0">
                  <a:latin typeface="+mj-ea"/>
                </a:rPr>
                <a:t>감시장비</a:t>
              </a:r>
              <a:r>
                <a:rPr lang="en-US" altLang="ko-KR" sz="1200" dirty="0">
                  <a:latin typeface="+mj-ea"/>
                </a:rPr>
                <a:t>, </a:t>
              </a:r>
              <a:r>
                <a:rPr lang="ko-KR" altLang="en-US" sz="1200" dirty="0">
                  <a:latin typeface="+mj-ea"/>
                </a:rPr>
                <a:t>비상 정지</a:t>
              </a:r>
              <a:r>
                <a:rPr lang="en-US" altLang="ko-KR" sz="1200" dirty="0">
                  <a:latin typeface="+mj-ea"/>
                </a:rPr>
                <a:t>)</a:t>
              </a: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각 </a:t>
              </a:r>
              <a:r>
                <a:rPr lang="ko-KR" altLang="en-US" sz="1200" dirty="0" err="1">
                  <a:latin typeface="+mj-ea"/>
                </a:rPr>
                <a:t>정찰로봇</a:t>
              </a:r>
              <a:r>
                <a:rPr lang="ko-KR" altLang="en-US" sz="1200" dirty="0">
                  <a:latin typeface="+mj-ea"/>
                </a:rPr>
                <a:t> 상태 수집 및 전시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표적 식별</a:t>
              </a:r>
              <a:endParaRPr lang="en-US" altLang="ko-KR" sz="1200" dirty="0">
                <a:latin typeface="+mj-ea"/>
              </a:endParaRPr>
            </a:p>
            <a:p>
              <a:pPr lvl="1"/>
              <a:r>
                <a:rPr lang="en-US" altLang="ko-KR" sz="1200" dirty="0">
                  <a:latin typeface="+mj-ea"/>
                </a:rPr>
                <a:t>- </a:t>
              </a:r>
              <a:r>
                <a:rPr lang="ko-KR" altLang="en-US" sz="1200" dirty="0">
                  <a:latin typeface="+mj-ea"/>
                </a:rPr>
                <a:t>임무통제장치로부터 받은 임무 하달</a:t>
              </a:r>
            </a:p>
          </p:txBody>
        </p:sp>
        <p:sp>
          <p:nvSpPr>
            <p:cNvPr id="26" name="모서리가 둥근 직사각형 18"/>
            <p:cNvSpPr/>
            <p:nvPr/>
          </p:nvSpPr>
          <p:spPr>
            <a:xfrm>
              <a:off x="2278650" y="930903"/>
              <a:ext cx="3067991" cy="55584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나눔바른고딕" panose="020B0603020101020101"/>
                </a:rPr>
                <a:t>지휘통제시스템</a:t>
              </a:r>
              <a:endParaRPr lang="ko-KR" altLang="en-US" sz="2400" b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나눔바른고딕" panose="020B0603020101020101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986979" y="4251544"/>
              <a:ext cx="3738561" cy="11798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ko-KR" altLang="en-US" sz="1600" b="1" dirty="0">
                  <a:latin typeface="+mj-ea"/>
                </a:rPr>
                <a:t>정찰 로봇</a:t>
              </a:r>
              <a:endParaRPr lang="en-US" altLang="ko-KR" sz="1600" b="1" dirty="0">
                <a:latin typeface="+mj-ea"/>
              </a:endParaRPr>
            </a:p>
            <a:p>
              <a:pPr marL="628650" lvl="1" indent="-171450">
                <a:buFontTx/>
                <a:buChar char="-"/>
              </a:pPr>
              <a:r>
                <a:rPr lang="ko-KR" altLang="en-US" sz="1200" dirty="0">
                  <a:latin typeface="+mj-ea"/>
                </a:rPr>
                <a:t>운용통제장치 간 통신</a:t>
              </a:r>
              <a:endParaRPr lang="en-US" altLang="ko-KR" sz="1200" dirty="0">
                <a:latin typeface="+mj-ea"/>
              </a:endParaRPr>
            </a:p>
            <a:p>
              <a:pPr marL="628650" lvl="1" indent="-171450">
                <a:buFontTx/>
                <a:buChar char="-"/>
              </a:pPr>
              <a:r>
                <a:rPr lang="ko-KR" altLang="en-US" sz="1200" dirty="0">
                  <a:latin typeface="+mj-ea"/>
                </a:rPr>
                <a:t>원격</a:t>
              </a:r>
              <a:r>
                <a:rPr lang="en-US" altLang="ko-KR" sz="1200" dirty="0">
                  <a:latin typeface="+mj-ea"/>
                </a:rPr>
                <a:t>/ </a:t>
              </a:r>
              <a:r>
                <a:rPr lang="ko-KR" altLang="en-US" sz="1200" dirty="0">
                  <a:latin typeface="+mj-ea"/>
                </a:rPr>
                <a:t>자율 주행 </a:t>
              </a:r>
              <a:endParaRPr lang="en-US" altLang="ko-KR" sz="1200" dirty="0">
                <a:latin typeface="+mj-ea"/>
              </a:endParaRPr>
            </a:p>
            <a:p>
              <a:pPr marL="628650" lvl="1" indent="-171450">
                <a:buFontTx/>
                <a:buChar char="-"/>
              </a:pPr>
              <a:r>
                <a:rPr lang="ko-KR" altLang="en-US" sz="1200" dirty="0">
                  <a:latin typeface="+mj-ea"/>
                </a:rPr>
                <a:t>주변환경 인식</a:t>
              </a:r>
              <a:endParaRPr lang="en-US" altLang="ko-KR" sz="1200" dirty="0">
                <a:latin typeface="+mj-ea"/>
              </a:endParaRPr>
            </a:p>
            <a:p>
              <a:pPr marL="628650" lvl="1" indent="-171450">
                <a:buFontTx/>
                <a:buChar char="-"/>
              </a:pPr>
              <a:r>
                <a:rPr lang="ko-KR" altLang="en-US" sz="1200" dirty="0" err="1">
                  <a:latin typeface="+mj-ea"/>
                </a:rPr>
                <a:t>기구학</a:t>
              </a:r>
              <a:r>
                <a:rPr lang="ko-KR" altLang="en-US" sz="1200" dirty="0">
                  <a:latin typeface="+mj-ea"/>
                </a:rPr>
                <a:t> 연산</a:t>
              </a:r>
              <a:endParaRPr lang="en-US" altLang="ko-KR" sz="1200" dirty="0">
                <a:latin typeface="+mj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614201" y="3419727"/>
              <a:ext cx="2363797" cy="3708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ko-KR" altLang="en-US" sz="1600" b="1" dirty="0">
                  <a:latin typeface="+mj-ea"/>
                </a:rPr>
                <a:t>임무통제장치</a:t>
              </a:r>
              <a:endParaRPr lang="en-US" altLang="ko-KR" sz="1600" b="1" dirty="0">
                <a:latin typeface="+mj-ea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469320" y="3473146"/>
              <a:ext cx="2363797" cy="3708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ko-KR" altLang="en-US" sz="1600" b="1" dirty="0">
                  <a:latin typeface="+mj-ea"/>
                </a:rPr>
                <a:t>운용통제장치</a:t>
              </a:r>
              <a:endParaRPr lang="en-US" altLang="ko-KR" sz="1600" b="1" dirty="0">
                <a:latin typeface="+mj-ea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80EEEE-73F1-CDA9-FD9B-2191709C4A62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4" name="AutoShape 39">
              <a:extLst>
                <a:ext uri="{FF2B5EF4-FFF2-40B4-BE49-F238E27FC236}">
                  <a16:creationId xmlns:a16="http://schemas.microsoft.com/office/drawing/2014/main" id="{A81CA6DE-46DE-44F2-DA51-0941C6E3F15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5" name="Rectangle 45">
              <a:extLst>
                <a:ext uri="{FF2B5EF4-FFF2-40B4-BE49-F238E27FC236}">
                  <a16:creationId xmlns:a16="http://schemas.microsoft.com/office/drawing/2014/main" id="{EFE7B3CE-0847-CD95-20BC-1F3A5EE59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720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정찰로봇 운용 시나리오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전체 시나리오 구성</a:t>
            </a:r>
            <a:r>
              <a:rPr lang="en-US" altLang="ko-KR" dirty="0">
                <a:latin typeface="+mj-ea"/>
                <a:ea typeface="+mj-ea"/>
              </a:rPr>
              <a:t>: </a:t>
            </a:r>
            <a:r>
              <a:rPr lang="ko-KR" altLang="en-US" dirty="0">
                <a:latin typeface="+mj-ea"/>
                <a:ea typeface="+mj-ea"/>
              </a:rPr>
              <a:t>평시 정찰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응용연구단계</a:t>
            </a:r>
            <a:r>
              <a:rPr lang="en-US" altLang="ko-KR" dirty="0">
                <a:latin typeface="+mj-ea"/>
                <a:ea typeface="+mj-ea"/>
              </a:rPr>
              <a:t>), </a:t>
            </a:r>
            <a:r>
              <a:rPr lang="ko-KR" altLang="en-US" dirty="0">
                <a:latin typeface="+mj-ea"/>
                <a:ea typeface="+mj-ea"/>
              </a:rPr>
              <a:t>표적 접근 정찰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시험개발단계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단계 목표인 </a:t>
            </a:r>
            <a:r>
              <a:rPr lang="ko-KR" altLang="en-US" b="1" u="sng" dirty="0">
                <a:solidFill>
                  <a:schemeClr val="tx1"/>
                </a:solidFill>
                <a:latin typeface="+mj-ea"/>
                <a:ea typeface="+mj-ea"/>
              </a:rPr>
              <a:t>평시정찰만 고려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하여 임무관리 기능 설정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8574F8-295E-BF59-5165-D82ED30C3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12" y="1798625"/>
            <a:ext cx="6461488" cy="4403304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0FECF60E-50C3-9743-BA9B-5D2BBCFBF461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6" name="AutoShape 39">
              <a:extLst>
                <a:ext uri="{FF2B5EF4-FFF2-40B4-BE49-F238E27FC236}">
                  <a16:creationId xmlns:a16="http://schemas.microsoft.com/office/drawing/2014/main" id="{C4C9B262-A703-198D-F80E-1E07EF986D9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8" name="Rectangle 45">
              <a:extLst>
                <a:ext uri="{FF2B5EF4-FFF2-40B4-BE49-F238E27FC236}">
                  <a16:creationId xmlns:a16="http://schemas.microsoft.com/office/drawing/2014/main" id="{AA6FC4AA-DDBF-39D6-1A3C-3E7568599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117B3E-9D83-989A-9B94-466640877426}"/>
              </a:ext>
            </a:extLst>
          </p:cNvPr>
          <p:cNvSpPr/>
          <p:nvPr/>
        </p:nvSpPr>
        <p:spPr>
          <a:xfrm>
            <a:off x="2714626" y="1798625"/>
            <a:ext cx="3228975" cy="4403304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6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군집 운용 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SW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요구</a:t>
            </a:r>
            <a:r>
              <a:rPr lang="en-US" altLang="ko-KR" sz="30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000" dirty="0">
                <a:solidFill>
                  <a:schemeClr val="tx1"/>
                </a:solidFill>
                <a:latin typeface="+mj-ea"/>
                <a:ea typeface="+mj-ea"/>
              </a:rPr>
              <a:t>기능 도출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평시정찰 시나리오 </a:t>
            </a:r>
            <a:r>
              <a:rPr lang="ko-KR" altLang="en-US" u="sng" dirty="0">
                <a:solidFill>
                  <a:schemeClr val="tx1"/>
                </a:solidFill>
                <a:latin typeface="+mj-ea"/>
                <a:ea typeface="+mj-ea"/>
              </a:rPr>
              <a:t>요구기능 도출</a:t>
            </a:r>
            <a:endParaRPr lang="en-US" altLang="ko-KR" u="sng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임무관리의 기능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로봇에 할당할 운용 모드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E98574F8-295E-BF59-5165-D82ED30C3D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27"/>
          <a:stretch/>
        </p:blipFill>
        <p:spPr>
          <a:xfrm>
            <a:off x="4433487" y="1986179"/>
            <a:ext cx="2957424" cy="4236389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6549706" y="2513084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꺾인 연결선 7"/>
          <p:cNvCxnSpPr>
            <a:cxnSpLocks/>
            <a:stCxn id="3" idx="6"/>
            <a:endCxn id="65" idx="2"/>
          </p:cNvCxnSpPr>
          <p:nvPr/>
        </p:nvCxnSpPr>
        <p:spPr>
          <a:xfrm flipV="1">
            <a:off x="6632576" y="2123384"/>
            <a:ext cx="1762854" cy="432141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6482076" y="3069081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" name="꺾인 연결선 13"/>
          <p:cNvCxnSpPr>
            <a:cxnSpLocks/>
            <a:stCxn id="13" idx="6"/>
            <a:endCxn id="71" idx="2"/>
          </p:cNvCxnSpPr>
          <p:nvPr/>
        </p:nvCxnSpPr>
        <p:spPr>
          <a:xfrm>
            <a:off x="6564946" y="3111521"/>
            <a:ext cx="1814642" cy="16811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4573156" y="4367664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" name="꺾인 연결선 19"/>
          <p:cNvCxnSpPr>
            <a:cxnSpLocks/>
            <a:stCxn id="19" idx="2"/>
          </p:cNvCxnSpPr>
          <p:nvPr/>
        </p:nvCxnSpPr>
        <p:spPr>
          <a:xfrm rot="10800000" flipV="1">
            <a:off x="3368780" y="4410104"/>
            <a:ext cx="1204376" cy="310079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4609079" y="3754545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" name="꺾인 연결선 24"/>
          <p:cNvCxnSpPr>
            <a:cxnSpLocks/>
            <a:stCxn id="24" idx="2"/>
            <a:endCxn id="58" idx="0"/>
          </p:cNvCxnSpPr>
          <p:nvPr/>
        </p:nvCxnSpPr>
        <p:spPr>
          <a:xfrm rot="10800000">
            <a:off x="3685254" y="3251747"/>
            <a:ext cx="923827" cy="545238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/>
          <p:cNvSpPr/>
          <p:nvPr/>
        </p:nvSpPr>
        <p:spPr>
          <a:xfrm>
            <a:off x="4479848" y="5787456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7" name="꺾인 연결선 26"/>
          <p:cNvCxnSpPr>
            <a:cxnSpLocks/>
            <a:stCxn id="26" idx="2"/>
            <a:endCxn id="41" idx="3"/>
          </p:cNvCxnSpPr>
          <p:nvPr/>
        </p:nvCxnSpPr>
        <p:spPr>
          <a:xfrm rot="10800000">
            <a:off x="3342217" y="5721061"/>
            <a:ext cx="1137633" cy="10883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7143459" y="5764851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꺾인 연결선 28"/>
          <p:cNvCxnSpPr>
            <a:cxnSpLocks/>
            <a:stCxn id="28" idx="6"/>
            <a:endCxn id="85" idx="2"/>
          </p:cNvCxnSpPr>
          <p:nvPr/>
        </p:nvCxnSpPr>
        <p:spPr>
          <a:xfrm flipV="1">
            <a:off x="7226329" y="5570955"/>
            <a:ext cx="1185030" cy="236337"/>
          </a:xfrm>
          <a:prstGeom prst="bentConnector3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6005826" y="5556918"/>
            <a:ext cx="82870" cy="84880"/>
          </a:xfrm>
          <a:prstGeom prst="ellipse">
            <a:avLst/>
          </a:prstGeom>
          <a:solidFill>
            <a:srgbClr val="0000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1" name="꺾인 연결선 30"/>
          <p:cNvCxnSpPr>
            <a:cxnSpLocks/>
            <a:stCxn id="30" idx="0"/>
            <a:endCxn id="80" idx="2"/>
          </p:cNvCxnSpPr>
          <p:nvPr/>
        </p:nvCxnSpPr>
        <p:spPr>
          <a:xfrm rot="5400000" flipH="1" flipV="1">
            <a:off x="6644280" y="3843651"/>
            <a:ext cx="1116251" cy="2310287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34865" y="1468928"/>
            <a:ext cx="167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 영역 할당 기능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3829" y="4602781"/>
            <a:ext cx="1853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 영역 재할당 기능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9237" y="5213228"/>
            <a:ext cx="1732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자율 이동 모드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원격 이동 모드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rgbClr val="FF0000"/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경로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출발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도착점 설정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Arial" panose="020B0604020202020204" pitchFamily="34" charset="0"/>
                <a:ea typeface="나눔바른고딕" panose="020B0603020101020101" pitchFamily="50" charset="-127"/>
              </a:rPr>
              <a:t>최단 경로 설정 기능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C157E75-923C-E8E9-0D87-BC91FDDB4ED0}"/>
              </a:ext>
            </a:extLst>
          </p:cNvPr>
          <p:cNvCxnSpPr>
            <a:cxnSpLocks/>
          </p:cNvCxnSpPr>
          <p:nvPr/>
        </p:nvCxnSpPr>
        <p:spPr>
          <a:xfrm>
            <a:off x="5822951" y="3658976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7FFF88E-5F1E-301D-29BD-3223E0C5F38E}"/>
              </a:ext>
            </a:extLst>
          </p:cNvPr>
          <p:cNvCxnSpPr>
            <a:cxnSpLocks/>
          </p:cNvCxnSpPr>
          <p:nvPr/>
        </p:nvCxnSpPr>
        <p:spPr>
          <a:xfrm>
            <a:off x="6035676" y="3781110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58E1DF0-D4CE-57C6-51B2-2BB4AEC9E694}"/>
              </a:ext>
            </a:extLst>
          </p:cNvPr>
          <p:cNvCxnSpPr>
            <a:cxnSpLocks/>
          </p:cNvCxnSpPr>
          <p:nvPr/>
        </p:nvCxnSpPr>
        <p:spPr>
          <a:xfrm>
            <a:off x="5518151" y="3238185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1D10558-C372-059A-40C9-87C159C2563D}"/>
              </a:ext>
            </a:extLst>
          </p:cNvPr>
          <p:cNvCxnSpPr>
            <a:cxnSpLocks/>
          </p:cNvCxnSpPr>
          <p:nvPr/>
        </p:nvCxnSpPr>
        <p:spPr>
          <a:xfrm>
            <a:off x="5822950" y="2490544"/>
            <a:ext cx="43703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EADE1B2-4547-7774-FAD2-CAF942760773}"/>
              </a:ext>
            </a:extLst>
          </p:cNvPr>
          <p:cNvCxnSpPr>
            <a:cxnSpLocks/>
          </p:cNvCxnSpPr>
          <p:nvPr/>
        </p:nvCxnSpPr>
        <p:spPr>
          <a:xfrm>
            <a:off x="5658964" y="2605658"/>
            <a:ext cx="43703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6B5A41B-D912-1F31-197F-160818150147}"/>
              </a:ext>
            </a:extLst>
          </p:cNvPr>
          <p:cNvCxnSpPr>
            <a:cxnSpLocks/>
          </p:cNvCxnSpPr>
          <p:nvPr/>
        </p:nvCxnSpPr>
        <p:spPr>
          <a:xfrm>
            <a:off x="4810126" y="4538054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794ACEB-9D3D-CB83-8B21-A06640DF4DB6}"/>
              </a:ext>
            </a:extLst>
          </p:cNvPr>
          <p:cNvCxnSpPr>
            <a:cxnSpLocks/>
          </p:cNvCxnSpPr>
          <p:nvPr/>
        </p:nvCxnSpPr>
        <p:spPr>
          <a:xfrm>
            <a:off x="5114926" y="5810846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3127DF2-3B9B-9F53-965D-E5D4396EEF38}"/>
              </a:ext>
            </a:extLst>
          </p:cNvPr>
          <p:cNvCxnSpPr>
            <a:cxnSpLocks/>
          </p:cNvCxnSpPr>
          <p:nvPr/>
        </p:nvCxnSpPr>
        <p:spPr>
          <a:xfrm>
            <a:off x="4697970" y="5937846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BF47AA7-5BE8-96D9-7281-BE0B7BFA2F77}"/>
              </a:ext>
            </a:extLst>
          </p:cNvPr>
          <p:cNvCxnSpPr>
            <a:cxnSpLocks/>
          </p:cNvCxnSpPr>
          <p:nvPr/>
        </p:nvCxnSpPr>
        <p:spPr>
          <a:xfrm>
            <a:off x="5088410" y="5932092"/>
            <a:ext cx="40322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45B8076-FAAF-4AF9-FDBB-CF211B4B4EEE}"/>
              </a:ext>
            </a:extLst>
          </p:cNvPr>
          <p:cNvCxnSpPr>
            <a:cxnSpLocks/>
          </p:cNvCxnSpPr>
          <p:nvPr/>
        </p:nvCxnSpPr>
        <p:spPr>
          <a:xfrm>
            <a:off x="6047262" y="5808681"/>
            <a:ext cx="22431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5FD4792-56EA-1017-C64F-62ECAA36ABFF}"/>
              </a:ext>
            </a:extLst>
          </p:cNvPr>
          <p:cNvCxnSpPr>
            <a:cxnSpLocks/>
          </p:cNvCxnSpPr>
          <p:nvPr/>
        </p:nvCxnSpPr>
        <p:spPr>
          <a:xfrm>
            <a:off x="6549706" y="5746768"/>
            <a:ext cx="38449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AF7AED4-3BE4-AC67-235F-7E29EFE455DB}"/>
              </a:ext>
            </a:extLst>
          </p:cNvPr>
          <p:cNvGrpSpPr/>
          <p:nvPr/>
        </p:nvGrpSpPr>
        <p:grpSpPr>
          <a:xfrm>
            <a:off x="1646728" y="2793370"/>
            <a:ext cx="2038524" cy="1152653"/>
            <a:chOff x="122728" y="2793369"/>
            <a:chExt cx="2038524" cy="115265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19EBD7E-2374-30D0-9FDD-A457551B4FCB}"/>
                </a:ext>
              </a:extLst>
            </p:cNvPr>
            <p:cNvSpPr txBox="1"/>
            <p:nvPr/>
          </p:nvSpPr>
          <p:spPr>
            <a:xfrm>
              <a:off x="122728" y="2793369"/>
              <a:ext cx="8786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mode1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7D9EA13-A81A-67FC-98F1-14ECDD558C83}"/>
                </a:ext>
              </a:extLst>
            </p:cNvPr>
            <p:cNvGrpSpPr/>
            <p:nvPr/>
          </p:nvGrpSpPr>
          <p:grpSpPr>
            <a:xfrm>
              <a:off x="122728" y="3105910"/>
              <a:ext cx="2038524" cy="840112"/>
              <a:chOff x="1175168" y="3760625"/>
              <a:chExt cx="2109899" cy="1301468"/>
            </a:xfrm>
          </p:grpSpPr>
          <p:sp>
            <p:nvSpPr>
              <p:cNvPr id="57" name="모서리가 둥근 직사각형 31">
                <a:extLst>
                  <a:ext uri="{FF2B5EF4-FFF2-40B4-BE49-F238E27FC236}">
                    <a16:creationId xmlns:a16="http://schemas.microsoft.com/office/drawing/2014/main" id="{968AE68D-7CB8-8E4A-68C6-923983546D4A}"/>
                  </a:ext>
                </a:extLst>
              </p:cNvPr>
              <p:cNvSpPr/>
              <p:nvPr/>
            </p:nvSpPr>
            <p:spPr>
              <a:xfrm>
                <a:off x="1175168" y="3760627"/>
                <a:ext cx="2109899" cy="1301466"/>
              </a:xfrm>
              <a:prstGeom prst="roundRect">
                <a:avLst>
                  <a:gd name="adj" fmla="val 3951"/>
                </a:avLst>
              </a:prstGeom>
              <a:noFill/>
              <a:ln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80975"/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로봇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자율이동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감시장비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자율감시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8" name="양쪽 모서리가 둥근 사각형 32">
                <a:extLst>
                  <a:ext uri="{FF2B5EF4-FFF2-40B4-BE49-F238E27FC236}">
                    <a16:creationId xmlns:a16="http://schemas.microsoft.com/office/drawing/2014/main" id="{CDA8ED0F-5E81-9BFF-0A11-76DD3555D1D6}"/>
                  </a:ext>
                </a:extLst>
              </p:cNvPr>
              <p:cNvSpPr/>
              <p:nvPr/>
            </p:nvSpPr>
            <p:spPr>
              <a:xfrm>
                <a:off x="1175168" y="3760625"/>
                <a:ext cx="2109899" cy="451850"/>
              </a:xfrm>
              <a:prstGeom prst="round2SameRect">
                <a:avLst>
                  <a:gd name="adj1" fmla="val 31437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00" b="1" dirty="0">
                    <a:latin typeface="+mn-ea"/>
                  </a:rPr>
                  <a:t>자율 감시</a:t>
                </a:r>
                <a:r>
                  <a:rPr lang="en-US" altLang="ko-KR" sz="1300" b="1" dirty="0">
                    <a:latin typeface="+mn-ea"/>
                  </a:rPr>
                  <a:t>(</a:t>
                </a:r>
                <a:r>
                  <a:rPr lang="ko-KR" altLang="en-US" sz="1300" b="1" dirty="0">
                    <a:latin typeface="+mn-ea"/>
                  </a:rPr>
                  <a:t>정찰</a:t>
                </a:r>
                <a:r>
                  <a:rPr lang="en-US" altLang="ko-KR" sz="1300" b="1" dirty="0">
                    <a:latin typeface="+mn-ea"/>
                  </a:rPr>
                  <a:t>) </a:t>
                </a:r>
                <a:r>
                  <a:rPr lang="ko-KR" altLang="en-US" sz="1300" b="1" dirty="0">
                    <a:latin typeface="+mn-ea"/>
                  </a:rPr>
                  <a:t>모드</a:t>
                </a:r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EB78794-D775-4DB2-40A9-5EF87122ACED}"/>
              </a:ext>
            </a:extLst>
          </p:cNvPr>
          <p:cNvGrpSpPr/>
          <p:nvPr/>
        </p:nvGrpSpPr>
        <p:grpSpPr>
          <a:xfrm>
            <a:off x="8395430" y="1665006"/>
            <a:ext cx="2038524" cy="1152653"/>
            <a:chOff x="122728" y="2793369"/>
            <a:chExt cx="2038524" cy="115265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60696E6-0292-3ED4-02B0-D3E056E6D92B}"/>
                </a:ext>
              </a:extLst>
            </p:cNvPr>
            <p:cNvSpPr txBox="1"/>
            <p:nvPr/>
          </p:nvSpPr>
          <p:spPr>
            <a:xfrm>
              <a:off x="122728" y="2793369"/>
              <a:ext cx="8786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mode2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4420A291-45C0-DD9B-FA09-FF2B58879E29}"/>
                </a:ext>
              </a:extLst>
            </p:cNvPr>
            <p:cNvGrpSpPr/>
            <p:nvPr/>
          </p:nvGrpSpPr>
          <p:grpSpPr>
            <a:xfrm>
              <a:off x="122728" y="3105910"/>
              <a:ext cx="2038524" cy="840112"/>
              <a:chOff x="1175168" y="3760625"/>
              <a:chExt cx="2109899" cy="1301468"/>
            </a:xfrm>
          </p:grpSpPr>
          <p:sp>
            <p:nvSpPr>
              <p:cNvPr id="64" name="모서리가 둥근 직사각형 31">
                <a:extLst>
                  <a:ext uri="{FF2B5EF4-FFF2-40B4-BE49-F238E27FC236}">
                    <a16:creationId xmlns:a16="http://schemas.microsoft.com/office/drawing/2014/main" id="{3A189475-59C4-3928-806C-73F2658D3FCD}"/>
                  </a:ext>
                </a:extLst>
              </p:cNvPr>
              <p:cNvSpPr/>
              <p:nvPr/>
            </p:nvSpPr>
            <p:spPr>
              <a:xfrm>
                <a:off x="1175168" y="3760627"/>
                <a:ext cx="2109899" cy="1301466"/>
              </a:xfrm>
              <a:prstGeom prst="roundRect">
                <a:avLst>
                  <a:gd name="adj" fmla="val 3951"/>
                </a:avLst>
              </a:prstGeom>
              <a:noFill/>
              <a:ln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80975"/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로봇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자율이동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감시장비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상태체크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5" name="양쪽 모서리가 둥근 사각형 32">
                <a:extLst>
                  <a:ext uri="{FF2B5EF4-FFF2-40B4-BE49-F238E27FC236}">
                    <a16:creationId xmlns:a16="http://schemas.microsoft.com/office/drawing/2014/main" id="{D09DADCB-D611-7EDB-5E0A-7177CF6F80C8}"/>
                  </a:ext>
                </a:extLst>
              </p:cNvPr>
              <p:cNvSpPr/>
              <p:nvPr/>
            </p:nvSpPr>
            <p:spPr>
              <a:xfrm>
                <a:off x="1175168" y="3760625"/>
                <a:ext cx="2109899" cy="451850"/>
              </a:xfrm>
              <a:prstGeom prst="round2SameRect">
                <a:avLst>
                  <a:gd name="adj1" fmla="val 31437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00" b="1" dirty="0">
                    <a:latin typeface="+mn-ea"/>
                  </a:rPr>
                  <a:t>자율 이동 모드</a:t>
                </a:r>
              </a:p>
            </p:txBody>
          </p:sp>
        </p:grp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9578464-2726-695C-5227-1066E7A60944}"/>
              </a:ext>
            </a:extLst>
          </p:cNvPr>
          <p:cNvGrpSpPr/>
          <p:nvPr/>
        </p:nvGrpSpPr>
        <p:grpSpPr>
          <a:xfrm>
            <a:off x="8379588" y="2821258"/>
            <a:ext cx="2038524" cy="1152653"/>
            <a:chOff x="122728" y="2793369"/>
            <a:chExt cx="2038524" cy="115265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E0B4938-E56F-A344-0E46-7D904589F064}"/>
                </a:ext>
              </a:extLst>
            </p:cNvPr>
            <p:cNvSpPr txBox="1"/>
            <p:nvPr/>
          </p:nvSpPr>
          <p:spPr>
            <a:xfrm>
              <a:off x="122728" y="2793369"/>
              <a:ext cx="8786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mode3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7C1083F8-9AC1-355C-B22D-92E898F40FFA}"/>
                </a:ext>
              </a:extLst>
            </p:cNvPr>
            <p:cNvGrpSpPr/>
            <p:nvPr/>
          </p:nvGrpSpPr>
          <p:grpSpPr>
            <a:xfrm>
              <a:off x="122728" y="3105910"/>
              <a:ext cx="2038524" cy="840112"/>
              <a:chOff x="1175168" y="3760625"/>
              <a:chExt cx="2109899" cy="1301468"/>
            </a:xfrm>
          </p:grpSpPr>
          <p:sp>
            <p:nvSpPr>
              <p:cNvPr id="70" name="모서리가 둥근 직사각형 31">
                <a:extLst>
                  <a:ext uri="{FF2B5EF4-FFF2-40B4-BE49-F238E27FC236}">
                    <a16:creationId xmlns:a16="http://schemas.microsoft.com/office/drawing/2014/main" id="{7398CC0E-0953-9552-6C29-4130FB3F5F27}"/>
                  </a:ext>
                </a:extLst>
              </p:cNvPr>
              <p:cNvSpPr/>
              <p:nvPr/>
            </p:nvSpPr>
            <p:spPr>
              <a:xfrm>
                <a:off x="1175168" y="3760627"/>
                <a:ext cx="2109899" cy="1301466"/>
              </a:xfrm>
              <a:prstGeom prst="roundRect">
                <a:avLst>
                  <a:gd name="adj" fmla="val 3951"/>
                </a:avLst>
              </a:prstGeom>
              <a:noFill/>
              <a:ln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80975"/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로봇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200" b="1" dirty="0" err="1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리모트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이동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감시장비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상태체크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1" name="양쪽 모서리가 둥근 사각형 32">
                <a:extLst>
                  <a:ext uri="{FF2B5EF4-FFF2-40B4-BE49-F238E27FC236}">
                    <a16:creationId xmlns:a16="http://schemas.microsoft.com/office/drawing/2014/main" id="{36A0B9D1-4A4C-6ADB-4AB3-B73D9592C86A}"/>
                  </a:ext>
                </a:extLst>
              </p:cNvPr>
              <p:cNvSpPr/>
              <p:nvPr/>
            </p:nvSpPr>
            <p:spPr>
              <a:xfrm>
                <a:off x="1175168" y="3760625"/>
                <a:ext cx="2109899" cy="451850"/>
              </a:xfrm>
              <a:prstGeom prst="round2SameRect">
                <a:avLst>
                  <a:gd name="adj1" fmla="val 31437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00" b="1" dirty="0">
                    <a:latin typeface="+mn-ea"/>
                  </a:rPr>
                  <a:t>원격 이동 모드</a:t>
                </a:r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A42B69CB-1593-988E-5084-87344F76C595}"/>
              </a:ext>
            </a:extLst>
          </p:cNvPr>
          <p:cNvGrpSpPr/>
          <p:nvPr/>
        </p:nvGrpSpPr>
        <p:grpSpPr>
          <a:xfrm>
            <a:off x="8357548" y="3982290"/>
            <a:ext cx="2038524" cy="1152653"/>
            <a:chOff x="122728" y="2793369"/>
            <a:chExt cx="2038524" cy="1152653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2C3A12B-352D-33E4-26DB-C6EB45A21992}"/>
                </a:ext>
              </a:extLst>
            </p:cNvPr>
            <p:cNvSpPr txBox="1"/>
            <p:nvPr/>
          </p:nvSpPr>
          <p:spPr>
            <a:xfrm>
              <a:off x="122728" y="2793369"/>
              <a:ext cx="8786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mode4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BABB9E4B-6511-26C3-5A53-BB316CDEE143}"/>
                </a:ext>
              </a:extLst>
            </p:cNvPr>
            <p:cNvGrpSpPr/>
            <p:nvPr/>
          </p:nvGrpSpPr>
          <p:grpSpPr>
            <a:xfrm>
              <a:off x="122728" y="3105910"/>
              <a:ext cx="2038524" cy="840112"/>
              <a:chOff x="1175168" y="3760625"/>
              <a:chExt cx="2109899" cy="1301468"/>
            </a:xfrm>
          </p:grpSpPr>
          <p:sp>
            <p:nvSpPr>
              <p:cNvPr id="79" name="모서리가 둥근 직사각형 31">
                <a:extLst>
                  <a:ext uri="{FF2B5EF4-FFF2-40B4-BE49-F238E27FC236}">
                    <a16:creationId xmlns:a16="http://schemas.microsoft.com/office/drawing/2014/main" id="{8FD5256D-5632-CE75-601B-28E549827FAE}"/>
                  </a:ext>
                </a:extLst>
              </p:cNvPr>
              <p:cNvSpPr/>
              <p:nvPr/>
            </p:nvSpPr>
            <p:spPr>
              <a:xfrm>
                <a:off x="1175168" y="3760627"/>
                <a:ext cx="2109899" cy="1301466"/>
              </a:xfrm>
              <a:prstGeom prst="roundRect">
                <a:avLst>
                  <a:gd name="adj" fmla="val 3951"/>
                </a:avLst>
              </a:prstGeom>
              <a:noFill/>
              <a:ln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80975"/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로봇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정지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감시장비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자동 트레킹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0" name="양쪽 모서리가 둥근 사각형 32">
                <a:extLst>
                  <a:ext uri="{FF2B5EF4-FFF2-40B4-BE49-F238E27FC236}">
                    <a16:creationId xmlns:a16="http://schemas.microsoft.com/office/drawing/2014/main" id="{E7168F96-F394-B720-F34C-A928A829F613}"/>
                  </a:ext>
                </a:extLst>
              </p:cNvPr>
              <p:cNvSpPr/>
              <p:nvPr/>
            </p:nvSpPr>
            <p:spPr>
              <a:xfrm>
                <a:off x="1175168" y="3760625"/>
                <a:ext cx="2109899" cy="451850"/>
              </a:xfrm>
              <a:prstGeom prst="round2SameRect">
                <a:avLst>
                  <a:gd name="adj1" fmla="val 31437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00" b="1" dirty="0">
                    <a:latin typeface="+mn-ea"/>
                  </a:rPr>
                  <a:t>표적 추적 모드</a:t>
                </a:r>
              </a:p>
            </p:txBody>
          </p: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BC3869D-5B22-C17D-1B72-257D329B9C7E}"/>
              </a:ext>
            </a:extLst>
          </p:cNvPr>
          <p:cNvGrpSpPr/>
          <p:nvPr/>
        </p:nvGrpSpPr>
        <p:grpSpPr>
          <a:xfrm>
            <a:off x="8411359" y="5112577"/>
            <a:ext cx="2038524" cy="1152653"/>
            <a:chOff x="122728" y="2793369"/>
            <a:chExt cx="2038524" cy="1152653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813B78F-17EB-1551-849F-B01E72F5985D}"/>
                </a:ext>
              </a:extLst>
            </p:cNvPr>
            <p:cNvSpPr txBox="1"/>
            <p:nvPr/>
          </p:nvSpPr>
          <p:spPr>
            <a:xfrm>
              <a:off x="122728" y="2793369"/>
              <a:ext cx="8786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mode5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C3A353A5-3304-A7B1-D78F-00A49FA2CB5B}"/>
                </a:ext>
              </a:extLst>
            </p:cNvPr>
            <p:cNvGrpSpPr/>
            <p:nvPr/>
          </p:nvGrpSpPr>
          <p:grpSpPr>
            <a:xfrm>
              <a:off x="122728" y="3105910"/>
              <a:ext cx="2038524" cy="840112"/>
              <a:chOff x="1175168" y="3760625"/>
              <a:chExt cx="2109899" cy="1301468"/>
            </a:xfrm>
          </p:grpSpPr>
          <p:sp>
            <p:nvSpPr>
              <p:cNvPr id="84" name="모서리가 둥근 직사각형 31">
                <a:extLst>
                  <a:ext uri="{FF2B5EF4-FFF2-40B4-BE49-F238E27FC236}">
                    <a16:creationId xmlns:a16="http://schemas.microsoft.com/office/drawing/2014/main" id="{4AFFF79B-628D-79A8-6F4C-5E9966097C18}"/>
                  </a:ext>
                </a:extLst>
              </p:cNvPr>
              <p:cNvSpPr/>
              <p:nvPr/>
            </p:nvSpPr>
            <p:spPr>
              <a:xfrm>
                <a:off x="1175168" y="3760627"/>
                <a:ext cx="2109899" cy="1301466"/>
              </a:xfrm>
              <a:prstGeom prst="roundRect">
                <a:avLst>
                  <a:gd name="adj" fmla="val 3951"/>
                </a:avLst>
              </a:prstGeom>
              <a:noFill/>
              <a:ln>
                <a:solidFill>
                  <a:srgbClr val="7F7F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80975"/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로봇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200" b="1" dirty="0" err="1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리모트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이동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  <a:p>
                <a:pPr marL="361950" indent="-180975">
                  <a:buFont typeface="Arial" panose="020B0604020202020204" pitchFamily="34" charset="0"/>
                  <a:buChar char="‒"/>
                </a:pP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감시장비</a:t>
                </a:r>
                <a:r>
                  <a:rPr lang="en-US" altLang="ko-KR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:  </a:t>
                </a:r>
                <a:r>
                  <a:rPr lang="ko-KR" altLang="en-US" sz="1200" b="1" dirty="0" err="1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리모트</a:t>
                </a:r>
                <a:r>
                  <a:rPr lang="ko-KR" altLang="en-US" sz="1200" b="1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00FF"/>
                    </a:solidFill>
                    <a:latin typeface="Arial" panose="020B0604020202020204" pitchFamily="34" charset="0"/>
                    <a:ea typeface="나눔바른고딕" panose="020B0603020101020101" pitchFamily="50" charset="-127"/>
                  </a:rPr>
                  <a:t> 감시</a:t>
                </a:r>
                <a:endParaRPr lang="en-US" altLang="ko-KR" sz="1200" b="1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Arial" panose="020B0604020202020204" pitchFamily="34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5" name="양쪽 모서리가 둥근 사각형 32">
                <a:extLst>
                  <a:ext uri="{FF2B5EF4-FFF2-40B4-BE49-F238E27FC236}">
                    <a16:creationId xmlns:a16="http://schemas.microsoft.com/office/drawing/2014/main" id="{F67269DE-5450-1768-2FAE-53E63A005B07}"/>
                  </a:ext>
                </a:extLst>
              </p:cNvPr>
              <p:cNvSpPr/>
              <p:nvPr/>
            </p:nvSpPr>
            <p:spPr>
              <a:xfrm>
                <a:off x="1175168" y="3760625"/>
                <a:ext cx="2109899" cy="451850"/>
              </a:xfrm>
              <a:prstGeom prst="round2SameRect">
                <a:avLst>
                  <a:gd name="adj1" fmla="val 31437"/>
                  <a:gd name="adj2" fmla="val 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00" b="1" dirty="0">
                    <a:latin typeface="+mn-ea"/>
                  </a:rPr>
                  <a:t>원격 감시</a:t>
                </a:r>
                <a:r>
                  <a:rPr lang="en-US" altLang="ko-KR" sz="1300" b="1" dirty="0">
                    <a:latin typeface="+mn-ea"/>
                  </a:rPr>
                  <a:t>(</a:t>
                </a:r>
                <a:r>
                  <a:rPr lang="ko-KR" altLang="en-US" sz="1300" b="1" dirty="0">
                    <a:latin typeface="+mn-ea"/>
                  </a:rPr>
                  <a:t>정찰</a:t>
                </a:r>
                <a:r>
                  <a:rPr lang="en-US" altLang="ko-KR" sz="1300" b="1" dirty="0">
                    <a:latin typeface="+mn-ea"/>
                  </a:rPr>
                  <a:t>) </a:t>
                </a:r>
                <a:r>
                  <a:rPr lang="ko-KR" altLang="en-US" sz="1300" b="1" dirty="0">
                    <a:latin typeface="+mn-ea"/>
                  </a:rPr>
                  <a:t>모드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645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임무관리 </a:t>
            </a:r>
            <a:r>
              <a:rPr lang="en-US" altLang="ko-KR" sz="3000" dirty="0">
                <a:latin typeface="+mj-ea"/>
              </a:rPr>
              <a:t>SW </a:t>
            </a:r>
            <a:r>
              <a:rPr lang="ko-KR" altLang="en-US" sz="3000" dirty="0">
                <a:latin typeface="+mj-ea"/>
              </a:rPr>
              <a:t>개요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자율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원격 운용에 따른 모드 종류 및 기능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자율 운용 시 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임무통제 장치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 err="1">
                <a:solidFill>
                  <a:srgbClr val="FF0000"/>
                </a:solidFill>
                <a:latin typeface="+mj-ea"/>
                <a:ea typeface="+mj-ea"/>
              </a:rPr>
              <a:t>임무관리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SW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에서 관리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이동 모드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설정된 목표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via point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까지 자율 이동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감시 모드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설정된 감시 영역 내에서 이동하며 감시 정찰 진행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추적 모드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설정된 표적을 추적하며 정찰 진행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원격 운용 시 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  <a:sym typeface="Wingdings" panose="05000000000000000000" pitchFamily="2" charset="2"/>
              </a:rPr>
              <a:t>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원격 모드 설정 시 운용통제장치에서 관리</a:t>
            </a:r>
            <a:endParaRPr lang="en-US" altLang="ko-KR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원격 이동 모드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원격 조종으로 목표점까지 이동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원격 정찰 모드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원격 조종으로 감시 정찰 진행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408" y="3475243"/>
            <a:ext cx="5581092" cy="2916434"/>
          </a:xfrm>
          <a:prstGeom prst="rect">
            <a:avLst/>
          </a:prstGeom>
        </p:spPr>
      </p:pic>
      <p:sp>
        <p:nvSpPr>
          <p:cNvPr id="3" name="오른쪽 중괄호 2">
            <a:extLst>
              <a:ext uri="{FF2B5EF4-FFF2-40B4-BE49-F238E27FC236}">
                <a16:creationId xmlns:a16="http://schemas.microsoft.com/office/drawing/2014/main" id="{BAEAF927-DA6B-75B9-FA87-B543D0E2FDBA}"/>
              </a:ext>
            </a:extLst>
          </p:cNvPr>
          <p:cNvSpPr/>
          <p:nvPr/>
        </p:nvSpPr>
        <p:spPr>
          <a:xfrm>
            <a:off x="7291755" y="1503485"/>
            <a:ext cx="140677" cy="931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1EE3E-5408-71E7-221F-60E72D749F91}"/>
              </a:ext>
            </a:extLst>
          </p:cNvPr>
          <p:cNvSpPr txBox="1"/>
          <p:nvPr/>
        </p:nvSpPr>
        <p:spPr>
          <a:xfrm>
            <a:off x="7512376" y="1800200"/>
            <a:ext cx="3025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임무 모드 설정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/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관리 기능 필요</a:t>
            </a:r>
          </a:p>
        </p:txBody>
      </p:sp>
      <p:sp>
        <p:nvSpPr>
          <p:cNvPr id="8" name="화살표: 굽음 7">
            <a:extLst>
              <a:ext uri="{FF2B5EF4-FFF2-40B4-BE49-F238E27FC236}">
                <a16:creationId xmlns:a16="http://schemas.microsoft.com/office/drawing/2014/main" id="{DF4CDA72-5F92-CFF8-5129-749C6F0BC240}"/>
              </a:ext>
            </a:extLst>
          </p:cNvPr>
          <p:cNvSpPr/>
          <p:nvPr/>
        </p:nvSpPr>
        <p:spPr>
          <a:xfrm rot="16200000" flipV="1">
            <a:off x="7429575" y="2178945"/>
            <a:ext cx="1008034" cy="1002323"/>
          </a:xfrm>
          <a:prstGeom prst="bentArrow">
            <a:avLst>
              <a:gd name="adj1" fmla="val 12719"/>
              <a:gd name="adj2" fmla="val 16228"/>
              <a:gd name="adj3" fmla="val 25877"/>
              <a:gd name="adj4" fmla="val 4375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2B859-0AF3-596A-41B5-C0C884D258AC}"/>
              </a:ext>
            </a:extLst>
          </p:cNvPr>
          <p:cNvSpPr txBox="1"/>
          <p:nvPr/>
        </p:nvSpPr>
        <p:spPr>
          <a:xfrm>
            <a:off x="8369467" y="2625263"/>
            <a:ext cx="2034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로봇상태 확인 필요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  <a:p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임무수행 가능여부 등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)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3176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임무관리 </a:t>
            </a:r>
            <a:r>
              <a:rPr lang="en-US" altLang="ko-KR" sz="3000" dirty="0">
                <a:latin typeface="+mj-ea"/>
              </a:rPr>
              <a:t>SW </a:t>
            </a:r>
            <a:r>
              <a:rPr lang="ko-KR" altLang="en-US" sz="3000" dirty="0">
                <a:latin typeface="+mj-ea"/>
              </a:rPr>
              <a:t>요구기능 정리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887" y="999753"/>
            <a:ext cx="8670806" cy="5131731"/>
          </a:xfrm>
        </p:spPr>
        <p:txBody>
          <a:bodyPr/>
          <a:lstStyle/>
          <a:p>
            <a:r>
              <a:rPr lang="ko-KR" altLang="en-US" dirty="0">
                <a:latin typeface="+mj-ea"/>
              </a:rPr>
              <a:t>주요 임무 운용 모드</a:t>
            </a:r>
            <a:endParaRPr lang="en-US" altLang="ko-KR" dirty="0">
              <a:latin typeface="+mj-ea"/>
            </a:endParaRPr>
          </a:p>
          <a:p>
            <a:endParaRPr lang="en-US" altLang="ko-KR" dirty="0">
              <a:latin typeface="+mj-ea"/>
            </a:endParaRPr>
          </a:p>
          <a:p>
            <a:endParaRPr lang="en-US" altLang="ko-KR" dirty="0">
              <a:latin typeface="+mj-ea"/>
            </a:endParaRPr>
          </a:p>
          <a:p>
            <a:pPr marL="0" indent="0">
              <a:buNone/>
            </a:pPr>
            <a:endParaRPr lang="en-US" altLang="ko-KR" dirty="0">
              <a:latin typeface="+mj-ea"/>
            </a:endParaRPr>
          </a:p>
          <a:p>
            <a:pPr marL="0" indent="0">
              <a:buNone/>
            </a:pPr>
            <a:endParaRPr lang="en-US" altLang="ko-KR" sz="1000" dirty="0">
              <a:latin typeface="+mj-ea"/>
            </a:endParaRPr>
          </a:p>
          <a:p>
            <a:r>
              <a:rPr lang="ko-KR" altLang="en-US" dirty="0">
                <a:latin typeface="+mj-ea"/>
              </a:rPr>
              <a:t>주요기능</a:t>
            </a:r>
            <a:endParaRPr lang="en-US" altLang="ko-KR" dirty="0">
              <a:latin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7AD73C-0EB2-CAD8-43F0-9BADFF820460}"/>
              </a:ext>
            </a:extLst>
          </p:cNvPr>
          <p:cNvGraphicFramePr>
            <a:graphicFrameLocks noGrp="1"/>
          </p:cNvGraphicFramePr>
          <p:nvPr/>
        </p:nvGraphicFramePr>
        <p:xfrm>
          <a:off x="2135278" y="1374375"/>
          <a:ext cx="8062822" cy="120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462">
                  <a:extLst>
                    <a:ext uri="{9D8B030D-6E8A-4147-A177-3AD203B41FA5}">
                      <a16:colId xmlns:a16="http://schemas.microsoft.com/office/drawing/2014/main" val="1556782759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150677046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3772757702"/>
                    </a:ext>
                  </a:extLst>
                </a:gridCol>
              </a:tblGrid>
              <a:tr h="214132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863112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설정된 목표 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via point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까지 자율 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665037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 감시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설정된 감시 영역 내에서 이동하며 감시 정찰 진행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938491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 추적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설정된 표적을 추적하며 정찰 진행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5960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58E837-1895-D25C-7144-CF65BEBDA289}"/>
              </a:ext>
            </a:extLst>
          </p:cNvPr>
          <p:cNvGraphicFramePr>
            <a:graphicFrameLocks noGrp="1"/>
          </p:cNvGraphicFramePr>
          <p:nvPr/>
        </p:nvGraphicFramePr>
        <p:xfrm>
          <a:off x="2135188" y="3075488"/>
          <a:ext cx="806282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462">
                  <a:extLst>
                    <a:ext uri="{9D8B030D-6E8A-4147-A177-3AD203B41FA5}">
                      <a16:colId xmlns:a16="http://schemas.microsoft.com/office/drawing/2014/main" val="1556782759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150677046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3772757702"/>
                    </a:ext>
                  </a:extLst>
                </a:gridCol>
              </a:tblGrid>
              <a:tr h="214132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863112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임무 모드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각 로봇의 임무 수행 가능 여부 등 확인</a:t>
                      </a:r>
                      <a:endParaRPr lang="en-US" altLang="ko-KR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자율운용모드 설정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이동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감시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추적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로봇 상태 정보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665037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임무 관리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모든 로봇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현재 수행중인 임무의 상태 모니터링</a:t>
                      </a:r>
                      <a:endParaRPr lang="en-US" altLang="ko-KR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임무의 실행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중지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변경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938491"/>
                  </a:ext>
                </a:extLst>
              </a:tr>
              <a:tr h="314775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임무 관리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선택된 로봇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선택된 로봇의 감시 영상 표시</a:t>
                      </a:r>
                      <a:r>
                        <a:rPr lang="en-US" altLang="ko-KR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: EO, IR, </a:t>
                      </a: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주행카메라 등</a:t>
                      </a:r>
                      <a:endParaRPr lang="en-US" altLang="ko-KR" sz="11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탐지</a:t>
                      </a:r>
                      <a:r>
                        <a:rPr lang="en-US" altLang="ko-KR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인식된 객체 정보 포함</a:t>
                      </a: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59607"/>
                  </a:ext>
                </a:extLst>
              </a:tr>
              <a:tr h="214132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감시영역 할당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재할당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 감시 운용을 위한 각 로봇별 감시 영역 할당 기능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감시 영영 </a:t>
                      </a:r>
                      <a:r>
                        <a:rPr lang="ko-KR" altLang="en-US" sz="1100" b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맵정보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 및 경로점이 사전 설정된 상태로 설계됨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(CDR)</a:t>
                      </a: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743710"/>
                  </a:ext>
                </a:extLst>
              </a:tr>
              <a:tr h="214132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경로 시작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도착점 설정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이동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감시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추적에 필요한 로봇 이동경로의 출발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도착점 설정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233778"/>
                  </a:ext>
                </a:extLst>
              </a:tr>
              <a:tr h="214132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최단 경로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출발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도착점이 주어졌을 때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최단 경로인 </a:t>
                      </a:r>
                      <a:r>
                        <a:rPr lang="ko-KR" altLang="en-US" sz="1100" b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경로점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 집합을 도출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515002"/>
                  </a:ext>
                </a:extLst>
              </a:tr>
              <a:tr h="369598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표적 설정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자율추적에 필요한 표적을 설정</a:t>
                      </a:r>
                      <a:endParaRPr lang="en-US" altLang="ko-KR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표적설정은 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개 종류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로봇에서 탐지된 객체</a:t>
                      </a:r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</a:rPr>
                        <a:t>기존광학장비에서 탐지된 객체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37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51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모드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기능별 분석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자율이동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 모드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</a:rPr>
              <a:t>설정된 목표 </a:t>
            </a:r>
            <a:r>
              <a:rPr lang="en-US" altLang="ko-KR" dirty="0">
                <a:solidFill>
                  <a:schemeClr val="tx1"/>
                </a:solidFill>
                <a:latin typeface="+mj-ea"/>
              </a:rPr>
              <a:t>via point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까지 자율 이동</a:t>
            </a:r>
            <a:endParaRPr lang="en-US" altLang="ko-KR" dirty="0">
              <a:solidFill>
                <a:schemeClr val="tx1"/>
              </a:solidFill>
              <a:latin typeface="+mj-ea"/>
            </a:endParaRPr>
          </a:p>
          <a:p>
            <a:pPr marL="179550" lvl="1" indent="0">
              <a:buNone/>
            </a:pP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cxnSp>
        <p:nvCxnSpPr>
          <p:cNvPr id="7" name="직선 연결선 6"/>
          <p:cNvCxnSpPr>
            <a:cxnSpLocks/>
          </p:cNvCxnSpPr>
          <p:nvPr/>
        </p:nvCxnSpPr>
        <p:spPr>
          <a:xfrm>
            <a:off x="8229615" y="1901673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290736-A9D3-C741-4342-58C018F98D98}"/>
              </a:ext>
            </a:extLst>
          </p:cNvPr>
          <p:cNvCxnSpPr>
            <a:cxnSpLocks/>
          </p:cNvCxnSpPr>
          <p:nvPr/>
        </p:nvCxnSpPr>
        <p:spPr>
          <a:xfrm>
            <a:off x="4130055" y="1901674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E1E42E-8721-CE61-4CF1-CEA831884E17}"/>
              </a:ext>
            </a:extLst>
          </p:cNvPr>
          <p:cNvSpPr txBox="1"/>
          <p:nvPr/>
        </p:nvSpPr>
        <p:spPr>
          <a:xfrm>
            <a:off x="2746926" y="182547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관리자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18892-CFA9-30FB-416E-B4E8B57533FE}"/>
              </a:ext>
            </a:extLst>
          </p:cNvPr>
          <p:cNvSpPr txBox="1"/>
          <p:nvPr/>
        </p:nvSpPr>
        <p:spPr>
          <a:xfrm>
            <a:off x="5686398" y="1825472"/>
            <a:ext cx="140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임무통제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4F240-FDA6-1FAB-07B2-F791978C4572}"/>
              </a:ext>
            </a:extLst>
          </p:cNvPr>
          <p:cNvSpPr txBox="1"/>
          <p:nvPr/>
        </p:nvSpPr>
        <p:spPr>
          <a:xfrm>
            <a:off x="8365298" y="1825472"/>
            <a:ext cx="212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운용통제 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 </a:t>
            </a:r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B34D5-BE82-4F86-8FDD-4F401CF14BEE}"/>
              </a:ext>
            </a:extLst>
          </p:cNvPr>
          <p:cNvSpPr txBox="1"/>
          <p:nvPr/>
        </p:nvSpPr>
        <p:spPr>
          <a:xfrm>
            <a:off x="3251009" y="4224753"/>
            <a:ext cx="1364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후보도착지 리스트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89E897A-CA5C-4E6A-BCF8-FD593FB3D349}"/>
              </a:ext>
            </a:extLst>
          </p:cNvPr>
          <p:cNvCxnSpPr>
            <a:cxnSpLocks/>
          </p:cNvCxnSpPr>
          <p:nvPr/>
        </p:nvCxnSpPr>
        <p:spPr>
          <a:xfrm flipV="1">
            <a:off x="2385060" y="4834777"/>
            <a:ext cx="7851140" cy="76200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9">
            <a:extLst>
              <a:ext uri="{FF2B5EF4-FFF2-40B4-BE49-F238E27FC236}">
                <a16:creationId xmlns:a16="http://schemas.microsoft.com/office/drawing/2014/main" id="{7F0405A3-96EA-B35A-DC0C-E3110643F8B7}"/>
              </a:ext>
            </a:extLst>
          </p:cNvPr>
          <p:cNvSpPr/>
          <p:nvPr/>
        </p:nvSpPr>
        <p:spPr>
          <a:xfrm>
            <a:off x="4450111" y="5161017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목적지후보리스트</a:t>
            </a:r>
            <a:b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</a:b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(e.g., 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충전소 등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9">
            <a:extLst>
              <a:ext uri="{FF2B5EF4-FFF2-40B4-BE49-F238E27FC236}">
                <a16:creationId xmlns:a16="http://schemas.microsoft.com/office/drawing/2014/main" id="{86A59F68-9255-DF35-71CF-9CFBF7646942}"/>
              </a:ext>
            </a:extLst>
          </p:cNvPr>
          <p:cNvSpPr/>
          <p:nvPr/>
        </p:nvSpPr>
        <p:spPr>
          <a:xfrm>
            <a:off x="6263673" y="5144042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지도 및 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이동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1F4C7D63-66E0-C93A-907F-64D8D241FD4F}"/>
              </a:ext>
            </a:extLst>
          </p:cNvPr>
          <p:cNvCxnSpPr>
            <a:cxnSpLocks/>
            <a:stCxn id="38" idx="0"/>
          </p:cNvCxnSpPr>
          <p:nvPr/>
        </p:nvCxnSpPr>
        <p:spPr>
          <a:xfrm rot="16200000" flipV="1">
            <a:off x="3947861" y="3835823"/>
            <a:ext cx="684444" cy="196594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4283746" y="319911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출발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 </a:t>
            </a:r>
            <a:r>
              <a:rPr lang="ko-KR" altLang="en-US" sz="1200" b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설정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7AF582A-EC99-E993-B2A9-EAEEB763A83A}"/>
              </a:ext>
            </a:extLst>
          </p:cNvPr>
          <p:cNvCxnSpPr>
            <a:cxnSpLocks/>
            <a:stCxn id="48" idx="4"/>
            <a:endCxn id="42" idx="1"/>
          </p:cNvCxnSpPr>
          <p:nvPr/>
        </p:nvCxnSpPr>
        <p:spPr>
          <a:xfrm>
            <a:off x="3171852" y="3432226"/>
            <a:ext cx="1111895" cy="69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6BE25D-C607-3FDF-8027-C372006B5E33}"/>
              </a:ext>
            </a:extLst>
          </p:cNvPr>
          <p:cNvSpPr txBox="1"/>
          <p:nvPr/>
        </p:nvSpPr>
        <p:spPr>
          <a:xfrm>
            <a:off x="5406825" y="2271549"/>
            <a:ext cx="2687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출발점은 로봇 인접 경로점으로 설정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88D493-7971-B263-B295-2A52D593A470}"/>
              </a:ext>
            </a:extLst>
          </p:cNvPr>
          <p:cNvSpPr txBox="1"/>
          <p:nvPr/>
        </p:nvSpPr>
        <p:spPr>
          <a:xfrm>
            <a:off x="2008953" y="3625113"/>
            <a:ext cx="1127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도착점 선택</a:t>
            </a:r>
          </a:p>
        </p:txBody>
      </p:sp>
      <p:sp>
        <p:nvSpPr>
          <p:cNvPr id="48" name="화살표: 아래로 구부러짐 47">
            <a:extLst>
              <a:ext uri="{FF2B5EF4-FFF2-40B4-BE49-F238E27FC236}">
                <a16:creationId xmlns:a16="http://schemas.microsoft.com/office/drawing/2014/main" id="{34E4C420-DBC4-23FF-A4F2-561D48163DBF}"/>
              </a:ext>
            </a:extLst>
          </p:cNvPr>
          <p:cNvSpPr/>
          <p:nvPr/>
        </p:nvSpPr>
        <p:spPr>
          <a:xfrm rot="16386417">
            <a:off x="2537198" y="3818611"/>
            <a:ext cx="1079339" cy="266700"/>
          </a:xfrm>
          <a:prstGeom prst="curvedDownArrow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557954" y="2274999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로봇위치정보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C0FA5412-1BFB-9F43-488D-950390D658FB}"/>
              </a:ext>
            </a:extLst>
          </p:cNvPr>
          <p:cNvCxnSpPr>
            <a:cxnSpLocks/>
            <a:stCxn id="49" idx="1"/>
            <a:endCxn id="42" idx="0"/>
          </p:cNvCxnSpPr>
          <p:nvPr/>
        </p:nvCxnSpPr>
        <p:spPr>
          <a:xfrm rot="10800000" flipV="1">
            <a:off x="4822195" y="2515029"/>
            <a:ext cx="3735758" cy="68408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D654879-7A70-146A-793C-9C9587F5744A}"/>
              </a:ext>
            </a:extLst>
          </p:cNvPr>
          <p:cNvSpPr txBox="1"/>
          <p:nvPr/>
        </p:nvSpPr>
        <p:spPr>
          <a:xfrm>
            <a:off x="3270460" y="3214108"/>
            <a:ext cx="97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도착지 정보</a:t>
            </a:r>
          </a:p>
        </p:txBody>
      </p:sp>
      <p:sp>
        <p:nvSpPr>
          <p:cNvPr id="55" name="모서리가 둥근 직사각형 9">
            <a:extLst>
              <a:ext uri="{FF2B5EF4-FFF2-40B4-BE49-F238E27FC236}">
                <a16:creationId xmlns:a16="http://schemas.microsoft.com/office/drawing/2014/main" id="{57E8526F-FF84-BD4C-78B1-53A05B097A22}"/>
              </a:ext>
            </a:extLst>
          </p:cNvPr>
          <p:cNvSpPr/>
          <p:nvPr/>
        </p:nvSpPr>
        <p:spPr>
          <a:xfrm>
            <a:off x="5651617" y="319911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최단경로설정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49FC6E3-DC40-E33A-BE1D-C96070B970F2}"/>
              </a:ext>
            </a:extLst>
          </p:cNvPr>
          <p:cNvCxnSpPr>
            <a:stCxn id="42" idx="3"/>
            <a:endCxn id="55" idx="1"/>
          </p:cNvCxnSpPr>
          <p:nvPr/>
        </p:nvCxnSpPr>
        <p:spPr>
          <a:xfrm>
            <a:off x="5360645" y="3439140"/>
            <a:ext cx="290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55673783-5610-A29C-A78E-C977EFAB3565}"/>
              </a:ext>
            </a:extLst>
          </p:cNvPr>
          <p:cNvCxnSpPr>
            <a:stCxn id="39" idx="0"/>
            <a:endCxn id="55" idx="2"/>
          </p:cNvCxnSpPr>
          <p:nvPr/>
        </p:nvCxnSpPr>
        <p:spPr>
          <a:xfrm rot="16200000" flipV="1">
            <a:off x="5905906" y="3963331"/>
            <a:ext cx="1464872" cy="8965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0C3F8EA8-40A2-A636-B903-D1EB27821591}"/>
              </a:ext>
            </a:extLst>
          </p:cNvPr>
          <p:cNvCxnSpPr>
            <a:stCxn id="39" idx="0"/>
            <a:endCxn id="42" idx="2"/>
          </p:cNvCxnSpPr>
          <p:nvPr/>
        </p:nvCxnSpPr>
        <p:spPr>
          <a:xfrm rot="16200000" flipV="1">
            <a:off x="5221970" y="3279395"/>
            <a:ext cx="1464872" cy="22644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54684A0-FC77-3FD0-C16A-940B45B110E0}"/>
              </a:ext>
            </a:extLst>
          </p:cNvPr>
          <p:cNvSpPr txBox="1"/>
          <p:nvPr/>
        </p:nvSpPr>
        <p:spPr>
          <a:xfrm>
            <a:off x="8341508" y="2958385"/>
            <a:ext cx="175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자율이동모드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</a:p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이동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9A4C97-E7E6-8590-52E4-7DA552663853}"/>
              </a:ext>
            </a:extLst>
          </p:cNvPr>
          <p:cNvCxnSpPr>
            <a:stCxn id="55" idx="3"/>
          </p:cNvCxnSpPr>
          <p:nvPr/>
        </p:nvCxnSpPr>
        <p:spPr>
          <a:xfrm flipV="1">
            <a:off x="6728515" y="3429248"/>
            <a:ext cx="218500" cy="9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9">
            <a:extLst>
              <a:ext uri="{FF2B5EF4-FFF2-40B4-BE49-F238E27FC236}">
                <a16:creationId xmlns:a16="http://schemas.microsoft.com/office/drawing/2014/main" id="{3794BF9A-1DA9-351E-89F9-52BF03DC7A50}"/>
              </a:ext>
            </a:extLst>
          </p:cNvPr>
          <p:cNvSpPr/>
          <p:nvPr/>
        </p:nvSpPr>
        <p:spPr>
          <a:xfrm>
            <a:off x="8590312" y="4062721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 운용</a:t>
            </a: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BDC9D9BC-BB7B-EB24-9ED4-957FD13A5DE6}"/>
              </a:ext>
            </a:extLst>
          </p:cNvPr>
          <p:cNvCxnSpPr>
            <a:stCxn id="36" idx="3"/>
            <a:endCxn id="79" idx="0"/>
          </p:cNvCxnSpPr>
          <p:nvPr/>
        </p:nvCxnSpPr>
        <p:spPr>
          <a:xfrm>
            <a:off x="8030526" y="3442241"/>
            <a:ext cx="1382730" cy="6204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AD1BC78-BB8D-8559-A8F4-A952886FC86D}"/>
              </a:ext>
            </a:extLst>
          </p:cNvPr>
          <p:cNvSpPr txBox="1"/>
          <p:nvPr/>
        </p:nvSpPr>
        <p:spPr>
          <a:xfrm>
            <a:off x="1635527" y="438468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기능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688315-1E8C-569D-ACA4-9B5484A87917}"/>
              </a:ext>
            </a:extLst>
          </p:cNvPr>
          <p:cNvSpPr txBox="1"/>
          <p:nvPr/>
        </p:nvSpPr>
        <p:spPr>
          <a:xfrm>
            <a:off x="1683851" y="5108925"/>
            <a:ext cx="1374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보유데이터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6" name="모서리가 둥근 직사각형 9">
            <a:extLst>
              <a:ext uri="{FF2B5EF4-FFF2-40B4-BE49-F238E27FC236}">
                <a16:creationId xmlns:a16="http://schemas.microsoft.com/office/drawing/2014/main" id="{93798636-7905-DD2F-141C-882D7E8F3F7B}"/>
              </a:ext>
            </a:extLst>
          </p:cNvPr>
          <p:cNvSpPr/>
          <p:nvPr/>
        </p:nvSpPr>
        <p:spPr>
          <a:xfrm>
            <a:off x="6953628" y="3202211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모든 로봇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43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91DA-D6A7-B409-6B00-EB6A01EE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7C4A6-D3F4-1399-F01A-66F8BCFF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모드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기능별 분석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78A7D1-8E0E-8E62-A491-8F2767E80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자율정찰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 모드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</a:rPr>
              <a:t>설정된 목표 </a:t>
            </a:r>
            <a:r>
              <a:rPr lang="en-US" altLang="ko-KR" dirty="0">
                <a:solidFill>
                  <a:schemeClr val="tx1"/>
                </a:solidFill>
                <a:latin typeface="+mj-ea"/>
              </a:rPr>
              <a:t>via point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까지 자율 이동</a:t>
            </a:r>
            <a:endParaRPr lang="en-US" altLang="ko-KR" dirty="0">
              <a:solidFill>
                <a:schemeClr val="tx1"/>
              </a:solidFill>
              <a:latin typeface="+mj-ea"/>
            </a:endParaRPr>
          </a:p>
          <a:p>
            <a:pPr marL="179550" lvl="1" indent="0">
              <a:buNone/>
            </a:pP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A74116D-9A85-B32A-4FBA-C3C610F686D7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C317F29B-DFBA-4470-3572-8988CBB1AC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D9E6F2B8-BFD9-A875-3F10-ECCDBDB8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02776F1-3D6B-42BC-35F8-67B21D77C703}"/>
              </a:ext>
            </a:extLst>
          </p:cNvPr>
          <p:cNvCxnSpPr>
            <a:cxnSpLocks/>
          </p:cNvCxnSpPr>
          <p:nvPr/>
        </p:nvCxnSpPr>
        <p:spPr>
          <a:xfrm>
            <a:off x="8229615" y="1901673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F8EDF89-272E-2BBB-D7CD-EE4D57B2110B}"/>
              </a:ext>
            </a:extLst>
          </p:cNvPr>
          <p:cNvCxnSpPr>
            <a:cxnSpLocks/>
          </p:cNvCxnSpPr>
          <p:nvPr/>
        </p:nvCxnSpPr>
        <p:spPr>
          <a:xfrm>
            <a:off x="4130055" y="1901674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8D5CD9-D2F0-C715-D68C-D7749EE51C9F}"/>
              </a:ext>
            </a:extLst>
          </p:cNvPr>
          <p:cNvSpPr txBox="1"/>
          <p:nvPr/>
        </p:nvSpPr>
        <p:spPr>
          <a:xfrm>
            <a:off x="2746926" y="182547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관리자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0512D5-40AE-0873-35DD-E9B54057A830}"/>
              </a:ext>
            </a:extLst>
          </p:cNvPr>
          <p:cNvSpPr txBox="1"/>
          <p:nvPr/>
        </p:nvSpPr>
        <p:spPr>
          <a:xfrm>
            <a:off x="5686398" y="1825472"/>
            <a:ext cx="140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임무통제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A96D8-2951-40FA-B866-12BA7BA903C2}"/>
              </a:ext>
            </a:extLst>
          </p:cNvPr>
          <p:cNvSpPr txBox="1"/>
          <p:nvPr/>
        </p:nvSpPr>
        <p:spPr>
          <a:xfrm>
            <a:off x="8365298" y="1825472"/>
            <a:ext cx="212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운용통제 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 </a:t>
            </a:r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E54F6ED-2EC8-739E-E3EE-F3FD42993A1C}"/>
              </a:ext>
            </a:extLst>
          </p:cNvPr>
          <p:cNvCxnSpPr>
            <a:cxnSpLocks/>
          </p:cNvCxnSpPr>
          <p:nvPr/>
        </p:nvCxnSpPr>
        <p:spPr>
          <a:xfrm flipV="1">
            <a:off x="2385060" y="4834777"/>
            <a:ext cx="7851140" cy="76200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9">
            <a:extLst>
              <a:ext uri="{FF2B5EF4-FFF2-40B4-BE49-F238E27FC236}">
                <a16:creationId xmlns:a16="http://schemas.microsoft.com/office/drawing/2014/main" id="{287E407E-A92C-B8EA-A9FD-30D2803C00A7}"/>
              </a:ext>
            </a:extLst>
          </p:cNvPr>
          <p:cNvSpPr/>
          <p:nvPr/>
        </p:nvSpPr>
        <p:spPr>
          <a:xfrm>
            <a:off x="4450111" y="5161017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목적지후보리스트</a:t>
            </a:r>
            <a:b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</a:b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(e.g., 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충전소 등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9">
            <a:extLst>
              <a:ext uri="{FF2B5EF4-FFF2-40B4-BE49-F238E27FC236}">
                <a16:creationId xmlns:a16="http://schemas.microsoft.com/office/drawing/2014/main" id="{1D3D4098-2CD8-3899-C5DA-248A7C48E835}"/>
              </a:ext>
            </a:extLst>
          </p:cNvPr>
          <p:cNvSpPr/>
          <p:nvPr/>
        </p:nvSpPr>
        <p:spPr>
          <a:xfrm>
            <a:off x="6263673" y="5144042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지도 및 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이동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</a:p>
        </p:txBody>
      </p:sp>
      <p:sp>
        <p:nvSpPr>
          <p:cNvPr id="42" name="모서리가 둥근 직사각형 9">
            <a:extLst>
              <a:ext uri="{FF2B5EF4-FFF2-40B4-BE49-F238E27FC236}">
                <a16:creationId xmlns:a16="http://schemas.microsoft.com/office/drawing/2014/main" id="{8CD07E9F-564E-E7C1-BFF1-590E4463EB9A}"/>
              </a:ext>
            </a:extLst>
          </p:cNvPr>
          <p:cNvSpPr/>
          <p:nvPr/>
        </p:nvSpPr>
        <p:spPr>
          <a:xfrm>
            <a:off x="4264696" y="325626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출발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 </a:t>
            </a:r>
            <a:r>
              <a:rPr lang="ko-KR" altLang="en-US" sz="1200" b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설정</a:t>
            </a:r>
          </a:p>
        </p:txBody>
      </p:sp>
      <p:sp>
        <p:nvSpPr>
          <p:cNvPr id="49" name="모서리가 둥근 직사각형 9">
            <a:extLst>
              <a:ext uri="{FF2B5EF4-FFF2-40B4-BE49-F238E27FC236}">
                <a16:creationId xmlns:a16="http://schemas.microsoft.com/office/drawing/2014/main" id="{651C0E67-8550-EC27-D69D-A0E9BDC8B476}"/>
              </a:ext>
            </a:extLst>
          </p:cNvPr>
          <p:cNvSpPr/>
          <p:nvPr/>
        </p:nvSpPr>
        <p:spPr>
          <a:xfrm>
            <a:off x="8557954" y="2274999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로봇위치정보</a:t>
            </a:r>
          </a:p>
        </p:txBody>
      </p:sp>
      <p:sp>
        <p:nvSpPr>
          <p:cNvPr id="55" name="모서리가 둥근 직사각형 9">
            <a:extLst>
              <a:ext uri="{FF2B5EF4-FFF2-40B4-BE49-F238E27FC236}">
                <a16:creationId xmlns:a16="http://schemas.microsoft.com/office/drawing/2014/main" id="{B0BC7191-0D2A-4FFB-9B88-CB7B4E01FC35}"/>
              </a:ext>
            </a:extLst>
          </p:cNvPr>
          <p:cNvSpPr/>
          <p:nvPr/>
        </p:nvSpPr>
        <p:spPr>
          <a:xfrm>
            <a:off x="5632567" y="325626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최단경로설정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BB25134-23F7-3C1E-A812-60D90853869F}"/>
              </a:ext>
            </a:extLst>
          </p:cNvPr>
          <p:cNvCxnSpPr>
            <a:stCxn id="42" idx="3"/>
            <a:endCxn id="55" idx="1"/>
          </p:cNvCxnSpPr>
          <p:nvPr/>
        </p:nvCxnSpPr>
        <p:spPr>
          <a:xfrm>
            <a:off x="5341595" y="3496290"/>
            <a:ext cx="290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A021B935-A456-D3EE-2891-9F77738853F5}"/>
              </a:ext>
            </a:extLst>
          </p:cNvPr>
          <p:cNvCxnSpPr>
            <a:stCxn id="39" idx="0"/>
            <a:endCxn id="55" idx="2"/>
          </p:cNvCxnSpPr>
          <p:nvPr/>
        </p:nvCxnSpPr>
        <p:spPr>
          <a:xfrm rot="16200000" flipV="1">
            <a:off x="5924956" y="3982381"/>
            <a:ext cx="1407722" cy="9156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149CCBE-F2A0-002F-6BE0-174C5A793131}"/>
              </a:ext>
            </a:extLst>
          </p:cNvPr>
          <p:cNvCxnSpPr>
            <a:stCxn id="39" idx="0"/>
            <a:endCxn id="42" idx="2"/>
          </p:cNvCxnSpPr>
          <p:nvPr/>
        </p:nvCxnSpPr>
        <p:spPr>
          <a:xfrm rot="16200000" flipV="1">
            <a:off x="5241020" y="3298445"/>
            <a:ext cx="1407722" cy="22834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032CC9A-8188-03C5-B7BA-BE6CF87659A7}"/>
              </a:ext>
            </a:extLst>
          </p:cNvPr>
          <p:cNvSpPr txBox="1"/>
          <p:nvPr/>
        </p:nvSpPr>
        <p:spPr>
          <a:xfrm>
            <a:off x="8341508" y="2958385"/>
            <a:ext cx="175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자율감시모드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</a:p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이동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63A66920-8F86-576C-3C52-36D65A0A1532}"/>
              </a:ext>
            </a:extLst>
          </p:cNvPr>
          <p:cNvCxnSpPr>
            <a:stCxn id="55" idx="3"/>
            <a:endCxn id="43" idx="1"/>
          </p:cNvCxnSpPr>
          <p:nvPr/>
        </p:nvCxnSpPr>
        <p:spPr>
          <a:xfrm>
            <a:off x="6709466" y="3496290"/>
            <a:ext cx="2469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9">
            <a:extLst>
              <a:ext uri="{FF2B5EF4-FFF2-40B4-BE49-F238E27FC236}">
                <a16:creationId xmlns:a16="http://schemas.microsoft.com/office/drawing/2014/main" id="{2C51F4BE-2754-D171-BCB3-3F6305F6CB70}"/>
              </a:ext>
            </a:extLst>
          </p:cNvPr>
          <p:cNvSpPr/>
          <p:nvPr/>
        </p:nvSpPr>
        <p:spPr>
          <a:xfrm>
            <a:off x="8590312" y="4062721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 운용</a:t>
            </a: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4328A68E-C328-EBB4-6EFD-2162E81B1DFE}"/>
              </a:ext>
            </a:extLst>
          </p:cNvPr>
          <p:cNvCxnSpPr>
            <a:stCxn id="43" idx="3"/>
            <a:endCxn id="79" idx="0"/>
          </p:cNvCxnSpPr>
          <p:nvPr/>
        </p:nvCxnSpPr>
        <p:spPr>
          <a:xfrm>
            <a:off x="8033284" y="3496291"/>
            <a:ext cx="1379972" cy="56643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7CCDFEB-1725-A76B-6DE8-4609E10E7ABC}"/>
              </a:ext>
            </a:extLst>
          </p:cNvPr>
          <p:cNvSpPr txBox="1"/>
          <p:nvPr/>
        </p:nvSpPr>
        <p:spPr>
          <a:xfrm>
            <a:off x="1635527" y="438468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기능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C61794-AED7-91A3-6851-C65F11B7084E}"/>
              </a:ext>
            </a:extLst>
          </p:cNvPr>
          <p:cNvSpPr txBox="1"/>
          <p:nvPr/>
        </p:nvSpPr>
        <p:spPr>
          <a:xfrm>
            <a:off x="1683851" y="5108925"/>
            <a:ext cx="1374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보유데이터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" name="모서리가 둥근 직사각형 9">
            <a:extLst>
              <a:ext uri="{FF2B5EF4-FFF2-40B4-BE49-F238E27FC236}">
                <a16:creationId xmlns:a16="http://schemas.microsoft.com/office/drawing/2014/main" id="{3F7E4743-898C-7040-A683-AE821CDD757C}"/>
              </a:ext>
            </a:extLst>
          </p:cNvPr>
          <p:cNvSpPr/>
          <p:nvPr/>
        </p:nvSpPr>
        <p:spPr>
          <a:xfrm>
            <a:off x="4264696" y="227414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감시영역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할당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재할당</a:t>
            </a:r>
          </a:p>
        </p:txBody>
      </p:sp>
      <p:sp>
        <p:nvSpPr>
          <p:cNvPr id="6" name="모서리가 둥근 직사각형 9">
            <a:extLst>
              <a:ext uri="{FF2B5EF4-FFF2-40B4-BE49-F238E27FC236}">
                <a16:creationId xmlns:a16="http://schemas.microsoft.com/office/drawing/2014/main" id="{93798636-7905-DD2F-141C-882D7E8F3F7B}"/>
              </a:ext>
            </a:extLst>
          </p:cNvPr>
          <p:cNvSpPr/>
          <p:nvPr/>
        </p:nvSpPr>
        <p:spPr>
          <a:xfrm>
            <a:off x="5647037" y="2287672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모든 로봇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CECDF-9AC7-97FB-3398-5969F11D2064}"/>
              </a:ext>
            </a:extLst>
          </p:cNvPr>
          <p:cNvSpPr txBox="1"/>
          <p:nvPr/>
        </p:nvSpPr>
        <p:spPr>
          <a:xfrm>
            <a:off x="1995013" y="2347188"/>
            <a:ext cx="1324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 운용 수 선택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DAF3A-EEE4-52F3-E8F4-2BB433DD11F2}"/>
              </a:ext>
            </a:extLst>
          </p:cNvPr>
          <p:cNvSpPr txBox="1"/>
          <p:nvPr/>
        </p:nvSpPr>
        <p:spPr>
          <a:xfrm>
            <a:off x="3287859" y="2218089"/>
            <a:ext cx="1206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 로봇 수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811AD91-BF77-B7F6-DE4D-A352D87769D1}"/>
              </a:ext>
            </a:extLst>
          </p:cNvPr>
          <p:cNvCxnSpPr>
            <a:cxnSpLocks/>
          </p:cNvCxnSpPr>
          <p:nvPr/>
        </p:nvCxnSpPr>
        <p:spPr>
          <a:xfrm flipV="1">
            <a:off x="3255299" y="2475622"/>
            <a:ext cx="967780" cy="165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1818C00-048F-8F9B-A968-086B794C1638}"/>
              </a:ext>
            </a:extLst>
          </p:cNvPr>
          <p:cNvCxnSpPr>
            <a:cxnSpLocks/>
            <a:stCxn id="49" idx="1"/>
            <a:endCxn id="6" idx="3"/>
          </p:cNvCxnSpPr>
          <p:nvPr/>
        </p:nvCxnSpPr>
        <p:spPr>
          <a:xfrm flipH="1">
            <a:off x="6723935" y="2515030"/>
            <a:ext cx="1834018" cy="126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AF72EEF-0997-7402-2491-F40D2A6BD43B}"/>
              </a:ext>
            </a:extLst>
          </p:cNvPr>
          <p:cNvCxnSpPr>
            <a:stCxn id="3" idx="2"/>
            <a:endCxn id="42" idx="0"/>
          </p:cNvCxnSpPr>
          <p:nvPr/>
        </p:nvCxnSpPr>
        <p:spPr>
          <a:xfrm>
            <a:off x="4803145" y="2754200"/>
            <a:ext cx="0" cy="502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A406B2B-9EA1-5810-CFA4-99207351A275}"/>
              </a:ext>
            </a:extLst>
          </p:cNvPr>
          <p:cNvSpPr txBox="1"/>
          <p:nvPr/>
        </p:nvSpPr>
        <p:spPr>
          <a:xfrm>
            <a:off x="7086601" y="2263000"/>
            <a:ext cx="1343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도착점 도착 확인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E3A70DF1-E454-4C62-5812-76379B348C47}"/>
              </a:ext>
            </a:extLst>
          </p:cNvPr>
          <p:cNvCxnSpPr>
            <a:stCxn id="6" idx="2"/>
            <a:endCxn id="42" idx="0"/>
          </p:cNvCxnSpPr>
          <p:nvPr/>
        </p:nvCxnSpPr>
        <p:spPr>
          <a:xfrm rot="5400000">
            <a:off x="5250052" y="2320827"/>
            <a:ext cx="488528" cy="13823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D81EFC7-485D-7AAF-854B-CCA0DB3A16E9}"/>
              </a:ext>
            </a:extLst>
          </p:cNvPr>
          <p:cNvSpPr txBox="1"/>
          <p:nvPr/>
        </p:nvSpPr>
        <p:spPr>
          <a:xfrm>
            <a:off x="6221928" y="2836528"/>
            <a:ext cx="146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도착점 재설정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63F9C5-5061-5709-80F5-EAF6DBE77448}"/>
              </a:ext>
            </a:extLst>
          </p:cNvPr>
          <p:cNvSpPr txBox="1"/>
          <p:nvPr/>
        </p:nvSpPr>
        <p:spPr>
          <a:xfrm>
            <a:off x="3447045" y="2784867"/>
            <a:ext cx="146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감시영역 내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(X,Y)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</a:p>
        </p:txBody>
      </p:sp>
      <p:sp>
        <p:nvSpPr>
          <p:cNvPr id="43" name="모서리가 둥근 직사각형 9">
            <a:extLst>
              <a:ext uri="{FF2B5EF4-FFF2-40B4-BE49-F238E27FC236}">
                <a16:creationId xmlns:a16="http://schemas.microsoft.com/office/drawing/2014/main" id="{93798636-7905-DD2F-141C-882D7E8F3F7B}"/>
              </a:ext>
            </a:extLst>
          </p:cNvPr>
          <p:cNvSpPr/>
          <p:nvPr/>
        </p:nvSpPr>
        <p:spPr>
          <a:xfrm>
            <a:off x="6956386" y="325626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모든 로봇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9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모드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기능별 분석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0E2E76-8841-03AA-4BC6-DEE3E01D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자율추적</a:t>
            </a:r>
            <a:r>
              <a:rPr lang="ko-KR" altLang="en-US" b="1" dirty="0">
                <a:solidFill>
                  <a:schemeClr val="tx1"/>
                </a:solidFill>
                <a:latin typeface="+mj-ea"/>
                <a:ea typeface="+mj-ea"/>
              </a:rPr>
              <a:t> 모드</a:t>
            </a:r>
            <a:r>
              <a:rPr lang="en-US" altLang="ko-KR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영상 추적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</a:rPr>
              <a:t>설정된 표적을 추적하며</a:t>
            </a:r>
            <a:r>
              <a:rPr lang="en-US" altLang="ko-KR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j-ea"/>
              </a:rPr>
              <a:t>정찰 진행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cxnSp>
        <p:nvCxnSpPr>
          <p:cNvPr id="7" name="직선 연결선 6"/>
          <p:cNvCxnSpPr>
            <a:cxnSpLocks/>
          </p:cNvCxnSpPr>
          <p:nvPr/>
        </p:nvCxnSpPr>
        <p:spPr>
          <a:xfrm>
            <a:off x="8229615" y="1901673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290736-A9D3-C741-4342-58C018F98D98}"/>
              </a:ext>
            </a:extLst>
          </p:cNvPr>
          <p:cNvCxnSpPr>
            <a:cxnSpLocks/>
          </p:cNvCxnSpPr>
          <p:nvPr/>
        </p:nvCxnSpPr>
        <p:spPr>
          <a:xfrm>
            <a:off x="4130055" y="1901674"/>
            <a:ext cx="0" cy="3426029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E1E42E-8721-CE61-4CF1-CEA831884E17}"/>
              </a:ext>
            </a:extLst>
          </p:cNvPr>
          <p:cNvSpPr txBox="1"/>
          <p:nvPr/>
        </p:nvSpPr>
        <p:spPr>
          <a:xfrm>
            <a:off x="2746926" y="182547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관리자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18892-CFA9-30FB-416E-B4E8B57533FE}"/>
              </a:ext>
            </a:extLst>
          </p:cNvPr>
          <p:cNvSpPr txBox="1"/>
          <p:nvPr/>
        </p:nvSpPr>
        <p:spPr>
          <a:xfrm>
            <a:off x="5686398" y="1825472"/>
            <a:ext cx="140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임무통제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4F240-FDA6-1FAB-07B2-F791978C4572}"/>
              </a:ext>
            </a:extLst>
          </p:cNvPr>
          <p:cNvSpPr txBox="1"/>
          <p:nvPr/>
        </p:nvSpPr>
        <p:spPr>
          <a:xfrm>
            <a:off x="8365298" y="1825472"/>
            <a:ext cx="2335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운용통제 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 </a:t>
            </a:r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89E897A-CA5C-4E6A-BCF8-FD593FB3D349}"/>
              </a:ext>
            </a:extLst>
          </p:cNvPr>
          <p:cNvCxnSpPr>
            <a:cxnSpLocks/>
          </p:cNvCxnSpPr>
          <p:nvPr/>
        </p:nvCxnSpPr>
        <p:spPr>
          <a:xfrm flipV="1">
            <a:off x="2385060" y="4834777"/>
            <a:ext cx="7851140" cy="76200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9">
            <a:extLst>
              <a:ext uri="{FF2B5EF4-FFF2-40B4-BE49-F238E27FC236}">
                <a16:creationId xmlns:a16="http://schemas.microsoft.com/office/drawing/2014/main" id="{7F0405A3-96EA-B35A-DC0C-E3110643F8B7}"/>
              </a:ext>
            </a:extLst>
          </p:cNvPr>
          <p:cNvSpPr/>
          <p:nvPr/>
        </p:nvSpPr>
        <p:spPr>
          <a:xfrm>
            <a:off x="4450111" y="5161017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목적지후보리스트</a:t>
            </a:r>
            <a:b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</a:b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(e.g., 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충전소 등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9">
            <a:extLst>
              <a:ext uri="{FF2B5EF4-FFF2-40B4-BE49-F238E27FC236}">
                <a16:creationId xmlns:a16="http://schemas.microsoft.com/office/drawing/2014/main" id="{86A59F68-9255-DF35-71CF-9CFBF7646942}"/>
              </a:ext>
            </a:extLst>
          </p:cNvPr>
          <p:cNvSpPr/>
          <p:nvPr/>
        </p:nvSpPr>
        <p:spPr>
          <a:xfrm>
            <a:off x="6263673" y="5144042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지도 및 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이동 </a:t>
            </a:r>
            <a:r>
              <a:rPr lang="ko-KR" altLang="en-US" sz="12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</a:p>
        </p:txBody>
      </p:sp>
      <p:sp>
        <p:nvSpPr>
          <p:cNvPr id="42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4464721" y="329436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표적 설정 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7AF582A-EC99-E993-B2A9-EAEEB763A83A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3261361" y="3534390"/>
            <a:ext cx="1203360" cy="34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6BE25D-C607-3FDF-8027-C372006B5E33}"/>
              </a:ext>
            </a:extLst>
          </p:cNvPr>
          <p:cNvSpPr txBox="1"/>
          <p:nvPr/>
        </p:nvSpPr>
        <p:spPr>
          <a:xfrm>
            <a:off x="3623522" y="2224037"/>
            <a:ext cx="26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타깃 정보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타깃 탐지 감시 장비 </a:t>
            </a:r>
          </a:p>
        </p:txBody>
      </p:sp>
      <p:sp>
        <p:nvSpPr>
          <p:cNvPr id="49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557954" y="2274999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탐지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인식된 객체 정보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 장비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654879-7A70-146A-793C-9C9587F5744A}"/>
              </a:ext>
            </a:extLst>
          </p:cNvPr>
          <p:cNvSpPr txBox="1"/>
          <p:nvPr/>
        </p:nvSpPr>
        <p:spPr>
          <a:xfrm>
            <a:off x="3216449" y="3257392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추적할 표적 선택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49FC6E3-DC40-E33A-BE1D-C96070B970F2}"/>
              </a:ext>
            </a:extLst>
          </p:cNvPr>
          <p:cNvCxnSpPr>
            <a:stCxn id="42" idx="3"/>
            <a:endCxn id="35" idx="1"/>
          </p:cNvCxnSpPr>
          <p:nvPr/>
        </p:nvCxnSpPr>
        <p:spPr>
          <a:xfrm>
            <a:off x="5541619" y="3534390"/>
            <a:ext cx="1404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9">
            <a:extLst>
              <a:ext uri="{FF2B5EF4-FFF2-40B4-BE49-F238E27FC236}">
                <a16:creationId xmlns:a16="http://schemas.microsoft.com/office/drawing/2014/main" id="{3794BF9A-1DA9-351E-89F9-52BF03DC7A50}"/>
              </a:ext>
            </a:extLst>
          </p:cNvPr>
          <p:cNvSpPr/>
          <p:nvPr/>
        </p:nvSpPr>
        <p:spPr>
          <a:xfrm>
            <a:off x="8568225" y="4060476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 운용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D1BC78-BB8D-8559-A8F4-A952886FC86D}"/>
              </a:ext>
            </a:extLst>
          </p:cNvPr>
          <p:cNvSpPr txBox="1"/>
          <p:nvPr/>
        </p:nvSpPr>
        <p:spPr>
          <a:xfrm>
            <a:off x="1635527" y="4384682"/>
            <a:ext cx="1063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기능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688315-1E8C-569D-ACA4-9B5484A87917}"/>
              </a:ext>
            </a:extLst>
          </p:cNvPr>
          <p:cNvSpPr txBox="1"/>
          <p:nvPr/>
        </p:nvSpPr>
        <p:spPr>
          <a:xfrm>
            <a:off x="1683851" y="5108925"/>
            <a:ext cx="1374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보유데이터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40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5803504" y="2458647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선택 로봇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44" name="연결선: 꺾임 50">
            <a:extLst>
              <a:ext uri="{FF2B5EF4-FFF2-40B4-BE49-F238E27FC236}">
                <a16:creationId xmlns:a16="http://schemas.microsoft.com/office/drawing/2014/main" id="{C0FA5412-1BFB-9F43-488D-950390D658F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80404" y="2515029"/>
            <a:ext cx="1677551" cy="183648"/>
          </a:xfrm>
          <a:prstGeom prst="bentConnector3">
            <a:avLst>
              <a:gd name="adj1" fmla="val 3183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3261361" y="2698677"/>
            <a:ext cx="2542144" cy="82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D6BE25D-C607-3FDF-8027-C372006B5E33}"/>
              </a:ext>
            </a:extLst>
          </p:cNvPr>
          <p:cNvSpPr txBox="1"/>
          <p:nvPr/>
        </p:nvSpPr>
        <p:spPr>
          <a:xfrm>
            <a:off x="7161575" y="2429893"/>
            <a:ext cx="949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타깃 정보</a:t>
            </a:r>
          </a:p>
        </p:txBody>
      </p:sp>
      <p:sp>
        <p:nvSpPr>
          <p:cNvPr id="50" name="모서리가 둥근 직사각형 9">
            <a:extLst>
              <a:ext uri="{FF2B5EF4-FFF2-40B4-BE49-F238E27FC236}">
                <a16:creationId xmlns:a16="http://schemas.microsoft.com/office/drawing/2014/main" id="{3794BF9A-1DA9-351E-89F9-52BF03DC7A50}"/>
              </a:ext>
            </a:extLst>
          </p:cNvPr>
          <p:cNvSpPr/>
          <p:nvPr/>
        </p:nvSpPr>
        <p:spPr>
          <a:xfrm>
            <a:off x="8567753" y="2942730"/>
            <a:ext cx="1645889" cy="4800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탐지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인식된 객체 정보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기존 광학 장비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53" name="연결선: 꺾임 50">
            <a:extLst>
              <a:ext uri="{FF2B5EF4-FFF2-40B4-BE49-F238E27FC236}">
                <a16:creationId xmlns:a16="http://schemas.microsoft.com/office/drawing/2014/main" id="{C0FA5412-1BFB-9F43-488D-950390D658FB}"/>
              </a:ext>
            </a:extLst>
          </p:cNvPr>
          <p:cNvCxnSpPr>
            <a:cxnSpLocks/>
            <a:stCxn id="50" idx="1"/>
            <a:endCxn id="40" idx="3"/>
          </p:cNvCxnSpPr>
          <p:nvPr/>
        </p:nvCxnSpPr>
        <p:spPr>
          <a:xfrm rot="10800000">
            <a:off x="6880402" y="2698679"/>
            <a:ext cx="1687350" cy="484083"/>
          </a:xfrm>
          <a:prstGeom prst="bentConnector3">
            <a:avLst>
              <a:gd name="adj1" fmla="val 3231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화살표: 아래로 구부러짐 47">
            <a:extLst>
              <a:ext uri="{FF2B5EF4-FFF2-40B4-BE49-F238E27FC236}">
                <a16:creationId xmlns:a16="http://schemas.microsoft.com/office/drawing/2014/main" id="{34E4C420-DBC4-23FF-A4F2-561D48163DBF}"/>
              </a:ext>
            </a:extLst>
          </p:cNvPr>
          <p:cNvSpPr/>
          <p:nvPr/>
        </p:nvSpPr>
        <p:spPr>
          <a:xfrm rot="5213583" flipV="1">
            <a:off x="2615481" y="2956191"/>
            <a:ext cx="819244" cy="266700"/>
          </a:xfrm>
          <a:prstGeom prst="curvedDownArrow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1" name="꺾인 연결선 30"/>
          <p:cNvCxnSpPr>
            <a:stCxn id="35" idx="3"/>
            <a:endCxn id="79" idx="1"/>
          </p:cNvCxnSpPr>
          <p:nvPr/>
        </p:nvCxnSpPr>
        <p:spPr>
          <a:xfrm>
            <a:off x="8022586" y="3534390"/>
            <a:ext cx="545639" cy="7661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D654879-7A70-146A-793C-9C9587F5744A}"/>
              </a:ext>
            </a:extLst>
          </p:cNvPr>
          <p:cNvSpPr txBox="1"/>
          <p:nvPr/>
        </p:nvSpPr>
        <p:spPr>
          <a:xfrm>
            <a:off x="5615321" y="3235426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선택된 표적 정보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4684A0-FC77-3FD0-C16A-940B45B110E0}"/>
              </a:ext>
            </a:extLst>
          </p:cNvPr>
          <p:cNvSpPr txBox="1"/>
          <p:nvPr/>
        </p:nvSpPr>
        <p:spPr>
          <a:xfrm>
            <a:off x="8288889" y="3637601"/>
            <a:ext cx="175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자율추적모드</a:t>
            </a:r>
            <a:r>
              <a:rPr lang="en-US" altLang="ko-KR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</a:p>
          <a:p>
            <a:r>
              <a:rPr lang="ko-KR" altLang="en-US" sz="12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추적할 표적 정보</a:t>
            </a:r>
            <a:endParaRPr lang="en-US" altLang="ko-KR" sz="12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5" name="모서리가 둥근 직사각형 9">
            <a:extLst>
              <a:ext uri="{FF2B5EF4-FFF2-40B4-BE49-F238E27FC236}">
                <a16:creationId xmlns:a16="http://schemas.microsoft.com/office/drawing/2014/main" id="{93798636-7905-DD2F-141C-882D7E8F3F7B}"/>
              </a:ext>
            </a:extLst>
          </p:cNvPr>
          <p:cNvSpPr/>
          <p:nvPr/>
        </p:nvSpPr>
        <p:spPr>
          <a:xfrm>
            <a:off x="6945687" y="3294360"/>
            <a:ext cx="1076898" cy="480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모든 로봇</a:t>
            </a:r>
            <a:r>
              <a:rPr lang="en-US" altLang="ko-KR" sz="120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4054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37AF-D09C-7AE2-CA09-BB70ED92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F290736-A9D3-C741-4342-58C018F98D98}"/>
              </a:ext>
            </a:extLst>
          </p:cNvPr>
          <p:cNvCxnSpPr>
            <a:cxnSpLocks/>
          </p:cNvCxnSpPr>
          <p:nvPr/>
        </p:nvCxnSpPr>
        <p:spPr>
          <a:xfrm>
            <a:off x="8449474" y="1863289"/>
            <a:ext cx="2428" cy="4318978"/>
          </a:xfrm>
          <a:prstGeom prst="line">
            <a:avLst/>
          </a:prstGeom>
          <a:ln w="571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F290736-A9D3-C741-4342-58C018F98D98}"/>
              </a:ext>
            </a:extLst>
          </p:cNvPr>
          <p:cNvCxnSpPr>
            <a:cxnSpLocks/>
          </p:cNvCxnSpPr>
          <p:nvPr/>
        </p:nvCxnSpPr>
        <p:spPr>
          <a:xfrm>
            <a:off x="6704514" y="1863289"/>
            <a:ext cx="2428" cy="431897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13448237-B207-99B9-9F70-1E482C05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 err="1">
                <a:latin typeface="+mj-ea"/>
              </a:rPr>
              <a:t>임무통제</a:t>
            </a:r>
            <a:r>
              <a:rPr lang="ko-KR" altLang="en-US" sz="3000" dirty="0">
                <a:latin typeface="+mj-ea"/>
              </a:rPr>
              <a:t> </a:t>
            </a:r>
            <a:r>
              <a:rPr lang="en-US" altLang="ko-KR" sz="3000" dirty="0">
                <a:latin typeface="+mj-ea"/>
              </a:rPr>
              <a:t>SW </a:t>
            </a:r>
            <a:r>
              <a:rPr lang="ko-KR" altLang="en-US" sz="3000" dirty="0">
                <a:latin typeface="+mj-ea"/>
              </a:rPr>
              <a:t>입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출력 데이터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B34359-CF45-EC64-64B5-CD0A48582FB6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4604FC6E-FAF2-C13A-80F4-963505E396A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4E89C70F-3FEB-8561-CAA5-9409D5F1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290736-A9D3-C741-4342-58C018F98D98}"/>
              </a:ext>
            </a:extLst>
          </p:cNvPr>
          <p:cNvCxnSpPr>
            <a:cxnSpLocks/>
          </p:cNvCxnSpPr>
          <p:nvPr/>
        </p:nvCxnSpPr>
        <p:spPr>
          <a:xfrm>
            <a:off x="3180459" y="1949626"/>
            <a:ext cx="2428" cy="4318978"/>
          </a:xfrm>
          <a:prstGeom prst="line">
            <a:avLst/>
          </a:prstGeom>
          <a:ln w="28575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E1E42E-8721-CE61-4CF1-CEA831884E17}"/>
              </a:ext>
            </a:extLst>
          </p:cNvPr>
          <p:cNvSpPr txBox="1"/>
          <p:nvPr/>
        </p:nvSpPr>
        <p:spPr>
          <a:xfrm>
            <a:off x="1514959" y="1766542"/>
            <a:ext cx="166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관리자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(GUI)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18892-CFA9-30FB-416E-B4E8B57533FE}"/>
              </a:ext>
            </a:extLst>
          </p:cNvPr>
          <p:cNvSpPr txBox="1"/>
          <p:nvPr/>
        </p:nvSpPr>
        <p:spPr>
          <a:xfrm>
            <a:off x="3893116" y="1766542"/>
            <a:ext cx="2096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i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임무통제</a:t>
            </a:r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SW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4F240-FDA6-1FAB-07B2-F791978C4572}"/>
              </a:ext>
            </a:extLst>
          </p:cNvPr>
          <p:cNvSpPr txBox="1"/>
          <p:nvPr/>
        </p:nvSpPr>
        <p:spPr>
          <a:xfrm>
            <a:off x="8433567" y="1719002"/>
            <a:ext cx="212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 </a:t>
            </a:r>
            <a:r>
              <a:rPr lang="en-US" altLang="ko-KR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2000" b="1" i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89E897A-CA5C-4E6A-BCF8-FD593FB3D349}"/>
              </a:ext>
            </a:extLst>
          </p:cNvPr>
          <p:cNvCxnSpPr>
            <a:cxnSpLocks/>
          </p:cNvCxnSpPr>
          <p:nvPr/>
        </p:nvCxnSpPr>
        <p:spPr>
          <a:xfrm flipV="1">
            <a:off x="2385060" y="5632972"/>
            <a:ext cx="7851140" cy="76200"/>
          </a:xfrm>
          <a:prstGeom prst="line">
            <a:avLst/>
          </a:prstGeom>
          <a:ln w="57150">
            <a:solidFill>
              <a:srgbClr val="FFCC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9">
            <a:extLst>
              <a:ext uri="{FF2B5EF4-FFF2-40B4-BE49-F238E27FC236}">
                <a16:creationId xmlns:a16="http://schemas.microsoft.com/office/drawing/2014/main" id="{7F0405A3-96EA-B35A-DC0C-E3110643F8B7}"/>
              </a:ext>
            </a:extLst>
          </p:cNvPr>
          <p:cNvSpPr/>
          <p:nvPr/>
        </p:nvSpPr>
        <p:spPr>
          <a:xfrm>
            <a:off x="3331924" y="5788544"/>
            <a:ext cx="1152000" cy="3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목적지후보리스트</a:t>
            </a:r>
            <a:b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</a:b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(e.g., 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충전소 등</a:t>
            </a: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688315-1E8C-569D-ACA4-9B5484A87917}"/>
              </a:ext>
            </a:extLst>
          </p:cNvPr>
          <p:cNvSpPr txBox="1"/>
          <p:nvPr/>
        </p:nvSpPr>
        <p:spPr>
          <a:xfrm>
            <a:off x="1683851" y="5907120"/>
            <a:ext cx="1374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보유데이터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218892-CFA9-30FB-416E-B4E8B57533FE}"/>
              </a:ext>
            </a:extLst>
          </p:cNvPr>
          <p:cNvSpPr txBox="1"/>
          <p:nvPr/>
        </p:nvSpPr>
        <p:spPr>
          <a:xfrm>
            <a:off x="6864787" y="1758584"/>
            <a:ext cx="1400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i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운용통제</a:t>
            </a:r>
            <a:endParaRPr lang="ko-KR" altLang="en-US" sz="2000" b="1" i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48" name="모서리가 둥근 직사각형 9">
            <a:extLst>
              <a:ext uri="{FF2B5EF4-FFF2-40B4-BE49-F238E27FC236}">
                <a16:creationId xmlns:a16="http://schemas.microsoft.com/office/drawing/2014/main" id="{7F0405A3-96EA-B35A-DC0C-E3110643F8B7}"/>
              </a:ext>
            </a:extLst>
          </p:cNvPr>
          <p:cNvSpPr/>
          <p:nvPr/>
        </p:nvSpPr>
        <p:spPr>
          <a:xfrm>
            <a:off x="4679496" y="5788544"/>
            <a:ext cx="972000" cy="3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지도 및 이동 </a:t>
            </a:r>
            <a:r>
              <a:rPr lang="ko-KR" altLang="en-US" sz="10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리스트</a:t>
            </a:r>
          </a:p>
        </p:txBody>
      </p:sp>
      <p:sp>
        <p:nvSpPr>
          <p:cNvPr id="51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3316695" y="4072660"/>
            <a:ext cx="900000" cy="360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출발</a:t>
            </a: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도착 </a:t>
            </a:r>
            <a:endParaRPr lang="en-US" altLang="ko-KR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05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경로점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설정</a:t>
            </a:r>
          </a:p>
        </p:txBody>
      </p:sp>
      <p:sp>
        <p:nvSpPr>
          <p:cNvPr id="54" name="모서리가 둥근 직사각형 9">
            <a:extLst>
              <a:ext uri="{FF2B5EF4-FFF2-40B4-BE49-F238E27FC236}">
                <a16:creationId xmlns:a16="http://schemas.microsoft.com/office/drawing/2014/main" id="{57E8526F-FF84-BD4C-78B1-53A05B097A22}"/>
              </a:ext>
            </a:extLst>
          </p:cNvPr>
          <p:cNvSpPr/>
          <p:nvPr/>
        </p:nvSpPr>
        <p:spPr>
          <a:xfrm>
            <a:off x="4700268" y="4070706"/>
            <a:ext cx="900000" cy="360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최단경로설정</a:t>
            </a:r>
          </a:p>
        </p:txBody>
      </p:sp>
      <p:sp>
        <p:nvSpPr>
          <p:cNvPr id="55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4499929" y="2368185"/>
            <a:ext cx="900000" cy="360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선택 로봇</a:t>
            </a: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58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4700268" y="4805495"/>
            <a:ext cx="900000" cy="360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관리</a:t>
            </a:r>
            <a:endParaRPr lang="en-US" altLang="ko-KR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모든 로봇</a:t>
            </a: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105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59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3316695" y="4806868"/>
            <a:ext cx="900000" cy="360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표적 설정 </a:t>
            </a:r>
          </a:p>
        </p:txBody>
      </p:sp>
      <p:sp>
        <p:nvSpPr>
          <p:cNvPr id="60" name="모서리가 둥근 직사각형 9">
            <a:extLst>
              <a:ext uri="{FF2B5EF4-FFF2-40B4-BE49-F238E27FC236}">
                <a16:creationId xmlns:a16="http://schemas.microsoft.com/office/drawing/2014/main" id="{D3313832-CDC8-AA4F-7C64-EA9EFD6D494A}"/>
              </a:ext>
            </a:extLst>
          </p:cNvPr>
          <p:cNvSpPr/>
          <p:nvPr/>
        </p:nvSpPr>
        <p:spPr>
          <a:xfrm>
            <a:off x="3316695" y="3413899"/>
            <a:ext cx="900000" cy="480089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감시영역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할당</a:t>
            </a:r>
            <a:r>
              <a:rPr lang="en-US" altLang="ko-KR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or </a:t>
            </a:r>
            <a:r>
              <a:rPr lang="ko-KR" altLang="en-US" sz="105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재할당</a:t>
            </a:r>
          </a:p>
        </p:txBody>
      </p:sp>
      <p:sp>
        <p:nvSpPr>
          <p:cNvPr id="63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616178" y="2249027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현재 로봇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위치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(X,Y)</a:t>
            </a:r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65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9502948" y="2254805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EO/IR 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영상</a:t>
            </a:r>
          </a:p>
        </p:txBody>
      </p:sp>
      <p:sp>
        <p:nvSpPr>
          <p:cNvPr id="66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633200" y="3054659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로봇 주행 영상</a:t>
            </a:r>
          </a:p>
        </p:txBody>
      </p:sp>
      <p:sp>
        <p:nvSpPr>
          <p:cNvPr id="67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633200" y="2641300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배터리 상태 정보</a:t>
            </a:r>
          </a:p>
        </p:txBody>
      </p:sp>
      <p:sp>
        <p:nvSpPr>
          <p:cNvPr id="68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8633200" y="3433578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통신 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상태 정보</a:t>
            </a:r>
          </a:p>
        </p:txBody>
      </p:sp>
      <p:sp>
        <p:nvSpPr>
          <p:cNvPr id="69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9502948" y="2640019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 장비 자세 정보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9441352" y="2163351"/>
            <a:ext cx="5721" cy="39438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rcRect r="71040"/>
          <a:stretch/>
        </p:blipFill>
        <p:spPr>
          <a:xfrm>
            <a:off x="7451395" y="1540074"/>
            <a:ext cx="276433" cy="216000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rcRect r="71040"/>
          <a:stretch/>
        </p:blipFill>
        <p:spPr>
          <a:xfrm>
            <a:off x="2198470" y="1536934"/>
            <a:ext cx="276433" cy="2160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4"/>
          <a:srcRect r="67694"/>
          <a:stretch/>
        </p:blipFill>
        <p:spPr>
          <a:xfrm>
            <a:off x="4770963" y="1540074"/>
            <a:ext cx="308370" cy="216000"/>
          </a:xfrm>
          <a:prstGeom prst="rect">
            <a:avLst/>
          </a:prstGeom>
        </p:spPr>
      </p:pic>
      <p:sp>
        <p:nvSpPr>
          <p:cNvPr id="90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7210858" y="2643011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탐지 표적 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표적 종류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96" name="꺾인 연결선 95"/>
          <p:cNvCxnSpPr>
            <a:stCxn id="68" idx="1"/>
            <a:endCxn id="55" idx="3"/>
          </p:cNvCxnSpPr>
          <p:nvPr/>
        </p:nvCxnSpPr>
        <p:spPr>
          <a:xfrm rot="10800000">
            <a:off x="5399931" y="2548187"/>
            <a:ext cx="3233271" cy="1017095"/>
          </a:xfrm>
          <a:prstGeom prst="bentConnector3">
            <a:avLst>
              <a:gd name="adj1" fmla="val 8025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66" idx="1"/>
            <a:endCxn id="55" idx="3"/>
          </p:cNvCxnSpPr>
          <p:nvPr/>
        </p:nvCxnSpPr>
        <p:spPr>
          <a:xfrm rot="10800000">
            <a:off x="5399931" y="2548185"/>
            <a:ext cx="3233271" cy="638176"/>
          </a:xfrm>
          <a:prstGeom prst="bentConnector3">
            <a:avLst>
              <a:gd name="adj1" fmla="val 797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67" idx="1"/>
            <a:endCxn id="55" idx="3"/>
          </p:cNvCxnSpPr>
          <p:nvPr/>
        </p:nvCxnSpPr>
        <p:spPr>
          <a:xfrm rot="10800000">
            <a:off x="5399931" y="2548187"/>
            <a:ext cx="3233271" cy="224817"/>
          </a:xfrm>
          <a:prstGeom prst="bentConnector3">
            <a:avLst>
              <a:gd name="adj1" fmla="val 797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63" idx="1"/>
            <a:endCxn id="55" idx="3"/>
          </p:cNvCxnSpPr>
          <p:nvPr/>
        </p:nvCxnSpPr>
        <p:spPr>
          <a:xfrm rot="10800000" flipV="1">
            <a:off x="5399931" y="2380729"/>
            <a:ext cx="3216249" cy="167456"/>
          </a:xfrm>
          <a:prstGeom prst="bentConnector3">
            <a:avLst>
              <a:gd name="adj1" fmla="val 7551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90" idx="1"/>
            <a:endCxn id="55" idx="3"/>
          </p:cNvCxnSpPr>
          <p:nvPr/>
        </p:nvCxnSpPr>
        <p:spPr>
          <a:xfrm rot="10800000">
            <a:off x="5399931" y="2548185"/>
            <a:ext cx="1810929" cy="226528"/>
          </a:xfrm>
          <a:prstGeom prst="bentConnector3">
            <a:avLst>
              <a:gd name="adj1" fmla="val 8273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65" idx="1"/>
          </p:cNvCxnSpPr>
          <p:nvPr/>
        </p:nvCxnSpPr>
        <p:spPr>
          <a:xfrm rot="10800000" flipV="1">
            <a:off x="8374815" y="2386507"/>
            <a:ext cx="1128135" cy="161677"/>
          </a:xfrm>
          <a:prstGeom prst="bentConnector3">
            <a:avLst>
              <a:gd name="adj1" fmla="val 2156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69" idx="1"/>
          </p:cNvCxnSpPr>
          <p:nvPr/>
        </p:nvCxnSpPr>
        <p:spPr>
          <a:xfrm rot="10800000">
            <a:off x="8374814" y="2548183"/>
            <a:ext cx="1128134" cy="223538"/>
          </a:xfrm>
          <a:prstGeom prst="bentConnector3">
            <a:avLst>
              <a:gd name="adj1" fmla="val 2156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6617555" y="2161204"/>
            <a:ext cx="18384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운용통제장치 </a:t>
            </a:r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GUI 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전시 </a:t>
            </a:r>
            <a:endParaRPr lang="en-US" altLang="ko-KR" sz="105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및 임무통제장치로 전송</a:t>
            </a:r>
          </a:p>
        </p:txBody>
      </p:sp>
      <p:pic>
        <p:nvPicPr>
          <p:cNvPr id="130" name="그림 129"/>
          <p:cNvPicPr>
            <a:picLocks noChangeAspect="1"/>
          </p:cNvPicPr>
          <p:nvPr/>
        </p:nvPicPr>
        <p:blipFill rotWithShape="1">
          <a:blip r:embed="rId5"/>
          <a:srcRect r="69529"/>
          <a:stretch/>
        </p:blipFill>
        <p:spPr>
          <a:xfrm>
            <a:off x="7866175" y="2676733"/>
            <a:ext cx="293642" cy="216000"/>
          </a:xfrm>
          <a:prstGeom prst="rect">
            <a:avLst/>
          </a:prstGeom>
        </p:spPr>
      </p:pic>
      <p:cxnSp>
        <p:nvCxnSpPr>
          <p:cNvPr id="132" name="직선 화살표 연결선 131"/>
          <p:cNvCxnSpPr>
            <a:stCxn id="55" idx="1"/>
          </p:cNvCxnSpPr>
          <p:nvPr/>
        </p:nvCxnSpPr>
        <p:spPr>
          <a:xfrm flipH="1" flipV="1">
            <a:off x="3058309" y="2548183"/>
            <a:ext cx="1441620" cy="2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6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012308" y="3905828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목표점 선택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(X,Y)</a:t>
            </a:r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37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012568" y="3519498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 로봇 수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(n)</a:t>
            </a:r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38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012308" y="4702133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 모드 설정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1738044" y="2331739"/>
            <a:ext cx="143959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선택한 로봇</a:t>
            </a:r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감시장비 </a:t>
            </a:r>
            <a:endParaRPr lang="en-US" altLang="ko-KR" sz="105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정보 전시</a:t>
            </a:r>
          </a:p>
        </p:txBody>
      </p:sp>
      <p:sp>
        <p:nvSpPr>
          <p:cNvPr id="140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7176767" y="3657846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조이스틱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전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,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후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,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좌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,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우</a:t>
            </a:r>
          </a:p>
        </p:txBody>
      </p:sp>
      <p:sp>
        <p:nvSpPr>
          <p:cNvPr id="141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7176767" y="4037992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조이스틱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P-T-Z</a:t>
            </a:r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144" name="직선 화살표 연결선 143"/>
          <p:cNvCxnSpPr>
            <a:stCxn id="140" idx="3"/>
          </p:cNvCxnSpPr>
          <p:nvPr/>
        </p:nvCxnSpPr>
        <p:spPr>
          <a:xfrm>
            <a:off x="7896768" y="3789548"/>
            <a:ext cx="736433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직선 화살표 연결선 145"/>
          <p:cNvCxnSpPr>
            <a:stCxn id="141" idx="3"/>
          </p:cNvCxnSpPr>
          <p:nvPr/>
        </p:nvCxnSpPr>
        <p:spPr>
          <a:xfrm>
            <a:off x="7896767" y="4169694"/>
            <a:ext cx="1694908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2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5839884" y="4902105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시작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9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종료점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53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5840623" y="4087212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설정된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운용 모드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54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5837654" y="4495914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최단경로점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X,Y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리스트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155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5837056" y="3486079"/>
            <a:ext cx="720000" cy="46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 명령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실행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중지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변경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)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6992077" y="3399817"/>
            <a:ext cx="11575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원격모드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설정 시</a:t>
            </a:r>
          </a:p>
        </p:txBody>
      </p:sp>
      <p:cxnSp>
        <p:nvCxnSpPr>
          <p:cNvPr id="165" name="꺾인 연결선 164"/>
          <p:cNvCxnSpPr>
            <a:stCxn id="136" idx="3"/>
            <a:endCxn id="51" idx="1"/>
          </p:cNvCxnSpPr>
          <p:nvPr/>
        </p:nvCxnSpPr>
        <p:spPr>
          <a:xfrm>
            <a:off x="2732309" y="4037530"/>
            <a:ext cx="584387" cy="215130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48" idx="2"/>
            <a:endCxn id="54" idx="1"/>
          </p:cNvCxnSpPr>
          <p:nvPr/>
        </p:nvCxnSpPr>
        <p:spPr>
          <a:xfrm rot="5400000" flipH="1">
            <a:off x="3983963" y="4967011"/>
            <a:ext cx="1897838" cy="465228"/>
          </a:xfrm>
          <a:prstGeom prst="bentConnector4">
            <a:avLst>
              <a:gd name="adj1" fmla="val -5018"/>
              <a:gd name="adj2" fmla="val 123574"/>
            </a:avLst>
          </a:prstGeom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38" idx="0"/>
          </p:cNvCxnSpPr>
          <p:nvPr/>
        </p:nvCxnSpPr>
        <p:spPr>
          <a:xfrm rot="16200000" flipV="1">
            <a:off x="3195129" y="5075748"/>
            <a:ext cx="375169" cy="1050424"/>
          </a:xfrm>
          <a:prstGeom prst="bentConnector2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1642981" y="5286417"/>
            <a:ext cx="14395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목적지 후보 제공</a:t>
            </a:r>
            <a:endParaRPr lang="ko-KR" altLang="en-US" sz="1050" b="1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190" name="직선 화살표 연결선 189"/>
          <p:cNvCxnSpPr>
            <a:stCxn id="51" idx="3"/>
            <a:endCxn id="54" idx="1"/>
          </p:cNvCxnSpPr>
          <p:nvPr/>
        </p:nvCxnSpPr>
        <p:spPr>
          <a:xfrm flipV="1">
            <a:off x="4216696" y="4250706"/>
            <a:ext cx="483573" cy="1954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1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009843" y="4287807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추적 표적 설정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203" name="꺾인 연결선 202"/>
          <p:cNvCxnSpPr>
            <a:stCxn id="201" idx="3"/>
            <a:endCxn id="59" idx="1"/>
          </p:cNvCxnSpPr>
          <p:nvPr/>
        </p:nvCxnSpPr>
        <p:spPr>
          <a:xfrm>
            <a:off x="2729843" y="4419510"/>
            <a:ext cx="586852" cy="567359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5" name="직선 화살표 연결선 204"/>
          <p:cNvCxnSpPr>
            <a:stCxn id="59" idx="3"/>
            <a:endCxn id="58" idx="1"/>
          </p:cNvCxnSpPr>
          <p:nvPr/>
        </p:nvCxnSpPr>
        <p:spPr>
          <a:xfrm flipV="1">
            <a:off x="4216696" y="4985496"/>
            <a:ext cx="483573" cy="1373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5" name="꺾인 연결선 214"/>
          <p:cNvCxnSpPr>
            <a:stCxn id="58" idx="3"/>
            <a:endCxn id="155" idx="1"/>
          </p:cNvCxnSpPr>
          <p:nvPr/>
        </p:nvCxnSpPr>
        <p:spPr>
          <a:xfrm flipV="1">
            <a:off x="5600268" y="3720079"/>
            <a:ext cx="236788" cy="1265416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꺾인 연결선 216"/>
          <p:cNvCxnSpPr>
            <a:stCxn id="58" idx="3"/>
            <a:endCxn id="153" idx="1"/>
          </p:cNvCxnSpPr>
          <p:nvPr/>
        </p:nvCxnSpPr>
        <p:spPr>
          <a:xfrm flipV="1">
            <a:off x="5600269" y="4218915"/>
            <a:ext cx="240355" cy="766581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9" name="꺾인 연결선 218"/>
          <p:cNvCxnSpPr>
            <a:stCxn id="58" idx="3"/>
            <a:endCxn id="154" idx="1"/>
          </p:cNvCxnSpPr>
          <p:nvPr/>
        </p:nvCxnSpPr>
        <p:spPr>
          <a:xfrm flipV="1">
            <a:off x="5600268" y="4627617"/>
            <a:ext cx="237386" cy="357879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꺾인 연결선 220"/>
          <p:cNvCxnSpPr>
            <a:stCxn id="58" idx="3"/>
            <a:endCxn id="152" idx="1"/>
          </p:cNvCxnSpPr>
          <p:nvPr/>
        </p:nvCxnSpPr>
        <p:spPr>
          <a:xfrm>
            <a:off x="5600268" y="4985495"/>
            <a:ext cx="239616" cy="48312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4" name="직선 화살표 연결선 273"/>
          <p:cNvCxnSpPr>
            <a:stCxn id="54" idx="2"/>
            <a:endCxn id="58" idx="0"/>
          </p:cNvCxnSpPr>
          <p:nvPr/>
        </p:nvCxnSpPr>
        <p:spPr>
          <a:xfrm>
            <a:off x="5150268" y="4430707"/>
            <a:ext cx="0" cy="374789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8" name="그림 277"/>
          <p:cNvPicPr>
            <a:picLocks noChangeAspect="1"/>
          </p:cNvPicPr>
          <p:nvPr/>
        </p:nvPicPr>
        <p:blipFill rotWithShape="1">
          <a:blip r:embed="rId6"/>
          <a:srcRect r="72560"/>
          <a:stretch/>
        </p:blipFill>
        <p:spPr>
          <a:xfrm>
            <a:off x="9673997" y="1536934"/>
            <a:ext cx="261919" cy="216000"/>
          </a:xfrm>
          <a:prstGeom prst="rect">
            <a:avLst/>
          </a:prstGeom>
        </p:spPr>
      </p:pic>
      <p:pic>
        <p:nvPicPr>
          <p:cNvPr id="279" name="그림 278"/>
          <p:cNvPicPr>
            <a:picLocks noChangeAspect="1"/>
          </p:cNvPicPr>
          <p:nvPr/>
        </p:nvPicPr>
        <p:blipFill rotWithShape="1">
          <a:blip r:embed="rId4"/>
          <a:srcRect r="67694"/>
          <a:stretch/>
        </p:blipFill>
        <p:spPr>
          <a:xfrm>
            <a:off x="8839015" y="1540074"/>
            <a:ext cx="308370" cy="216000"/>
          </a:xfrm>
          <a:prstGeom prst="rect">
            <a:avLst/>
          </a:prstGeom>
        </p:spPr>
      </p:pic>
      <p:cxnSp>
        <p:nvCxnSpPr>
          <p:cNvPr id="280" name="직선 화살표 연결선 279"/>
          <p:cNvCxnSpPr>
            <a:stCxn id="60" idx="2"/>
          </p:cNvCxnSpPr>
          <p:nvPr/>
        </p:nvCxnSpPr>
        <p:spPr>
          <a:xfrm flipH="1">
            <a:off x="3759619" y="3893988"/>
            <a:ext cx="7077" cy="176719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ysDot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4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808790" y="951420"/>
            <a:ext cx="560395" cy="1801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3352844" y="912984"/>
            <a:ext cx="32000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: 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각 장치에서 생성 및 전달하는 입</a:t>
            </a:r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/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출력 데이터</a:t>
            </a:r>
          </a:p>
        </p:txBody>
      </p:sp>
      <p:sp>
        <p:nvSpPr>
          <p:cNvPr id="286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2808790" y="1219516"/>
            <a:ext cx="560395" cy="180109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044C8413-80B6-C897-4025-306B23E0CAF5}"/>
              </a:ext>
            </a:extLst>
          </p:cNvPr>
          <p:cNvSpPr txBox="1"/>
          <p:nvPr/>
        </p:nvSpPr>
        <p:spPr>
          <a:xfrm>
            <a:off x="3362028" y="1197176"/>
            <a:ext cx="18384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: </a:t>
            </a:r>
            <a:r>
              <a:rPr lang="ko-KR" altLang="en-US" sz="1050" b="1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임무통제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 </a:t>
            </a:r>
            <a:r>
              <a:rPr lang="en-US" altLang="ko-KR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SW </a:t>
            </a:r>
            <a:r>
              <a:rPr lang="ko-KR" altLang="en-US" sz="1050" b="1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기능</a:t>
            </a:r>
          </a:p>
        </p:txBody>
      </p:sp>
      <p:cxnSp>
        <p:nvCxnSpPr>
          <p:cNvPr id="289" name="꺾인 연결선 288"/>
          <p:cNvCxnSpPr>
            <a:stCxn id="138" idx="2"/>
            <a:endCxn id="58" idx="2"/>
          </p:cNvCxnSpPr>
          <p:nvPr/>
        </p:nvCxnSpPr>
        <p:spPr>
          <a:xfrm rot="16200000" flipH="1">
            <a:off x="3661309" y="3676536"/>
            <a:ext cx="199958" cy="2777960"/>
          </a:xfrm>
          <a:prstGeom prst="bentConnector3">
            <a:avLst>
              <a:gd name="adj1" fmla="val 161926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2" name="직선 화살표 연결선 291"/>
          <p:cNvCxnSpPr>
            <a:stCxn id="137" idx="3"/>
            <a:endCxn id="60" idx="1"/>
          </p:cNvCxnSpPr>
          <p:nvPr/>
        </p:nvCxnSpPr>
        <p:spPr>
          <a:xfrm>
            <a:off x="2732569" y="3651201"/>
            <a:ext cx="584127" cy="2743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8" name="모서리가 둥근 직사각형 9">
            <a:extLst>
              <a:ext uri="{FF2B5EF4-FFF2-40B4-BE49-F238E27FC236}">
                <a16:creationId xmlns:a16="http://schemas.microsoft.com/office/drawing/2014/main" id="{B0C21B53-04BD-CC59-4599-B49FF58C525F}"/>
              </a:ext>
            </a:extLst>
          </p:cNvPr>
          <p:cNvSpPr/>
          <p:nvPr/>
        </p:nvSpPr>
        <p:spPr>
          <a:xfrm>
            <a:off x="5842305" y="5282036"/>
            <a:ext cx="720000" cy="2634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추적할 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나눔바른고딕" panose="020B0603020101020101" pitchFamily="50" charset="-127"/>
              </a:rPr>
              <a:t>표적 정보</a:t>
            </a:r>
            <a:endParaRPr lang="en-US" altLang="ko-KR" sz="90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나눔바른고딕" panose="020B0603020101020101" pitchFamily="50" charset="-127"/>
            </a:endParaRPr>
          </a:p>
        </p:txBody>
      </p:sp>
      <p:cxnSp>
        <p:nvCxnSpPr>
          <p:cNvPr id="311" name="꺾인 연결선 310"/>
          <p:cNvCxnSpPr>
            <a:stCxn id="58" idx="3"/>
            <a:endCxn id="298" idx="1"/>
          </p:cNvCxnSpPr>
          <p:nvPr/>
        </p:nvCxnSpPr>
        <p:spPr>
          <a:xfrm>
            <a:off x="5600269" y="4985496"/>
            <a:ext cx="242037" cy="428243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155" idx="3"/>
          </p:cNvCxnSpPr>
          <p:nvPr/>
        </p:nvCxnSpPr>
        <p:spPr>
          <a:xfrm>
            <a:off x="6557056" y="3720079"/>
            <a:ext cx="2076144" cy="831132"/>
          </a:xfrm>
          <a:prstGeom prst="bentConnector3">
            <a:avLst>
              <a:gd name="adj1" fmla="val 2033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153" idx="3"/>
          </p:cNvCxnSpPr>
          <p:nvPr/>
        </p:nvCxnSpPr>
        <p:spPr>
          <a:xfrm>
            <a:off x="6560624" y="4218915"/>
            <a:ext cx="2072577" cy="329207"/>
          </a:xfrm>
          <a:prstGeom prst="bentConnector3">
            <a:avLst>
              <a:gd name="adj1" fmla="val 20281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0" name="꺾인 연결선 319"/>
          <p:cNvCxnSpPr>
            <a:stCxn id="155" idx="3"/>
          </p:cNvCxnSpPr>
          <p:nvPr/>
        </p:nvCxnSpPr>
        <p:spPr>
          <a:xfrm>
            <a:off x="6557057" y="3720080"/>
            <a:ext cx="3034619" cy="825893"/>
          </a:xfrm>
          <a:prstGeom prst="bentConnector3">
            <a:avLst>
              <a:gd name="adj1" fmla="val 13904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2" name="꺾인 연결선 321"/>
          <p:cNvCxnSpPr>
            <a:stCxn id="153" idx="3"/>
          </p:cNvCxnSpPr>
          <p:nvPr/>
        </p:nvCxnSpPr>
        <p:spPr>
          <a:xfrm>
            <a:off x="6560623" y="4218915"/>
            <a:ext cx="3031052" cy="326459"/>
          </a:xfrm>
          <a:prstGeom prst="bentConnector3">
            <a:avLst>
              <a:gd name="adj1" fmla="val 1386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6" name="꺾인 연결선 325"/>
          <p:cNvCxnSpPr>
            <a:stCxn id="154" idx="3"/>
          </p:cNvCxnSpPr>
          <p:nvPr/>
        </p:nvCxnSpPr>
        <p:spPr>
          <a:xfrm>
            <a:off x="6557654" y="4627617"/>
            <a:ext cx="2058524" cy="239659"/>
          </a:xfrm>
          <a:prstGeom prst="bentConnector3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8" name="꺾인 연결선 327"/>
          <p:cNvCxnSpPr>
            <a:stCxn id="152" idx="3"/>
          </p:cNvCxnSpPr>
          <p:nvPr/>
        </p:nvCxnSpPr>
        <p:spPr>
          <a:xfrm flipV="1">
            <a:off x="6559884" y="4876037"/>
            <a:ext cx="2056294" cy="157771"/>
          </a:xfrm>
          <a:prstGeom prst="bentConnector3">
            <a:avLst>
              <a:gd name="adj1" fmla="val 49846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1" name="직선 화살표 연결선 330"/>
          <p:cNvCxnSpPr>
            <a:stCxn id="298" idx="3"/>
          </p:cNvCxnSpPr>
          <p:nvPr/>
        </p:nvCxnSpPr>
        <p:spPr>
          <a:xfrm flipV="1">
            <a:off x="6562305" y="5413376"/>
            <a:ext cx="3029370" cy="363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744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EF228-554F-A7C5-754A-A489CCFC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B494F-0862-E907-9624-25C63882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  <a:ea typeface="+mj-ea"/>
              </a:rPr>
              <a:t>주요 입</a:t>
            </a:r>
            <a:r>
              <a:rPr lang="en-US" altLang="ko-KR" sz="3000" dirty="0">
                <a:latin typeface="+mj-ea"/>
                <a:ea typeface="+mj-ea"/>
              </a:rPr>
              <a:t>/</a:t>
            </a:r>
            <a:r>
              <a:rPr lang="ko-KR" altLang="en-US" sz="3000" dirty="0">
                <a:latin typeface="+mj-ea"/>
                <a:ea typeface="+mj-ea"/>
              </a:rPr>
              <a:t>출력 데이터 </a:t>
            </a:r>
            <a:r>
              <a:rPr lang="en-US" altLang="ko-KR" sz="3000" dirty="0">
                <a:latin typeface="+mj-ea"/>
                <a:ea typeface="+mj-ea"/>
              </a:rPr>
              <a:t>List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A45EE6-36B7-8C7A-93CA-4B1ADAFAF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입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출력 데이터 및 명령 관리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입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출력 데이터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List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7EEE355-8CA7-56C8-D3D7-C3639C70E848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BDE8FE67-63E8-7E51-D91E-B94A7F3B01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655769E5-A8DC-6EC0-4D0B-9CA03F320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093118" y="1784596"/>
          <a:ext cx="8323422" cy="2979199"/>
        </p:xfrm>
        <a:graphic>
          <a:graphicData uri="http://schemas.openxmlformats.org/drawingml/2006/table">
            <a:tbl>
              <a:tblPr/>
              <a:tblGrid>
                <a:gridCol w="444000">
                  <a:extLst>
                    <a:ext uri="{9D8B030D-6E8A-4147-A177-3AD203B41FA5}">
                      <a16:colId xmlns:a16="http://schemas.microsoft.com/office/drawing/2014/main" val="1328624532"/>
                    </a:ext>
                  </a:extLst>
                </a:gridCol>
                <a:gridCol w="960462">
                  <a:extLst>
                    <a:ext uri="{9D8B030D-6E8A-4147-A177-3AD203B41FA5}">
                      <a16:colId xmlns:a16="http://schemas.microsoft.com/office/drawing/2014/main" val="55258553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96877894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86192592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92299877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71286709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259558681"/>
                    </a:ext>
                  </a:extLst>
                </a:gridCol>
              </a:tblGrid>
              <a:tr h="1722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NO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데이터 구분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데이터 내용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값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단위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)</a:t>
                      </a:r>
                      <a:endParaRPr lang="ko-KR" altLang="en-US" sz="1000" b="1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수신 주기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송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수신 방향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74455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상태 정보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위치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현재 위치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(X,Y)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m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상시 전달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전송 주기 미정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임무통제장치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7576215"/>
                  </a:ext>
                </a:extLst>
              </a:tr>
              <a:tr h="4199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2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속도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현재 속도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Km/h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363867"/>
                  </a:ext>
                </a:extLst>
              </a:tr>
              <a:tr h="151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 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3220853"/>
                  </a:ext>
                </a:extLst>
              </a:tr>
              <a:tr h="8399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3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배터리 상태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현재 배터리 잔량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%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25076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 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1578225"/>
                  </a:ext>
                </a:extLst>
              </a:tr>
              <a:tr h="12599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4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신호 상태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통신 연결 상태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On/Off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15321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 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045598"/>
                  </a:ext>
                </a:extLst>
              </a:tr>
              <a:tr h="202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5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감시장비 자세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감시 장비 헤딩 방위각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deg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0493147"/>
                  </a:ext>
                </a:extLst>
              </a:tr>
              <a:tr h="2811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6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영상 정보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감시 장비 영상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EO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카메라 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0~255 , Pixel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감시장비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운용통제장치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임무통제장치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8371173"/>
                  </a:ext>
                </a:extLst>
              </a:tr>
              <a:tr h="2729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7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IR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카메라 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0~255 , Pixel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감시장비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운용통제장치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임무통제장치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068669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8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로봇 주행 영상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EO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카메라 이미지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0~255 , Pixel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감시장비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운용통제장치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  <a:sym typeface="Wingdings" panose="05000000000000000000" pitchFamily="2" charset="2"/>
                        </a:rPr>
                        <a:t>임무통제장치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32463"/>
                  </a:ext>
                </a:extLst>
              </a:tr>
              <a:tr h="40456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9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원격 조종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원격 모드 설정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현재 설정 모드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(</a:t>
                      </a: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Auto, Manual)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0: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Auto</a:t>
                      </a: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 / 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1: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Manual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원격 조작 모드 시 전달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운용통제장치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로봇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감시장비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67925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조이스틱 정보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로봇 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,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좌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,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우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입력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조이스틱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입력 패킷</a:t>
                      </a:r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원격 조작 모드 시 상시 전달</a:t>
                      </a:r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4535988"/>
                  </a:ext>
                </a:extLst>
              </a:tr>
              <a:tr h="1816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10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조이스틱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로봇 전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후진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조이스틱 입력 패킷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원격 조작 모드 시 상시 전달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966115"/>
                  </a:ext>
                </a:extLst>
              </a:tr>
              <a:tr h="22673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kern="1200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11</a:t>
                      </a:r>
                      <a:endParaRPr lang="ko-KR" altLang="en-US" sz="1000" b="0" i="0" u="none" strike="noStrike" kern="1200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감시장비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P,T,Z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입력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8498811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12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141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504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1C9F-94B0-F8FD-EF8D-F4D84725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532BE-6F34-14D3-0FD6-6190873E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000" dirty="0">
                <a:latin typeface="+mj-ea"/>
              </a:rPr>
              <a:t>주요 입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출력 데이터 </a:t>
            </a:r>
            <a:r>
              <a:rPr lang="en-US" altLang="ko-KR" sz="3000" dirty="0">
                <a:latin typeface="+mj-ea"/>
              </a:rPr>
              <a:t>List</a:t>
            </a:r>
            <a:endParaRPr lang="ko-KR" altLang="en-US" sz="3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E7A425-F3CC-F447-B11E-EDAE117D8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입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출력 데이터 및 명령 관리</a:t>
            </a:r>
            <a:endParaRPr lang="en-US" altLang="ko-KR" dirty="0">
              <a:latin typeface="+mj-ea"/>
              <a:ea typeface="+mj-ea"/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입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출력 데이터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List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en-US" altLang="ko-KR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1E91A9-AC66-C527-46DC-A696218E92C3}"/>
              </a:ext>
            </a:extLst>
          </p:cNvPr>
          <p:cNvGrpSpPr/>
          <p:nvPr/>
        </p:nvGrpSpPr>
        <p:grpSpPr>
          <a:xfrm>
            <a:off x="7839959" y="170913"/>
            <a:ext cx="2828041" cy="638715"/>
            <a:chOff x="6315958" y="170912"/>
            <a:chExt cx="2828041" cy="638715"/>
          </a:xfrm>
        </p:grpSpPr>
        <p:sp>
          <p:nvSpPr>
            <p:cNvPr id="5" name="AutoShape 39">
              <a:extLst>
                <a:ext uri="{FF2B5EF4-FFF2-40B4-BE49-F238E27FC236}">
                  <a16:creationId xmlns:a16="http://schemas.microsoft.com/office/drawing/2014/main" id="{3ACD8B7F-85D5-69E3-C8E1-8EFC7A072D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15958" y="170912"/>
              <a:ext cx="2828041" cy="638715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2CAFF0"/>
                </a:gs>
                <a:gs pos="100000">
                  <a:srgbClr val="2CAFF0">
                    <a:gamma/>
                    <a:tint val="42353"/>
                    <a:invGamma/>
                    <a:alpha val="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100">
                <a:latin typeface="+mj-ea"/>
                <a:ea typeface="+mj-ea"/>
              </a:endParaRPr>
            </a:p>
          </p:txBody>
        </p:sp>
        <p:sp>
          <p:nvSpPr>
            <p:cNvPr id="17" name="Rectangle 45">
              <a:extLst>
                <a:ext uri="{FF2B5EF4-FFF2-40B4-BE49-F238E27FC236}">
                  <a16:creationId xmlns:a16="http://schemas.microsoft.com/office/drawing/2014/main" id="{D27A96BE-5EE7-ED94-BDEC-6EAC141F5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4310" y="290214"/>
              <a:ext cx="249299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ko-KR" altLang="en-US" sz="2000" b="1" dirty="0">
                  <a:solidFill>
                    <a:schemeClr val="tx2"/>
                  </a:solidFill>
                  <a:latin typeface="+mj-ea"/>
                  <a:ea typeface="+mj-ea"/>
                </a:rPr>
                <a:t>한국로봇융합연구원</a:t>
              </a: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7BBAB6-6A75-518E-F92A-52FDDB63964F}"/>
              </a:ext>
            </a:extLst>
          </p:cNvPr>
          <p:cNvGraphicFramePr>
            <a:graphicFrameLocks noGrp="1"/>
          </p:cNvGraphicFramePr>
          <p:nvPr/>
        </p:nvGraphicFramePr>
        <p:xfrm>
          <a:off x="2093118" y="1784595"/>
          <a:ext cx="8323422" cy="3208840"/>
        </p:xfrm>
        <a:graphic>
          <a:graphicData uri="http://schemas.openxmlformats.org/drawingml/2006/table">
            <a:tbl>
              <a:tblPr/>
              <a:tblGrid>
                <a:gridCol w="444000">
                  <a:extLst>
                    <a:ext uri="{9D8B030D-6E8A-4147-A177-3AD203B41FA5}">
                      <a16:colId xmlns:a16="http://schemas.microsoft.com/office/drawing/2014/main" val="1328624532"/>
                    </a:ext>
                  </a:extLst>
                </a:gridCol>
                <a:gridCol w="960462">
                  <a:extLst>
                    <a:ext uri="{9D8B030D-6E8A-4147-A177-3AD203B41FA5}">
                      <a16:colId xmlns:a16="http://schemas.microsoft.com/office/drawing/2014/main" val="55258553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96877894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86192592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92299877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71286709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259558681"/>
                    </a:ext>
                  </a:extLst>
                </a:gridCol>
              </a:tblGrid>
              <a:tr h="1722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NO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데이터 구분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데이터 내용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값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단위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)</a:t>
                      </a:r>
                      <a:endParaRPr lang="ko-KR" altLang="en-US" sz="1000" b="1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수신 주기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송</a:t>
                      </a:r>
                      <a:r>
                        <a:rPr lang="en-US" altLang="ko-KR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수신 방향</a:t>
                      </a:r>
                    </a:p>
                  </a:txBody>
                  <a:tcPr marL="8881" marR="8881" marT="8881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74455"/>
                  </a:ext>
                </a:extLst>
              </a:tr>
              <a:tr h="1714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13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 하달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임무 명령</a:t>
                      </a:r>
                      <a:endParaRPr lang="en-US" altLang="ko-KR" sz="100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나눔바른고딕" panose="020B0603020101020101" pitchFamily="50" charset="-127"/>
                      </a:endParaRPr>
                    </a:p>
                    <a:p>
                      <a:pPr algn="ctr"/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실행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중지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변경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)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 이름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or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코드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 하달 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임무통제장치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 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로봇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감시장비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8774775"/>
                  </a:ext>
                </a:extLst>
              </a:tr>
              <a:tr h="25103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14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설정된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운용 모드</a:t>
                      </a:r>
                      <a:endParaRPr lang="en-US" altLang="ko-KR" sz="100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나눔바른고딕" panose="020B0603020101020101" pitchFamily="50" charset="-127"/>
                      </a:endParaRPr>
                    </a:p>
                    <a:p>
                      <a:pPr algn="ctr"/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이동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감시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추적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모드 이름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or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코드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8578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lumMod val="50000"/>
                              <a:lumOff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정찰 영역 정보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이동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정찰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시작 위치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X,Y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m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09267076"/>
                  </a:ext>
                </a:extLst>
              </a:tr>
              <a:tr h="1782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15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3310186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16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이동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정찰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종료 위치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X,Y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m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1327073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17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최단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경로점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 리스트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X,Y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m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4628799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18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목표점 도착 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m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913213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19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표적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표적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종 정보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탐지한 표적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이름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or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코드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탐지 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운용통제장치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임무통제장치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7831629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20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추적할 표적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 하달 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임무통제장치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운용통제장치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266296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21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사용자 입력 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GUI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입력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운용 모드 설정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이동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감시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추적</a:t>
                      </a:r>
                      <a:r>
                        <a:rPr lang="en-US" altLang="ko-KR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모드 이름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or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코드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설정 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GUI </a:t>
                      </a: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sym typeface="Wingdings" panose="05000000000000000000" pitchFamily="2" charset="2"/>
                        </a:rPr>
                        <a:t>임무통제장치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15193"/>
                  </a:ext>
                </a:extLst>
              </a:tr>
              <a:tr h="23351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ln>
                            <a:solidFill>
                              <a:schemeClr val="tx1">
                                <a:lumMod val="50000"/>
                                <a:lumOff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</a:rPr>
                        <a:t>22</a:t>
                      </a:r>
                    </a:p>
                  </a:txBody>
                  <a:tcPr marL="8881" marR="8881" marT="8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나눔바른고딕" panose="020B0603020101020101" pitchFamily="50" charset="-127"/>
                        </a:rPr>
                        <a:t>로봇 운용 수</a:t>
                      </a:r>
                      <a:endParaRPr lang="en-US" altLang="ko-KR" sz="100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charset="-127"/>
                          <a:ea typeface="나눔바른고딕" panose="020B0600000101010101" charset="-127"/>
                          <a:cs typeface="+mn-cs"/>
                        </a:rPr>
                        <a:t>N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0000101010101" charset="-127"/>
                        <a:ea typeface="나눔바른고딕" panose="020B0600000101010101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8942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4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0DDF-82E7-C2C3-1B6E-B12EB66E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42A6C48-3AC7-1488-4B65-09505905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시스템 구성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41275-8162-1EC2-56C3-E4EFFA168BD9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1.3 </a:t>
            </a:r>
            <a:r>
              <a:rPr lang="ko-KR" altLang="en-US" dirty="0"/>
              <a:t>시스템 구성 초안 </a:t>
            </a:r>
            <a:r>
              <a:rPr lang="en-US" altLang="ko-KR" dirty="0"/>
              <a:t>GUI </a:t>
            </a:r>
            <a:r>
              <a:rPr lang="ko-KR" altLang="en-US" dirty="0"/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F636CA-4A82-DB10-A5E8-60FEBF17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315" b="11669"/>
          <a:stretch>
            <a:fillRect/>
          </a:stretch>
        </p:blipFill>
        <p:spPr>
          <a:xfrm>
            <a:off x="4588207" y="2008298"/>
            <a:ext cx="3503715" cy="2325623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EBE5B0FC-4ED1-1AC2-39EB-4E7890D5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773" y="2008298"/>
            <a:ext cx="3395562" cy="2214496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018AEB63-BFF5-6A68-90A9-8E18A1A38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25" y="2008298"/>
            <a:ext cx="3429632" cy="218799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0129BFBC-D79F-CCE9-B5F4-DC17E8AA4C52}"/>
              </a:ext>
            </a:extLst>
          </p:cNvPr>
          <p:cNvSpPr txBox="1"/>
          <p:nvPr/>
        </p:nvSpPr>
        <p:spPr>
          <a:xfrm>
            <a:off x="1123710" y="4345934"/>
            <a:ext cx="257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운용통제장치 </a:t>
            </a:r>
            <a:r>
              <a:rPr lang="en-US" altLang="ko-KR" dirty="0"/>
              <a:t>SW GUI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07568D-F96B-239E-55B5-3182BBC014FC}"/>
              </a:ext>
            </a:extLst>
          </p:cNvPr>
          <p:cNvSpPr txBox="1"/>
          <p:nvPr/>
        </p:nvSpPr>
        <p:spPr>
          <a:xfrm>
            <a:off x="5050233" y="4345934"/>
            <a:ext cx="257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임무통제장치 </a:t>
            </a:r>
            <a:r>
              <a:rPr lang="en-US" altLang="ko-KR" dirty="0"/>
              <a:t>SW GUI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FA0B7CC-7B73-2E98-778C-9E5EC7BF0DF4}"/>
              </a:ext>
            </a:extLst>
          </p:cNvPr>
          <p:cNvSpPr txBox="1"/>
          <p:nvPr/>
        </p:nvSpPr>
        <p:spPr>
          <a:xfrm>
            <a:off x="8902668" y="4345934"/>
            <a:ext cx="2693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휴대용조종장치 </a:t>
            </a:r>
            <a:r>
              <a:rPr lang="en-US" altLang="ko-KR" dirty="0"/>
              <a:t>SW GUI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082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1D9F-C5B9-F5C0-2359-F8FA312E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8979B3-4F86-331A-CF2D-5B290BC9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시스템 구성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CAA97-1824-0C6B-34FD-B38909DA5140}"/>
              </a:ext>
            </a:extLst>
          </p:cNvPr>
          <p:cNvSpPr txBox="1"/>
          <p:nvPr/>
        </p:nvSpPr>
        <p:spPr>
          <a:xfrm>
            <a:off x="470779" y="1149791"/>
            <a:ext cx="546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1.4 </a:t>
            </a:r>
            <a:r>
              <a:rPr lang="ko-KR" altLang="en-US" dirty="0"/>
              <a:t>개발 소프트웨어 </a:t>
            </a:r>
            <a:r>
              <a:rPr lang="en-US" altLang="ko-KR" dirty="0"/>
              <a:t>GUI </a:t>
            </a:r>
            <a:r>
              <a:rPr lang="ko-KR" altLang="en-US" dirty="0"/>
              <a:t>형태</a:t>
            </a:r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, ~‘2508</a:t>
            </a:r>
            <a:r>
              <a:rPr lang="ko-KR" altLang="en-US" dirty="0"/>
              <a:t>월</a:t>
            </a:r>
            <a:r>
              <a:rPr lang="en-US" altLang="ko-KR" dirty="0"/>
              <a:t> </a:t>
            </a:r>
            <a:r>
              <a:rPr lang="ko-KR" altLang="en-US" dirty="0"/>
              <a:t>이전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74" name="그림 173">
            <a:extLst>
              <a:ext uri="{FF2B5EF4-FFF2-40B4-BE49-F238E27FC236}">
                <a16:creationId xmlns:a16="http://schemas.microsoft.com/office/drawing/2014/main" id="{D7821E5A-EF83-8532-6ED5-C0F8CC51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656" y="1620106"/>
            <a:ext cx="7099180" cy="44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7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3A22-321A-3CB7-4F88-01A8D908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E70884F-C6EE-E1B7-D728-34A72DFD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시스템 구성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F6082-CD18-AF52-C15C-F68AAA0F1B60}"/>
              </a:ext>
            </a:extLst>
          </p:cNvPr>
          <p:cNvSpPr txBox="1"/>
          <p:nvPr/>
        </p:nvSpPr>
        <p:spPr>
          <a:xfrm>
            <a:off x="470780" y="1149791"/>
            <a:ext cx="5747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1.5 </a:t>
            </a:r>
            <a:r>
              <a:rPr lang="ko-KR" altLang="en-US" dirty="0"/>
              <a:t>개발 소프트웨어 </a:t>
            </a:r>
            <a:r>
              <a:rPr lang="en-US" altLang="ko-KR" dirty="0"/>
              <a:t>GUI </a:t>
            </a:r>
            <a:r>
              <a:rPr lang="ko-KR" altLang="en-US" dirty="0"/>
              <a:t>형태</a:t>
            </a:r>
            <a:r>
              <a:rPr lang="en-US" altLang="ko-KR" dirty="0"/>
              <a:t>(2</a:t>
            </a:r>
            <a:r>
              <a:rPr lang="ko-KR" altLang="en-US" dirty="0"/>
              <a:t>차</a:t>
            </a:r>
            <a:r>
              <a:rPr lang="en-US" altLang="ko-KR" dirty="0"/>
              <a:t>, ~‘2508</a:t>
            </a:r>
            <a:r>
              <a:rPr lang="ko-KR" altLang="en-US" dirty="0"/>
              <a:t>월</a:t>
            </a:r>
            <a:r>
              <a:rPr lang="en-US" altLang="ko-KR" dirty="0"/>
              <a:t> 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C238E5C8-1104-BF20-81B4-F285DFA0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045" y="1632318"/>
            <a:ext cx="8373909" cy="471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99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4F8F-1025-9CEB-A8FC-EE276ED7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7DF2178-ABA6-E83F-2FC5-C57FD1D0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변경 요청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EFDCD-7F2C-10DC-E34F-F689220ED7D0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변경 요청 사항</a:t>
            </a:r>
            <a:r>
              <a:rPr lang="en-US" altLang="ko-KR" dirty="0"/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89093-244B-1DDE-BBE4-FBC6F68C9890}"/>
              </a:ext>
            </a:extLst>
          </p:cNvPr>
          <p:cNvSpPr txBox="1"/>
          <p:nvPr/>
        </p:nvSpPr>
        <p:spPr>
          <a:xfrm>
            <a:off x="596019" y="1558176"/>
            <a:ext cx="79142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2.1.1 </a:t>
            </a:r>
            <a:r>
              <a:rPr lang="ko-KR" altLang="en-US" dirty="0"/>
              <a:t>운용통제장치 </a:t>
            </a:r>
            <a:r>
              <a:rPr lang="en-US" altLang="ko-KR" dirty="0"/>
              <a:t>– </a:t>
            </a:r>
            <a:r>
              <a:rPr lang="ko-KR" altLang="en-US" dirty="0"/>
              <a:t>조이스틱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트러스트마스터</a:t>
            </a:r>
            <a:r>
              <a:rPr lang="en-US" altLang="ko-KR" dirty="0"/>
              <a:t>(TM)</a:t>
            </a:r>
            <a:r>
              <a:rPr lang="ko-KR" altLang="en-US" dirty="0"/>
              <a:t>사 </a:t>
            </a:r>
            <a:r>
              <a:rPr lang="en-US" altLang="ko-KR" dirty="0"/>
              <a:t>Hotas </a:t>
            </a:r>
            <a:r>
              <a:rPr lang="en-US" altLang="ko-KR" dirty="0" err="1"/>
              <a:t>FilghtStick</a:t>
            </a:r>
            <a:r>
              <a:rPr lang="en-US" altLang="ko-KR" dirty="0"/>
              <a:t> </a:t>
            </a:r>
            <a:r>
              <a:rPr lang="ko-KR" altLang="en-US" dirty="0"/>
              <a:t>적용 구동 변경 필요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조이스틱 맵핑 예상도</a:t>
            </a:r>
            <a:endParaRPr lang="en-US" altLang="ko-KR" dirty="0"/>
          </a:p>
          <a:p>
            <a:r>
              <a:rPr lang="en-US" altLang="ko-KR" dirty="0"/>
              <a:t>     : Y</a:t>
            </a:r>
            <a:r>
              <a:rPr lang="ko-KR" altLang="en-US" dirty="0"/>
              <a:t>축</a:t>
            </a:r>
            <a:r>
              <a:rPr lang="en-US" altLang="ko-KR" dirty="0"/>
              <a:t>[</a:t>
            </a:r>
            <a:r>
              <a:rPr lang="ko-KR" altLang="en-US" dirty="0"/>
              <a:t>전</a:t>
            </a:r>
            <a:r>
              <a:rPr lang="en-US" altLang="ko-KR" dirty="0"/>
              <a:t>/</a:t>
            </a:r>
            <a:r>
              <a:rPr lang="ko-KR" altLang="en-US" dirty="0"/>
              <a:t>후 주행모터명령</a:t>
            </a:r>
            <a:r>
              <a:rPr lang="en-US" altLang="ko-KR" dirty="0"/>
              <a:t>], X</a:t>
            </a:r>
            <a:r>
              <a:rPr lang="ko-KR" altLang="en-US" dirty="0"/>
              <a:t>축</a:t>
            </a:r>
            <a:r>
              <a:rPr lang="en-US" altLang="ko-KR" dirty="0"/>
              <a:t>[</a:t>
            </a:r>
            <a:r>
              <a:rPr lang="ko-KR" altLang="en-US" dirty="0"/>
              <a:t>좌</a:t>
            </a:r>
            <a:r>
              <a:rPr lang="en-US" altLang="ko-KR" dirty="0"/>
              <a:t>/</a:t>
            </a:r>
            <a:r>
              <a:rPr lang="ko-KR" altLang="en-US" dirty="0"/>
              <a:t>우 </a:t>
            </a:r>
            <a:r>
              <a:rPr lang="ko-KR" altLang="en-US" dirty="0" err="1"/>
              <a:t>조향회전모터명령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→ 전체 속도 </a:t>
            </a:r>
            <a:r>
              <a:rPr lang="ko-KR" altLang="en-US" dirty="0" err="1"/>
              <a:t>리밋</a:t>
            </a:r>
            <a:r>
              <a:rPr lang="en-US" altLang="ko-KR" dirty="0"/>
              <a:t>(</a:t>
            </a:r>
            <a:r>
              <a:rPr lang="ko-KR" altLang="en-US" dirty="0"/>
              <a:t>주행</a:t>
            </a:r>
            <a:r>
              <a:rPr lang="en-US" altLang="ko-KR" dirty="0"/>
              <a:t>:5km/h, </a:t>
            </a:r>
            <a:r>
              <a:rPr lang="ko-KR" altLang="en-US" dirty="0" err="1"/>
              <a:t>조향</a:t>
            </a:r>
            <a:r>
              <a:rPr lang="en-US" altLang="ko-KR" dirty="0"/>
              <a:t>:60deg/s)</a:t>
            </a:r>
            <a:r>
              <a:rPr lang="ko-KR" altLang="en-US" dirty="0"/>
              <a:t> 적용 후 변경 가능 보유</a:t>
            </a:r>
            <a:endParaRPr lang="en-US" altLang="ko-KR" dirty="0"/>
          </a:p>
          <a:p>
            <a:r>
              <a:rPr lang="en-US" altLang="ko-KR" dirty="0"/>
              <a:t>     : </a:t>
            </a:r>
            <a:r>
              <a:rPr lang="ko-KR" altLang="en-US" dirty="0"/>
              <a:t>트림스위치</a:t>
            </a:r>
            <a:r>
              <a:rPr lang="en-US" altLang="ko-KR" dirty="0"/>
              <a:t>[</a:t>
            </a:r>
            <a:r>
              <a:rPr lang="ko-KR" altLang="en-US" dirty="0"/>
              <a:t>감시장비 팬</a:t>
            </a:r>
            <a:r>
              <a:rPr lang="en-US" altLang="ko-KR" dirty="0"/>
              <a:t>(</a:t>
            </a:r>
            <a:r>
              <a:rPr lang="ko-KR" altLang="en-US" dirty="0"/>
              <a:t>좌우회전</a:t>
            </a:r>
            <a:r>
              <a:rPr lang="en-US" altLang="ko-KR" dirty="0"/>
              <a:t>, 360</a:t>
            </a:r>
            <a:r>
              <a:rPr lang="ko-KR" altLang="en-US" dirty="0"/>
              <a:t>도</a:t>
            </a:r>
            <a:r>
              <a:rPr lang="en-US" altLang="ko-KR" dirty="0"/>
              <a:t>)]</a:t>
            </a:r>
          </a:p>
          <a:p>
            <a:r>
              <a:rPr lang="en-US" altLang="ko-KR" dirty="0"/>
              <a:t>     : DMS </a:t>
            </a:r>
            <a:r>
              <a:rPr lang="ko-KR" altLang="en-US" dirty="0"/>
              <a:t>버튼 </a:t>
            </a:r>
            <a:r>
              <a:rPr lang="en-US" altLang="ko-KR" dirty="0"/>
              <a:t>11/12 [</a:t>
            </a:r>
            <a:r>
              <a:rPr lang="ko-KR" altLang="en-US" dirty="0"/>
              <a:t>감시장비 </a:t>
            </a:r>
            <a:r>
              <a:rPr lang="ko-KR" altLang="en-US" dirty="0" err="1"/>
              <a:t>틸트</a:t>
            </a:r>
            <a:r>
              <a:rPr lang="en-US" altLang="ko-KR" dirty="0"/>
              <a:t>(</a:t>
            </a:r>
            <a:r>
              <a:rPr lang="ko-KR" altLang="en-US" dirty="0"/>
              <a:t>상하각도</a:t>
            </a:r>
            <a:r>
              <a:rPr lang="en-US" altLang="ko-KR" dirty="0"/>
              <a:t>, ±45</a:t>
            </a:r>
            <a:r>
              <a:rPr lang="ko-KR" altLang="en-US" dirty="0"/>
              <a:t>도</a:t>
            </a:r>
            <a:r>
              <a:rPr lang="en-US" altLang="ko-KR" dirty="0"/>
              <a:t>)]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클릭 당 </a:t>
            </a:r>
            <a:r>
              <a:rPr lang="en-US" altLang="ko-KR" dirty="0"/>
              <a:t>1~2</a:t>
            </a:r>
            <a:r>
              <a:rPr lang="ko-KR" altLang="en-US" dirty="0"/>
              <a:t>도 적용</a:t>
            </a:r>
            <a:r>
              <a:rPr lang="en-US" altLang="ko-KR" dirty="0"/>
              <a:t> </a:t>
            </a:r>
            <a:r>
              <a:rPr lang="ko-KR" altLang="en-US" dirty="0"/>
              <a:t>후 변경 가능 보유</a:t>
            </a:r>
            <a:r>
              <a:rPr lang="en-US" altLang="ko-KR" dirty="0"/>
              <a:t>, </a:t>
            </a:r>
            <a:r>
              <a:rPr lang="ko-KR" altLang="en-US" dirty="0"/>
              <a:t>최대 상하 각도 재확인 중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3435E1-7DCF-0190-5B79-F0B539FC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48" y="4186745"/>
            <a:ext cx="2166535" cy="1795522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21C4EA9F-327E-7EA3-49E1-A55F03D0E9A6}"/>
              </a:ext>
            </a:extLst>
          </p:cNvPr>
          <p:cNvGrpSpPr/>
          <p:nvPr/>
        </p:nvGrpSpPr>
        <p:grpSpPr>
          <a:xfrm>
            <a:off x="2684352" y="3866500"/>
            <a:ext cx="2562131" cy="2914698"/>
            <a:chOff x="8510256" y="1806505"/>
            <a:chExt cx="3057158" cy="339018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E24B713-90DF-0986-3D41-E85D242EC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0256" y="1806505"/>
              <a:ext cx="3057158" cy="3390183"/>
            </a:xfrm>
            <a:prstGeom prst="rect">
              <a:avLst/>
            </a:prstGeom>
          </p:spPr>
        </p:pic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85A4FFD-D927-7FF1-E228-4427F585907E}"/>
                </a:ext>
              </a:extLst>
            </p:cNvPr>
            <p:cNvSpPr/>
            <p:nvPr/>
          </p:nvSpPr>
          <p:spPr>
            <a:xfrm>
              <a:off x="10084100" y="3017418"/>
              <a:ext cx="471426" cy="411582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C16291F1-B7BB-2A0E-3C00-BAB45C9D1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256" y="1558176"/>
            <a:ext cx="3530445" cy="198968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4150B8-2BEE-9CC8-1003-FB150F1ECC7E}"/>
              </a:ext>
            </a:extLst>
          </p:cNvPr>
          <p:cNvSpPr/>
          <p:nvPr/>
        </p:nvSpPr>
        <p:spPr>
          <a:xfrm>
            <a:off x="11023318" y="2908379"/>
            <a:ext cx="746187" cy="62137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BC6CDC5-2066-F8A0-BC41-7AF6345A38C5}"/>
              </a:ext>
            </a:extLst>
          </p:cNvPr>
          <p:cNvCxnSpPr>
            <a:stCxn id="23" idx="2"/>
          </p:cNvCxnSpPr>
          <p:nvPr/>
        </p:nvCxnSpPr>
        <p:spPr>
          <a:xfrm rot="5400000">
            <a:off x="9187768" y="2942778"/>
            <a:ext cx="1621668" cy="279562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36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4D2C-7AA4-3CD2-172F-D4C654FA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5739982-5DF6-37B6-D56E-1BA3342E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변경 요청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1A0011-36C7-D693-5B59-C07785C57C63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변경 요청 사항</a:t>
            </a:r>
            <a:r>
              <a:rPr lang="en-US" altLang="ko-KR" dirty="0"/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0A69C-4F52-CD77-150F-DC6FF5F2C818}"/>
              </a:ext>
            </a:extLst>
          </p:cNvPr>
          <p:cNvSpPr txBox="1"/>
          <p:nvPr/>
        </p:nvSpPr>
        <p:spPr>
          <a:xfrm>
            <a:off x="596019" y="1558176"/>
            <a:ext cx="79142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2.1.2 </a:t>
            </a:r>
            <a:r>
              <a:rPr lang="ko-KR" altLang="en-US" dirty="0"/>
              <a:t>운용통제장치 </a:t>
            </a:r>
            <a:r>
              <a:rPr lang="en-US" altLang="ko-KR" dirty="0"/>
              <a:t>– </a:t>
            </a:r>
            <a:r>
              <a:rPr lang="ko-KR" altLang="en-US" dirty="0"/>
              <a:t>감시장비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감시장비의 </a:t>
            </a:r>
            <a:r>
              <a:rPr lang="en-US" altLang="ko-KR" dirty="0"/>
              <a:t>RTSP </a:t>
            </a:r>
            <a:r>
              <a:rPr lang="ko-KR" altLang="en-US" dirty="0"/>
              <a:t>주소 적용 사항 변경 필요</a:t>
            </a:r>
            <a:r>
              <a:rPr lang="en-US" altLang="ko-KR" b="1" dirty="0">
                <a:solidFill>
                  <a:schemeClr val="accent1"/>
                </a:solidFill>
              </a:rPr>
              <a:t>(</a:t>
            </a:r>
            <a:r>
              <a:rPr lang="ko-KR" altLang="en-US" b="1" dirty="0">
                <a:solidFill>
                  <a:schemeClr val="accent1"/>
                </a:solidFill>
              </a:rPr>
              <a:t>필수 반영</a:t>
            </a:r>
            <a:r>
              <a:rPr lang="en-US" altLang="ko-KR" b="1" dirty="0">
                <a:solidFill>
                  <a:schemeClr val="accent1"/>
                </a:solidFill>
              </a:rPr>
              <a:t>)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현재 </a:t>
            </a:r>
            <a:r>
              <a:rPr lang="en-US" altLang="ko-KR" dirty="0"/>
              <a:t>SW </a:t>
            </a:r>
            <a:r>
              <a:rPr lang="ko-KR" altLang="en-US" dirty="0"/>
              <a:t>적용 기능 출력모드 </a:t>
            </a:r>
            <a:r>
              <a:rPr lang="en-US" altLang="ko-KR" dirty="0"/>
              <a:t>[</a:t>
            </a:r>
            <a:r>
              <a:rPr lang="ko-KR" altLang="en-US" dirty="0"/>
              <a:t>광학</a:t>
            </a:r>
            <a:r>
              <a:rPr lang="en-US" altLang="ko-KR" dirty="0"/>
              <a:t>/</a:t>
            </a:r>
            <a:r>
              <a:rPr lang="ko-KR" altLang="en-US" dirty="0"/>
              <a:t>적외선</a:t>
            </a:r>
            <a:r>
              <a:rPr lang="en-US" altLang="ko-KR" dirty="0"/>
              <a:t>] </a:t>
            </a:r>
            <a:r>
              <a:rPr lang="ko-KR" altLang="en-US" dirty="0"/>
              <a:t>변경 테스트 미적용 예상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→ 출력모드 </a:t>
            </a:r>
            <a:r>
              <a:rPr lang="en-US" altLang="ko-KR" dirty="0"/>
              <a:t>[</a:t>
            </a:r>
            <a:r>
              <a:rPr lang="ko-KR" altLang="en-US" dirty="0"/>
              <a:t>광학</a:t>
            </a:r>
            <a:r>
              <a:rPr lang="en-US" altLang="ko-KR" dirty="0"/>
              <a:t>/</a:t>
            </a:r>
            <a:r>
              <a:rPr lang="ko-KR" altLang="en-US" dirty="0"/>
              <a:t>적외선</a:t>
            </a:r>
            <a:r>
              <a:rPr lang="en-US" altLang="ko-KR" dirty="0"/>
              <a:t>] </a:t>
            </a:r>
            <a:r>
              <a:rPr lang="ko-KR" altLang="en-US" dirty="0"/>
              <a:t>선택 시 영상전시 전환 필요 </a:t>
            </a:r>
            <a:endParaRPr lang="en-US" altLang="ko-KR" dirty="0"/>
          </a:p>
          <a:p>
            <a:r>
              <a:rPr lang="en-US" altLang="ko-KR" dirty="0"/>
              <a:t>    - RTSP </a:t>
            </a:r>
            <a:r>
              <a:rPr lang="ko-KR" altLang="en-US" dirty="0" err="1"/>
              <a:t>주소값</a:t>
            </a:r>
            <a:r>
              <a:rPr lang="en-US" altLang="ko-KR" b="1" dirty="0">
                <a:solidFill>
                  <a:schemeClr val="accent1"/>
                </a:solidFill>
              </a:rPr>
              <a:t>(</a:t>
            </a:r>
            <a:r>
              <a:rPr lang="ko-KR" altLang="en-US" b="1" dirty="0">
                <a:solidFill>
                  <a:schemeClr val="accent1"/>
                </a:solidFill>
              </a:rPr>
              <a:t>필수 반영</a:t>
            </a:r>
            <a:r>
              <a:rPr lang="en-US" altLang="ko-KR" b="1" dirty="0">
                <a:solidFill>
                  <a:schemeClr val="accent1"/>
                </a:solidFill>
              </a:rPr>
              <a:t>)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광학</a:t>
            </a:r>
            <a:r>
              <a:rPr lang="en-US" altLang="ko-KR" dirty="0"/>
              <a:t>(EO) [rtsp://ip</a:t>
            </a:r>
            <a:r>
              <a:rPr lang="ko-KR" altLang="en-US" dirty="0"/>
              <a:t>주소</a:t>
            </a:r>
            <a:r>
              <a:rPr lang="en-US" altLang="ko-KR" dirty="0"/>
              <a:t>:3000/</a:t>
            </a:r>
            <a:r>
              <a:rPr lang="en-US" altLang="ko-KR" dirty="0" err="1"/>
              <a:t>eo</a:t>
            </a:r>
            <a:r>
              <a:rPr lang="en-US" altLang="ko-KR" dirty="0"/>
              <a:t>] / [rtsp://ip</a:t>
            </a:r>
            <a:r>
              <a:rPr lang="ko-KR" altLang="en-US" dirty="0"/>
              <a:t>주소</a:t>
            </a:r>
            <a:r>
              <a:rPr lang="en-US" altLang="ko-KR" dirty="0"/>
              <a:t>:4000/</a:t>
            </a:r>
            <a:r>
              <a:rPr lang="en-US" altLang="ko-KR" dirty="0" err="1"/>
              <a:t>ir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감시장비측 주소 및 포트 고정 요청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상기 </a:t>
            </a:r>
            <a:r>
              <a:rPr lang="en-US" altLang="ko-KR" dirty="0"/>
              <a:t>GUI </a:t>
            </a:r>
            <a:r>
              <a:rPr lang="ko-KR" altLang="en-US" dirty="0"/>
              <a:t>사항 변경 가능성 보유</a:t>
            </a:r>
            <a:r>
              <a:rPr lang="en-US" altLang="ko-KR" dirty="0"/>
              <a:t>(</a:t>
            </a:r>
            <a:r>
              <a:rPr lang="ko-KR" altLang="en-US" dirty="0"/>
              <a:t>보류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: </a:t>
            </a:r>
            <a:r>
              <a:rPr lang="ko-KR" altLang="en-US" dirty="0"/>
              <a:t>광학</a:t>
            </a:r>
            <a:r>
              <a:rPr lang="en-US" altLang="ko-KR" dirty="0"/>
              <a:t>/</a:t>
            </a:r>
            <a:r>
              <a:rPr lang="ko-KR" altLang="en-US" dirty="0"/>
              <a:t>적외선 동시 </a:t>
            </a:r>
            <a:r>
              <a:rPr lang="en-US" altLang="ko-KR" dirty="0"/>
              <a:t>UI</a:t>
            </a:r>
            <a:r>
              <a:rPr lang="ko-KR" altLang="en-US" dirty="0"/>
              <a:t>전시 후 </a:t>
            </a:r>
            <a:r>
              <a:rPr lang="ko-KR" altLang="en-US" dirty="0" err="1"/>
              <a:t>메인창</a:t>
            </a:r>
            <a:r>
              <a:rPr lang="ko-KR" altLang="en-US" dirty="0"/>
              <a:t> 전환 형식 반영</a:t>
            </a:r>
            <a:endParaRPr lang="en-US" altLang="ko-KR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9C43D69-67B0-2BE4-0767-FBD41F620F33}"/>
              </a:ext>
            </a:extLst>
          </p:cNvPr>
          <p:cNvGrpSpPr/>
          <p:nvPr/>
        </p:nvGrpSpPr>
        <p:grpSpPr>
          <a:xfrm>
            <a:off x="7163170" y="4143499"/>
            <a:ext cx="3884747" cy="2105255"/>
            <a:chOff x="3795281" y="4168958"/>
            <a:chExt cx="3884747" cy="210525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2794F17-5862-18CA-89C2-30F090C1B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5281" y="4168958"/>
              <a:ext cx="3884747" cy="210525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D408E2-F0EE-2604-5209-DA02B9840F67}"/>
                </a:ext>
              </a:extLst>
            </p:cNvPr>
            <p:cNvSpPr/>
            <p:nvPr/>
          </p:nvSpPr>
          <p:spPr>
            <a:xfrm>
              <a:off x="3965418" y="4300396"/>
              <a:ext cx="2236206" cy="999428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40A9A61-E5D7-338E-5394-993B71A0642D}"/>
                </a:ext>
              </a:extLst>
            </p:cNvPr>
            <p:cNvSpPr/>
            <p:nvPr/>
          </p:nvSpPr>
          <p:spPr>
            <a:xfrm>
              <a:off x="6552871" y="5675013"/>
              <a:ext cx="934344" cy="490397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1B19D0-216E-A8C0-B99F-8503B773C698}"/>
                </a:ext>
              </a:extLst>
            </p:cNvPr>
            <p:cNvSpPr txBox="1"/>
            <p:nvPr/>
          </p:nvSpPr>
          <p:spPr>
            <a:xfrm>
              <a:off x="4083113" y="4399984"/>
              <a:ext cx="1412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accent1"/>
                  </a:solidFill>
                </a:rPr>
                <a:t>메인 선택창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C24465-EAAF-8FD6-FC25-B48B154539C3}"/>
                </a:ext>
              </a:extLst>
            </p:cNvPr>
            <p:cNvSpPr txBox="1"/>
            <p:nvPr/>
          </p:nvSpPr>
          <p:spPr>
            <a:xfrm>
              <a:off x="6552871" y="5709717"/>
              <a:ext cx="9343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accent1"/>
                  </a:solidFill>
                </a:rPr>
                <a:t>보조 대기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6D9177DD-8B19-BA65-525F-467D835802B2}"/>
                </a:ext>
              </a:extLst>
            </p:cNvPr>
            <p:cNvCxnSpPr>
              <a:cxnSpLocks/>
            </p:cNvCxnSpPr>
            <p:nvPr/>
          </p:nvCxnSpPr>
          <p:spPr>
            <a:xfrm>
              <a:off x="6029608" y="5097101"/>
              <a:ext cx="649586" cy="697982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ECC1D28A-F54F-909E-64D2-F8E5AB108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458" y="4150266"/>
            <a:ext cx="3530445" cy="198968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BCAB49-7FD3-05D1-4A04-751F7C0E8E82}"/>
              </a:ext>
            </a:extLst>
          </p:cNvPr>
          <p:cNvSpPr/>
          <p:nvPr/>
        </p:nvSpPr>
        <p:spPr>
          <a:xfrm>
            <a:off x="4022708" y="5672485"/>
            <a:ext cx="857110" cy="23810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75CDEE7-86CF-7AF5-CA9F-A2F56717EF60}"/>
              </a:ext>
            </a:extLst>
          </p:cNvPr>
          <p:cNvSpPr/>
          <p:nvPr/>
        </p:nvSpPr>
        <p:spPr>
          <a:xfrm>
            <a:off x="4916032" y="5419894"/>
            <a:ext cx="2299580" cy="34973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65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79AC-2339-2F6D-1D46-6BC41EF1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6378518-CADC-413F-662B-7C34A791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변경 요청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53C76-B542-24A1-EC82-C4061F3BD466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변경 요청 사항</a:t>
            </a:r>
            <a:r>
              <a:rPr lang="en-US" altLang="ko-KR" dirty="0"/>
              <a:t>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3B65E-1D20-B589-AA83-3CB94C7B95BA}"/>
              </a:ext>
            </a:extLst>
          </p:cNvPr>
          <p:cNvSpPr txBox="1"/>
          <p:nvPr/>
        </p:nvSpPr>
        <p:spPr>
          <a:xfrm>
            <a:off x="596019" y="1558176"/>
            <a:ext cx="11110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2.1.3 </a:t>
            </a:r>
            <a:r>
              <a:rPr lang="ko-KR" altLang="en-US" dirty="0"/>
              <a:t>휴대용통제장치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태블릿 </a:t>
            </a:r>
            <a:r>
              <a:rPr lang="en-US" altLang="ko-KR" dirty="0"/>
              <a:t>UI </a:t>
            </a:r>
            <a:r>
              <a:rPr lang="ko-KR" altLang="en-US" dirty="0"/>
              <a:t>적용 가상 조이스틱 추가 필요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 err="1"/>
              <a:t>제어권</a:t>
            </a:r>
            <a:r>
              <a:rPr lang="ko-KR" altLang="en-US" dirty="0"/>
              <a:t> 요청</a:t>
            </a:r>
            <a:r>
              <a:rPr lang="en-US" altLang="ko-KR" dirty="0"/>
              <a:t>/</a:t>
            </a:r>
            <a:r>
              <a:rPr lang="ko-KR" altLang="en-US" dirty="0"/>
              <a:t>해제 기능 추가 필요</a:t>
            </a:r>
            <a:r>
              <a:rPr lang="en-US" altLang="ko-KR" dirty="0"/>
              <a:t>(</a:t>
            </a:r>
            <a:r>
              <a:rPr lang="ko-KR" altLang="en-US" dirty="0"/>
              <a:t>운용통제장치 충돌 방지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ko-KR" altLang="en-US" b="1" u="sng" dirty="0">
                <a:solidFill>
                  <a:schemeClr val="accent1"/>
                </a:solidFill>
              </a:rPr>
              <a:t>전체 </a:t>
            </a:r>
            <a:r>
              <a:rPr lang="en-US" altLang="ko-KR" b="1" u="sng" dirty="0">
                <a:solidFill>
                  <a:schemeClr val="accent1"/>
                </a:solidFill>
              </a:rPr>
              <a:t>UI </a:t>
            </a:r>
            <a:r>
              <a:rPr lang="ko-KR" altLang="en-US" b="1" u="sng" dirty="0">
                <a:solidFill>
                  <a:schemeClr val="accent1"/>
                </a:solidFill>
              </a:rPr>
              <a:t>유지 가능</a:t>
            </a:r>
            <a:r>
              <a:rPr lang="en-US" altLang="ko-KR" b="1" u="sng" dirty="0">
                <a:solidFill>
                  <a:schemeClr val="accent1"/>
                </a:solidFill>
              </a:rPr>
              <a:t>(</a:t>
            </a:r>
            <a:r>
              <a:rPr lang="ko-KR" altLang="en-US" b="1" u="sng" dirty="0">
                <a:solidFill>
                  <a:schemeClr val="accent1"/>
                </a:solidFill>
              </a:rPr>
              <a:t>주행영상</a:t>
            </a:r>
            <a:r>
              <a:rPr lang="en-US" altLang="ko-KR" b="1" u="sng" dirty="0">
                <a:solidFill>
                  <a:schemeClr val="accent1"/>
                </a:solidFill>
              </a:rPr>
              <a:t>, </a:t>
            </a:r>
            <a:r>
              <a:rPr lang="ko-KR" altLang="en-US" b="1" u="sng" dirty="0">
                <a:solidFill>
                  <a:schemeClr val="accent1"/>
                </a:solidFill>
              </a:rPr>
              <a:t>탐지영상</a:t>
            </a:r>
            <a:r>
              <a:rPr lang="en-US" altLang="ko-KR" b="1" u="sng" dirty="0">
                <a:solidFill>
                  <a:schemeClr val="accent1"/>
                </a:solidFill>
              </a:rPr>
              <a:t>[RTSP]</a:t>
            </a:r>
            <a:r>
              <a:rPr lang="ko-KR" altLang="en-US" b="1" u="sng" dirty="0">
                <a:solidFill>
                  <a:schemeClr val="accent1"/>
                </a:solidFill>
              </a:rPr>
              <a:t> 등</a:t>
            </a:r>
            <a:r>
              <a:rPr lang="en-US" altLang="ko-KR" b="1" u="sng" dirty="0">
                <a:solidFill>
                  <a:schemeClr val="accent1"/>
                </a:solidFill>
              </a:rPr>
              <a:t>),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     </a:t>
            </a:r>
            <a:r>
              <a:rPr lang="ko-KR" altLang="en-US" b="1" u="sng" dirty="0">
                <a:solidFill>
                  <a:schemeClr val="accent1"/>
                </a:solidFill>
              </a:rPr>
              <a:t>태블릿 </a:t>
            </a:r>
            <a:r>
              <a:rPr lang="en-US" altLang="ko-KR" b="1" u="sng" dirty="0">
                <a:solidFill>
                  <a:schemeClr val="accent1"/>
                </a:solidFill>
              </a:rPr>
              <a:t>GUI </a:t>
            </a:r>
            <a:r>
              <a:rPr lang="ko-KR" altLang="en-US" b="1" u="sng" dirty="0">
                <a:solidFill>
                  <a:schemeClr val="accent1"/>
                </a:solidFill>
              </a:rPr>
              <a:t>기준 가상 조이스틱 및 </a:t>
            </a:r>
            <a:r>
              <a:rPr lang="ko-KR" altLang="en-US" b="1" u="sng" dirty="0" err="1">
                <a:solidFill>
                  <a:schemeClr val="accent1"/>
                </a:solidFill>
              </a:rPr>
              <a:t>제어권</a:t>
            </a:r>
            <a:r>
              <a:rPr lang="ko-KR" altLang="en-US" b="1" u="sng" dirty="0">
                <a:solidFill>
                  <a:schemeClr val="accent1"/>
                </a:solidFill>
              </a:rPr>
              <a:t> 요청 등의 휴대용조종장치 전용 </a:t>
            </a:r>
            <a:r>
              <a:rPr lang="en-US" altLang="ko-KR" b="1" u="sng" dirty="0">
                <a:solidFill>
                  <a:schemeClr val="accent1"/>
                </a:solidFill>
              </a:rPr>
              <a:t>SW</a:t>
            </a:r>
            <a:r>
              <a:rPr lang="ko-KR" altLang="en-US" b="1" u="sng" dirty="0">
                <a:solidFill>
                  <a:schemeClr val="accent1"/>
                </a:solidFill>
              </a:rPr>
              <a:t>의 </a:t>
            </a:r>
            <a:r>
              <a:rPr lang="en-US" altLang="ko-KR" b="1" u="sng" dirty="0">
                <a:solidFill>
                  <a:schemeClr val="accent1"/>
                </a:solidFill>
              </a:rPr>
              <a:t>GUI </a:t>
            </a:r>
            <a:r>
              <a:rPr lang="ko-KR" altLang="en-US" b="1" u="sng" dirty="0">
                <a:solidFill>
                  <a:schemeClr val="accent1"/>
                </a:solidFill>
              </a:rPr>
              <a:t>구성 적용 필요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E99A7B-C028-B9F0-6BE7-254E75C98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505" y="3232229"/>
            <a:ext cx="4108630" cy="267954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9FC4DF-0CF7-7F03-D64B-C05DB5313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11" y="3247864"/>
            <a:ext cx="4699022" cy="2648271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2CC504C-29F6-D8EB-C366-DE59ACE3340C}"/>
              </a:ext>
            </a:extLst>
          </p:cNvPr>
          <p:cNvSpPr/>
          <p:nvPr/>
        </p:nvSpPr>
        <p:spPr>
          <a:xfrm>
            <a:off x="5621355" y="4794088"/>
            <a:ext cx="1131683" cy="2082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065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F45D-3C21-D19A-3E74-AD6F68D2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29853AA-D803-629C-F6B7-73D2ACFF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변경 요청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05CCB-E0D6-0AD4-D1D7-F739C9F68524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변경 요청 사항</a:t>
            </a:r>
            <a:r>
              <a:rPr lang="en-US" altLang="ko-KR" dirty="0"/>
              <a:t>(4)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8C48C-96E8-8B8C-0632-3EA3A99EC68D}"/>
              </a:ext>
            </a:extLst>
          </p:cNvPr>
          <p:cNvSpPr txBox="1"/>
          <p:nvPr/>
        </p:nvSpPr>
        <p:spPr>
          <a:xfrm>
            <a:off x="596019" y="1558176"/>
            <a:ext cx="10657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2.1.4 </a:t>
            </a:r>
            <a:r>
              <a:rPr lang="ko-KR" altLang="en-US" dirty="0"/>
              <a:t>임무통제장치 </a:t>
            </a:r>
            <a:r>
              <a:rPr lang="en-US" altLang="ko-KR" dirty="0"/>
              <a:t>– </a:t>
            </a:r>
            <a:r>
              <a:rPr lang="ko-KR" altLang="en-US" dirty="0"/>
              <a:t>표적 인식 알림 서비스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표적알고리즘 연동 후 표적 인식 상태 값</a:t>
            </a:r>
            <a:r>
              <a:rPr lang="en-US" altLang="ko-KR" dirty="0"/>
              <a:t>(</a:t>
            </a:r>
            <a:r>
              <a:rPr lang="ko-KR" altLang="en-US" dirty="0" err="1"/>
              <a:t>데이터포맷</a:t>
            </a:r>
            <a:r>
              <a:rPr lang="en-US" altLang="ko-KR" dirty="0"/>
              <a:t>) </a:t>
            </a:r>
            <a:r>
              <a:rPr lang="ko-KR" altLang="en-US" dirty="0"/>
              <a:t>확인 후 </a:t>
            </a:r>
            <a:r>
              <a:rPr lang="en-US" altLang="ko-KR" dirty="0"/>
              <a:t>SMS </a:t>
            </a:r>
            <a:r>
              <a:rPr lang="ko-KR" altLang="en-US" dirty="0"/>
              <a:t>형식 </a:t>
            </a:r>
            <a:r>
              <a:rPr lang="en-US" altLang="ko-KR" dirty="0"/>
              <a:t>API </a:t>
            </a:r>
            <a:r>
              <a:rPr lang="ko-KR" altLang="en-US" dirty="0"/>
              <a:t>기능 적용 필요</a:t>
            </a:r>
            <a:endParaRPr lang="en-US" altLang="ko-KR" dirty="0"/>
          </a:p>
          <a:p>
            <a:r>
              <a:rPr lang="en-US" altLang="ko-KR" dirty="0"/>
              <a:t>     : </a:t>
            </a:r>
            <a:r>
              <a:rPr lang="ko-KR" altLang="en-US" dirty="0"/>
              <a:t>표적 인식 시 위험물 관련 문자 </a:t>
            </a:r>
            <a:r>
              <a:rPr lang="en-US" altLang="ko-KR" dirty="0"/>
              <a:t>API </a:t>
            </a:r>
            <a:r>
              <a:rPr lang="ko-KR" altLang="en-US" dirty="0"/>
              <a:t>발송</a:t>
            </a:r>
            <a:endParaRPr lang="en-US" altLang="ko-KR" dirty="0"/>
          </a:p>
          <a:p>
            <a:r>
              <a:rPr lang="en-US" altLang="ko-KR" dirty="0"/>
              <a:t>       </a:t>
            </a:r>
            <a:r>
              <a:rPr lang="ko-KR" altLang="en-US" dirty="0"/>
              <a:t>→ </a:t>
            </a:r>
            <a:r>
              <a:rPr lang="en-US" altLang="ko-KR" dirty="0"/>
              <a:t>KT </a:t>
            </a:r>
            <a:r>
              <a:rPr lang="ko-KR" altLang="en-US" dirty="0"/>
              <a:t>스마트메시지 활용 단문 </a:t>
            </a:r>
            <a:r>
              <a:rPr lang="en-US" altLang="ko-KR" dirty="0"/>
              <a:t>SMS (</a:t>
            </a:r>
            <a:r>
              <a:rPr lang="en-US" altLang="ko-KR" dirty="0" err="1"/>
              <a:t>MessageMTOTSMSOpen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  </a:t>
            </a:r>
            <a:r>
              <a:rPr lang="ko-KR" altLang="en-US" dirty="0"/>
              <a:t>→ </a:t>
            </a:r>
            <a:r>
              <a:rPr lang="en-US" altLang="ko-KR" dirty="0"/>
              <a:t>[web]</a:t>
            </a:r>
            <a:r>
              <a:rPr lang="ko-KR" altLang="en-US" dirty="0"/>
              <a:t>발신 형식 문자 발송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문자메시지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세부 사항 확인 후 공유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300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BC96-C6F5-C90B-4DB0-35AF8902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A8004D-9361-1851-533F-0E022E8F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참조 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DD21FF-D870-4573-A574-2990A489D865}"/>
              </a:ext>
            </a:extLst>
          </p:cNvPr>
          <p:cNvSpPr txBox="1"/>
          <p:nvPr/>
        </p:nvSpPr>
        <p:spPr>
          <a:xfrm>
            <a:off x="470780" y="1149791"/>
            <a:ext cx="349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 </a:t>
            </a:r>
            <a:r>
              <a:rPr lang="ko-KR" altLang="en-US" dirty="0"/>
              <a:t>참조 사항</a:t>
            </a:r>
            <a:r>
              <a:rPr lang="en-US" altLang="ko-KR" dirty="0"/>
              <a:t>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51AB5-8843-108F-E305-CB83703B7A5E}"/>
              </a:ext>
            </a:extLst>
          </p:cNvPr>
          <p:cNvSpPr txBox="1"/>
          <p:nvPr/>
        </p:nvSpPr>
        <p:spPr>
          <a:xfrm>
            <a:off x="596019" y="1558176"/>
            <a:ext cx="69002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3.1.1 </a:t>
            </a:r>
            <a:r>
              <a:rPr lang="ko-KR" altLang="en-US" dirty="0"/>
              <a:t>임무통제장치 </a:t>
            </a:r>
            <a:r>
              <a:rPr lang="en-US" altLang="ko-KR" dirty="0"/>
              <a:t>– </a:t>
            </a:r>
            <a:r>
              <a:rPr lang="ko-KR" altLang="en-US" dirty="0"/>
              <a:t>전시</a:t>
            </a:r>
            <a:r>
              <a:rPr lang="en-US" altLang="ko-KR" dirty="0"/>
              <a:t>(</a:t>
            </a:r>
            <a:r>
              <a:rPr lang="ko-KR" altLang="en-US" dirty="0"/>
              <a:t>디스플레이</a:t>
            </a:r>
            <a:r>
              <a:rPr lang="en-US" altLang="ko-KR" dirty="0"/>
              <a:t>)</a:t>
            </a:r>
            <a:r>
              <a:rPr lang="ko-KR" altLang="en-US" dirty="0"/>
              <a:t> 부분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탐지영상 전시 부분</a:t>
            </a:r>
            <a:endParaRPr lang="en-US" altLang="ko-KR" dirty="0"/>
          </a:p>
          <a:p>
            <a:r>
              <a:rPr lang="en-US" altLang="ko-KR" dirty="0"/>
              <a:t>    : </a:t>
            </a:r>
            <a:r>
              <a:rPr lang="ko-KR" altLang="en-US" dirty="0"/>
              <a:t>각 호기 별 선택 전환 시 출력 사항 변경 가능 있음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→ 변경 시 </a:t>
            </a:r>
            <a:r>
              <a:rPr lang="en-US" altLang="ko-KR" dirty="0"/>
              <a:t>3</a:t>
            </a:r>
            <a:r>
              <a:rPr lang="ko-KR" altLang="en-US" dirty="0"/>
              <a:t>대 전체 탐지 영상 전시 변경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지도 전시 부분 </a:t>
            </a:r>
            <a:r>
              <a:rPr lang="en-US" altLang="ko-KR" dirty="0"/>
              <a:t>3</a:t>
            </a:r>
            <a:r>
              <a:rPr lang="ko-KR" altLang="en-US" dirty="0"/>
              <a:t>대 통합 전시 유지 가능 예상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3.1.2 </a:t>
            </a:r>
            <a:r>
              <a:rPr lang="ko-KR" altLang="en-US" dirty="0"/>
              <a:t>과제 </a:t>
            </a:r>
            <a:r>
              <a:rPr lang="en-US" altLang="ko-KR" dirty="0"/>
              <a:t>TRR </a:t>
            </a:r>
            <a:r>
              <a:rPr lang="ko-KR" altLang="en-US" dirty="0"/>
              <a:t>회의 진행</a:t>
            </a:r>
            <a:endParaRPr lang="en-US" altLang="ko-KR" dirty="0"/>
          </a:p>
          <a:p>
            <a:r>
              <a:rPr lang="en-US" altLang="ko-KR" dirty="0"/>
              <a:t>  - TRR </a:t>
            </a:r>
            <a:r>
              <a:rPr lang="ko-KR" altLang="en-US" dirty="0"/>
              <a:t>회의 예정 </a:t>
            </a:r>
            <a:r>
              <a:rPr lang="en-US" altLang="ko-KR" dirty="0"/>
              <a:t>9</a:t>
            </a:r>
            <a:r>
              <a:rPr lang="ko-KR" altLang="en-US" dirty="0"/>
              <a:t>월 중 예상</a:t>
            </a:r>
            <a:endParaRPr lang="en-US" altLang="ko-KR" dirty="0"/>
          </a:p>
          <a:p>
            <a:r>
              <a:rPr lang="en-US" altLang="ko-KR" dirty="0"/>
              <a:t>    : </a:t>
            </a:r>
            <a:r>
              <a:rPr lang="ko-KR" altLang="en-US" dirty="0"/>
              <a:t>전체 통합 연동 테스트 진행 중 내부 기능 및 디버깅 가능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→ 회의 진행 이후 보고서 작성 및 필요 사항 추가 요청 가능</a:t>
            </a:r>
            <a:endParaRPr lang="en-US" altLang="ko-KR" dirty="0"/>
          </a:p>
          <a:p>
            <a:r>
              <a:rPr lang="en-US" altLang="ko-KR" dirty="0"/>
              <a:t>  - TRR </a:t>
            </a:r>
            <a:r>
              <a:rPr lang="ko-KR" altLang="en-US" dirty="0"/>
              <a:t>회의 종료 후 보완 필요 및 기타 요구사항 변경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3.1.3 </a:t>
            </a:r>
            <a:r>
              <a:rPr lang="ko-KR" altLang="en-US" dirty="0"/>
              <a:t>연동 테스트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현재 감시장비</a:t>
            </a:r>
            <a:r>
              <a:rPr lang="en-US" altLang="ko-KR" dirty="0"/>
              <a:t>(RTSP) </a:t>
            </a:r>
            <a:r>
              <a:rPr lang="ko-KR" altLang="en-US" dirty="0"/>
              <a:t>영상 연동 확인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표적 알고리즘 연동 테스트 필요</a:t>
            </a:r>
            <a:endParaRPr lang="en-US" altLang="ko-KR" dirty="0"/>
          </a:p>
          <a:p>
            <a:r>
              <a:rPr lang="en-US" altLang="ko-KR" dirty="0"/>
              <a:t>    : GIST </a:t>
            </a:r>
            <a:r>
              <a:rPr lang="ko-KR" altLang="en-US" dirty="0"/>
              <a:t>측 별도 협의 및 요청 시 공유 요청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→ 현재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적용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98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2118</Words>
  <Application>Microsoft Office PowerPoint</Application>
  <PresentationFormat>와이드스크린</PresentationFormat>
  <Paragraphs>531</Paragraphs>
  <Slides>25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나눔바른고딕</vt:lpstr>
      <vt:lpstr>맑은 고딕</vt:lpstr>
      <vt:lpstr>Arial</vt:lpstr>
      <vt:lpstr>Office 테마</vt:lpstr>
      <vt:lpstr>수륙양용 지휘통제소 SW</vt:lpstr>
      <vt:lpstr>1. 시스템 구성</vt:lpstr>
      <vt:lpstr>지휘통제시스템 개발방안 정립</vt:lpstr>
      <vt:lpstr>지휘통제시스템 개발방안 정립</vt:lpstr>
      <vt:lpstr>지휘통제시스템 개발방안 정립</vt:lpstr>
      <vt:lpstr>데이터 입출력 예시: 경유점 관리방안</vt:lpstr>
      <vt:lpstr>지휘통제시스템 역할 구분</vt:lpstr>
      <vt:lpstr>정찰로봇 운용 시나리오</vt:lpstr>
      <vt:lpstr>군집 운용 SW 요구 기능 도출</vt:lpstr>
      <vt:lpstr>임무관리 SW 개요</vt:lpstr>
      <vt:lpstr>임무관리 SW 요구기능 정리</vt:lpstr>
      <vt:lpstr>모드/기능별 분석</vt:lpstr>
      <vt:lpstr>모드/기능별 분석</vt:lpstr>
      <vt:lpstr>모드/기능별 분석</vt:lpstr>
      <vt:lpstr>임무통제 SW 입/출력 데이터</vt:lpstr>
      <vt:lpstr>주요 입/출력 데이터 List</vt:lpstr>
      <vt:lpstr>주요 입/출력 데이터 List</vt:lpstr>
      <vt:lpstr>1. 시스템 구성</vt:lpstr>
      <vt:lpstr>1. 시스템 구성</vt:lpstr>
      <vt:lpstr>1. 시스템 구성</vt:lpstr>
      <vt:lpstr>2. 변경 요청 사항</vt:lpstr>
      <vt:lpstr>2. 변경 요청 사항</vt:lpstr>
      <vt:lpstr>2. 변경 요청 사항</vt:lpstr>
      <vt:lpstr>2. 변경 요청 사항</vt:lpstr>
      <vt:lpstr>3. 참조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MD-01</dc:creator>
  <cp:lastModifiedBy>정훈 김</cp:lastModifiedBy>
  <cp:revision>10</cp:revision>
  <dcterms:created xsi:type="dcterms:W3CDTF">2022-06-08T04:46:02Z</dcterms:created>
  <dcterms:modified xsi:type="dcterms:W3CDTF">2025-08-18T06:57:42Z</dcterms:modified>
</cp:coreProperties>
</file>