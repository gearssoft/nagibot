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6" r:id="rId3"/>
    <p:sldId id="259" r:id="rId4"/>
    <p:sldId id="257" r:id="rId5"/>
    <p:sldId id="258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EE4E6-0190-4075-B2FA-8C12F1EA8175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1D1B1-6982-4293-8638-7798E5DDE4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97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31D1B1-6982-4293-8638-7798E5DDE4E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994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31D1B1-6982-4293-8638-7798E5DDE4E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27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52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38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91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87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27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46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0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49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03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70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36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8BAB9-0566-43B2-9195-EC998109F837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27F70-ED2F-4ACA-AC81-FE23143D9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67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그림 255"/>
          <p:cNvPicPr>
            <a:picLocks noChangeAspect="1"/>
          </p:cNvPicPr>
          <p:nvPr/>
        </p:nvPicPr>
        <p:blipFill rotWithShape="1">
          <a:blip r:embed="rId2"/>
          <a:srcRect l="16507" t="7530"/>
          <a:stretch/>
        </p:blipFill>
        <p:spPr>
          <a:xfrm>
            <a:off x="0" y="-2457"/>
            <a:ext cx="12192000" cy="6860457"/>
          </a:xfrm>
          <a:prstGeom prst="rect">
            <a:avLst/>
          </a:prstGeom>
        </p:spPr>
      </p:pic>
      <p:grpSp>
        <p:nvGrpSpPr>
          <p:cNvPr id="5" name="Group 1">
            <a:extLst>
              <a:ext uri="{FF2B5EF4-FFF2-40B4-BE49-F238E27FC236}">
                <a16:creationId xmlns:a16="http://schemas.microsoft.com/office/drawing/2014/main" xmlns="" id="{561A7B4C-A2A2-4F06-94F1-1B7314F53476}"/>
              </a:ext>
            </a:extLst>
          </p:cNvPr>
          <p:cNvGrpSpPr/>
          <p:nvPr/>
        </p:nvGrpSpPr>
        <p:grpSpPr>
          <a:xfrm>
            <a:off x="10678213" y="3357472"/>
            <a:ext cx="855128" cy="518032"/>
            <a:chOff x="14847888" y="6927850"/>
            <a:chExt cx="1808163" cy="1095375"/>
          </a:xfrm>
        </p:grpSpPr>
        <p:sp>
          <p:nvSpPr>
            <p:cNvPr id="6" name="Freeform 147">
              <a:extLst>
                <a:ext uri="{FF2B5EF4-FFF2-40B4-BE49-F238E27FC236}">
                  <a16:creationId xmlns:a16="http://schemas.microsoft.com/office/drawing/2014/main" xmlns="" id="{84D8E50A-2F45-4689-9463-CFFBF19B8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7888" y="6927850"/>
              <a:ext cx="258763" cy="200025"/>
            </a:xfrm>
            <a:custGeom>
              <a:avLst/>
              <a:gdLst>
                <a:gd name="T0" fmla="*/ 94 w 94"/>
                <a:gd name="T1" fmla="*/ 18 h 72"/>
                <a:gd name="T2" fmla="*/ 8 w 94"/>
                <a:gd name="T3" fmla="*/ 1 h 72"/>
                <a:gd name="T4" fmla="*/ 3 w 94"/>
                <a:gd name="T5" fmla="*/ 10 h 72"/>
                <a:gd name="T6" fmla="*/ 66 w 94"/>
                <a:gd name="T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" h="72">
                  <a:moveTo>
                    <a:pt x="94" y="18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3" y="0"/>
                    <a:pt x="0" y="6"/>
                    <a:pt x="3" y="10"/>
                  </a:cubicBezTo>
                  <a:cubicBezTo>
                    <a:pt x="66" y="72"/>
                    <a:pt x="66" y="72"/>
                    <a:pt x="66" y="72"/>
                  </a:cubicBezTo>
                </a:path>
              </a:pathLst>
            </a:custGeom>
            <a:solidFill>
              <a:srgbClr val="829B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7" name="Freeform 148">
              <a:extLst>
                <a:ext uri="{FF2B5EF4-FFF2-40B4-BE49-F238E27FC236}">
                  <a16:creationId xmlns:a16="http://schemas.microsoft.com/office/drawing/2014/main" xmlns="" id="{D9E33CB9-E0BC-4039-A02B-C5397CA68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1113" y="7842250"/>
              <a:ext cx="134938" cy="180975"/>
            </a:xfrm>
            <a:custGeom>
              <a:avLst/>
              <a:gdLst>
                <a:gd name="T0" fmla="*/ 49 w 49"/>
                <a:gd name="T1" fmla="*/ 18 h 65"/>
                <a:gd name="T2" fmla="*/ 24 w 49"/>
                <a:gd name="T3" fmla="*/ 61 h 65"/>
                <a:gd name="T4" fmla="*/ 7 w 49"/>
                <a:gd name="T5" fmla="*/ 62 h 65"/>
                <a:gd name="T6" fmla="*/ 0 w 49"/>
                <a:gd name="T7" fmla="*/ 46 h 65"/>
                <a:gd name="T8" fmla="*/ 24 w 49"/>
                <a:gd name="T9" fmla="*/ 4 h 65"/>
                <a:gd name="T10" fmla="*/ 40 w 49"/>
                <a:gd name="T11" fmla="*/ 2 h 65"/>
                <a:gd name="T12" fmla="*/ 42 w 49"/>
                <a:gd name="T13" fmla="*/ 3 h 65"/>
                <a:gd name="T14" fmla="*/ 49 w 49"/>
                <a:gd name="T15" fmla="*/ 18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65">
                  <a:moveTo>
                    <a:pt x="49" y="18"/>
                  </a:moveTo>
                  <a:cubicBezTo>
                    <a:pt x="49" y="34"/>
                    <a:pt x="38" y="53"/>
                    <a:pt x="24" y="61"/>
                  </a:cubicBezTo>
                  <a:cubicBezTo>
                    <a:pt x="17" y="65"/>
                    <a:pt x="11" y="65"/>
                    <a:pt x="7" y="62"/>
                  </a:cubicBezTo>
                  <a:cubicBezTo>
                    <a:pt x="3" y="59"/>
                    <a:pt x="0" y="54"/>
                    <a:pt x="0" y="46"/>
                  </a:cubicBezTo>
                  <a:cubicBezTo>
                    <a:pt x="0" y="31"/>
                    <a:pt x="11" y="12"/>
                    <a:pt x="24" y="4"/>
                  </a:cubicBezTo>
                  <a:cubicBezTo>
                    <a:pt x="30" y="1"/>
                    <a:pt x="36" y="0"/>
                    <a:pt x="40" y="2"/>
                  </a:cubicBezTo>
                  <a:cubicBezTo>
                    <a:pt x="41" y="2"/>
                    <a:pt x="42" y="3"/>
                    <a:pt x="42" y="3"/>
                  </a:cubicBezTo>
                  <a:cubicBezTo>
                    <a:pt x="46" y="6"/>
                    <a:pt x="49" y="11"/>
                    <a:pt x="49" y="18"/>
                  </a:cubicBezTo>
                  <a:close/>
                </a:path>
              </a:pathLst>
            </a:custGeom>
            <a:solidFill>
              <a:srgbClr val="516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8" name="Freeform 149">
              <a:extLst>
                <a:ext uri="{FF2B5EF4-FFF2-40B4-BE49-F238E27FC236}">
                  <a16:creationId xmlns:a16="http://schemas.microsoft.com/office/drawing/2014/main" xmlns="" id="{2DE4F6BE-32E4-4AB6-848A-7E08BCE87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2988" y="6978650"/>
              <a:ext cx="1223963" cy="800100"/>
            </a:xfrm>
            <a:custGeom>
              <a:avLst/>
              <a:gdLst>
                <a:gd name="T0" fmla="*/ 443 w 443"/>
                <a:gd name="T1" fmla="*/ 237 h 290"/>
                <a:gd name="T2" fmla="*/ 436 w 443"/>
                <a:gd name="T3" fmla="*/ 240 h 290"/>
                <a:gd name="T4" fmla="*/ 411 w 443"/>
                <a:gd name="T5" fmla="*/ 282 h 290"/>
                <a:gd name="T6" fmla="*/ 412 w 443"/>
                <a:gd name="T7" fmla="*/ 290 h 290"/>
                <a:gd name="T8" fmla="*/ 6 w 443"/>
                <a:gd name="T9" fmla="*/ 55 h 290"/>
                <a:gd name="T10" fmla="*/ 6 w 443"/>
                <a:gd name="T11" fmla="*/ 54 h 290"/>
                <a:gd name="T12" fmla="*/ 0 w 443"/>
                <a:gd name="T13" fmla="*/ 41 h 290"/>
                <a:gd name="T14" fmla="*/ 21 w 443"/>
                <a:gd name="T15" fmla="*/ 3 h 290"/>
                <a:gd name="T16" fmla="*/ 34 w 443"/>
                <a:gd name="T17" fmla="*/ 0 h 290"/>
                <a:gd name="T18" fmla="*/ 39 w 443"/>
                <a:gd name="T19" fmla="*/ 3 h 290"/>
                <a:gd name="T20" fmla="*/ 443 w 443"/>
                <a:gd name="T21" fmla="*/ 237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3" h="290">
                  <a:moveTo>
                    <a:pt x="443" y="237"/>
                  </a:moveTo>
                  <a:cubicBezTo>
                    <a:pt x="440" y="237"/>
                    <a:pt x="438" y="238"/>
                    <a:pt x="436" y="240"/>
                  </a:cubicBezTo>
                  <a:cubicBezTo>
                    <a:pt x="422" y="247"/>
                    <a:pt x="411" y="266"/>
                    <a:pt x="411" y="282"/>
                  </a:cubicBezTo>
                  <a:cubicBezTo>
                    <a:pt x="411" y="285"/>
                    <a:pt x="412" y="287"/>
                    <a:pt x="412" y="290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2" y="52"/>
                    <a:pt x="0" y="47"/>
                    <a:pt x="0" y="41"/>
                  </a:cubicBezTo>
                  <a:cubicBezTo>
                    <a:pt x="0" y="27"/>
                    <a:pt x="9" y="10"/>
                    <a:pt x="21" y="3"/>
                  </a:cubicBezTo>
                  <a:cubicBezTo>
                    <a:pt x="26" y="0"/>
                    <a:pt x="30" y="0"/>
                    <a:pt x="34" y="0"/>
                  </a:cubicBezTo>
                  <a:cubicBezTo>
                    <a:pt x="39" y="3"/>
                    <a:pt x="39" y="3"/>
                    <a:pt x="39" y="3"/>
                  </a:cubicBezTo>
                  <a:lnTo>
                    <a:pt x="443" y="237"/>
                  </a:lnTo>
                  <a:close/>
                </a:path>
              </a:pathLst>
            </a:custGeom>
            <a:solidFill>
              <a:srgbClr val="516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Freeform 150">
              <a:extLst>
                <a:ext uri="{FF2B5EF4-FFF2-40B4-BE49-F238E27FC236}">
                  <a16:creationId xmlns:a16="http://schemas.microsoft.com/office/drawing/2014/main" xmlns="" id="{159E4B62-CB8A-4034-A663-9B67A42B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8051" y="7629525"/>
              <a:ext cx="482600" cy="384175"/>
            </a:xfrm>
            <a:custGeom>
              <a:avLst/>
              <a:gdLst>
                <a:gd name="T0" fmla="*/ 175 w 175"/>
                <a:gd name="T1" fmla="*/ 79 h 139"/>
                <a:gd name="T2" fmla="*/ 159 w 175"/>
                <a:gd name="T3" fmla="*/ 81 h 139"/>
                <a:gd name="T4" fmla="*/ 135 w 175"/>
                <a:gd name="T5" fmla="*/ 123 h 139"/>
                <a:gd name="T6" fmla="*/ 142 w 175"/>
                <a:gd name="T7" fmla="*/ 139 h 139"/>
                <a:gd name="T8" fmla="*/ 7 w 175"/>
                <a:gd name="T9" fmla="*/ 61 h 139"/>
                <a:gd name="T10" fmla="*/ 1 w 175"/>
                <a:gd name="T11" fmla="*/ 54 h 139"/>
                <a:gd name="T12" fmla="*/ 0 w 175"/>
                <a:gd name="T13" fmla="*/ 46 h 139"/>
                <a:gd name="T14" fmla="*/ 25 w 175"/>
                <a:gd name="T15" fmla="*/ 4 h 139"/>
                <a:gd name="T16" fmla="*/ 32 w 175"/>
                <a:gd name="T17" fmla="*/ 1 h 139"/>
                <a:gd name="T18" fmla="*/ 32 w 175"/>
                <a:gd name="T19" fmla="*/ 1 h 139"/>
                <a:gd name="T20" fmla="*/ 41 w 175"/>
                <a:gd name="T21" fmla="*/ 1 h 139"/>
                <a:gd name="T22" fmla="*/ 43 w 175"/>
                <a:gd name="T23" fmla="*/ 3 h 139"/>
                <a:gd name="T24" fmla="*/ 175 w 175"/>
                <a:gd name="T25" fmla="*/ 7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139">
                  <a:moveTo>
                    <a:pt x="175" y="79"/>
                  </a:moveTo>
                  <a:cubicBezTo>
                    <a:pt x="171" y="77"/>
                    <a:pt x="165" y="78"/>
                    <a:pt x="159" y="81"/>
                  </a:cubicBezTo>
                  <a:cubicBezTo>
                    <a:pt x="146" y="89"/>
                    <a:pt x="135" y="108"/>
                    <a:pt x="135" y="123"/>
                  </a:cubicBezTo>
                  <a:cubicBezTo>
                    <a:pt x="135" y="131"/>
                    <a:pt x="138" y="136"/>
                    <a:pt x="142" y="139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0"/>
                    <a:pt x="3" y="57"/>
                    <a:pt x="1" y="54"/>
                  </a:cubicBezTo>
                  <a:cubicBezTo>
                    <a:pt x="1" y="51"/>
                    <a:pt x="0" y="49"/>
                    <a:pt x="0" y="46"/>
                  </a:cubicBezTo>
                  <a:cubicBezTo>
                    <a:pt x="0" y="30"/>
                    <a:pt x="11" y="11"/>
                    <a:pt x="25" y="4"/>
                  </a:cubicBezTo>
                  <a:cubicBezTo>
                    <a:pt x="27" y="2"/>
                    <a:pt x="29" y="1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5" y="0"/>
                    <a:pt x="38" y="0"/>
                    <a:pt x="41" y="1"/>
                  </a:cubicBezTo>
                  <a:cubicBezTo>
                    <a:pt x="43" y="3"/>
                    <a:pt x="43" y="3"/>
                    <a:pt x="43" y="3"/>
                  </a:cubicBezTo>
                  <a:lnTo>
                    <a:pt x="175" y="79"/>
                  </a:lnTo>
                  <a:close/>
                </a:path>
              </a:pathLst>
            </a:custGeom>
            <a:solidFill>
              <a:srgbClr val="7B97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0" name="Freeform 151">
              <a:extLst>
                <a:ext uri="{FF2B5EF4-FFF2-40B4-BE49-F238E27FC236}">
                  <a16:creationId xmlns:a16="http://schemas.microsoft.com/office/drawing/2014/main" xmlns="" id="{2A4259E3-63C6-4083-B410-8623D80E0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1663" y="7412038"/>
              <a:ext cx="785813" cy="466725"/>
            </a:xfrm>
            <a:custGeom>
              <a:avLst/>
              <a:gdLst>
                <a:gd name="T0" fmla="*/ 279 w 285"/>
                <a:gd name="T1" fmla="*/ 147 h 169"/>
                <a:gd name="T2" fmla="*/ 248 w 285"/>
                <a:gd name="T3" fmla="*/ 165 h 169"/>
                <a:gd name="T4" fmla="*/ 225 w 285"/>
                <a:gd name="T5" fmla="*/ 165 h 169"/>
                <a:gd name="T6" fmla="*/ 7 w 285"/>
                <a:gd name="T7" fmla="*/ 39 h 169"/>
                <a:gd name="T8" fmla="*/ 7 w 285"/>
                <a:gd name="T9" fmla="*/ 22 h 169"/>
                <a:gd name="T10" fmla="*/ 37 w 285"/>
                <a:gd name="T11" fmla="*/ 4 h 169"/>
                <a:gd name="T12" fmla="*/ 59 w 285"/>
                <a:gd name="T13" fmla="*/ 4 h 169"/>
                <a:gd name="T14" fmla="*/ 279 w 285"/>
                <a:gd name="T15" fmla="*/ 131 h 169"/>
                <a:gd name="T16" fmla="*/ 279 w 285"/>
                <a:gd name="T17" fmla="*/ 14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69">
                  <a:moveTo>
                    <a:pt x="279" y="147"/>
                  </a:moveTo>
                  <a:cubicBezTo>
                    <a:pt x="248" y="165"/>
                    <a:pt x="248" y="165"/>
                    <a:pt x="248" y="165"/>
                  </a:cubicBezTo>
                  <a:cubicBezTo>
                    <a:pt x="241" y="169"/>
                    <a:pt x="232" y="169"/>
                    <a:pt x="225" y="165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5"/>
                    <a:pt x="0" y="25"/>
                    <a:pt x="7" y="22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44" y="0"/>
                    <a:pt x="52" y="0"/>
                    <a:pt x="59" y="4"/>
                  </a:cubicBezTo>
                  <a:cubicBezTo>
                    <a:pt x="279" y="131"/>
                    <a:pt x="279" y="131"/>
                    <a:pt x="279" y="131"/>
                  </a:cubicBezTo>
                  <a:cubicBezTo>
                    <a:pt x="285" y="134"/>
                    <a:pt x="285" y="144"/>
                    <a:pt x="279" y="147"/>
                  </a:cubicBezTo>
                  <a:close/>
                </a:path>
              </a:pathLst>
            </a:custGeom>
            <a:solidFill>
              <a:srgbClr val="5165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Freeform 152">
              <a:extLst>
                <a:ext uri="{FF2B5EF4-FFF2-40B4-BE49-F238E27FC236}">
                  <a16:creationId xmlns:a16="http://schemas.microsoft.com/office/drawing/2014/main" xmlns="" id="{981CF8F9-52D2-4128-A806-BE37A5890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1663" y="7397750"/>
              <a:ext cx="785813" cy="466725"/>
            </a:xfrm>
            <a:custGeom>
              <a:avLst/>
              <a:gdLst>
                <a:gd name="T0" fmla="*/ 279 w 285"/>
                <a:gd name="T1" fmla="*/ 147 h 169"/>
                <a:gd name="T2" fmla="*/ 248 w 285"/>
                <a:gd name="T3" fmla="*/ 165 h 169"/>
                <a:gd name="T4" fmla="*/ 225 w 285"/>
                <a:gd name="T5" fmla="*/ 165 h 169"/>
                <a:gd name="T6" fmla="*/ 7 w 285"/>
                <a:gd name="T7" fmla="*/ 38 h 169"/>
                <a:gd name="T8" fmla="*/ 7 w 285"/>
                <a:gd name="T9" fmla="*/ 21 h 169"/>
                <a:gd name="T10" fmla="*/ 37 w 285"/>
                <a:gd name="T11" fmla="*/ 4 h 169"/>
                <a:gd name="T12" fmla="*/ 59 w 285"/>
                <a:gd name="T13" fmla="*/ 4 h 169"/>
                <a:gd name="T14" fmla="*/ 279 w 285"/>
                <a:gd name="T15" fmla="*/ 131 h 169"/>
                <a:gd name="T16" fmla="*/ 279 w 285"/>
                <a:gd name="T17" fmla="*/ 14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69">
                  <a:moveTo>
                    <a:pt x="279" y="147"/>
                  </a:moveTo>
                  <a:cubicBezTo>
                    <a:pt x="248" y="165"/>
                    <a:pt x="248" y="165"/>
                    <a:pt x="248" y="165"/>
                  </a:cubicBezTo>
                  <a:cubicBezTo>
                    <a:pt x="241" y="169"/>
                    <a:pt x="232" y="169"/>
                    <a:pt x="225" y="165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0" y="35"/>
                    <a:pt x="0" y="25"/>
                    <a:pt x="7" y="21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44" y="0"/>
                    <a:pt x="52" y="0"/>
                    <a:pt x="59" y="4"/>
                  </a:cubicBezTo>
                  <a:cubicBezTo>
                    <a:pt x="279" y="131"/>
                    <a:pt x="279" y="131"/>
                    <a:pt x="279" y="131"/>
                  </a:cubicBezTo>
                  <a:cubicBezTo>
                    <a:pt x="285" y="134"/>
                    <a:pt x="285" y="143"/>
                    <a:pt x="279" y="147"/>
                  </a:cubicBezTo>
                  <a:close/>
                </a:path>
              </a:pathLst>
            </a:custGeom>
            <a:solidFill>
              <a:srgbClr val="7B97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pic>
        <p:nvPicPr>
          <p:cNvPr id="258" name="그림 25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866" y="5698802"/>
            <a:ext cx="1873716" cy="1053966"/>
          </a:xfrm>
          <a:prstGeom prst="rect">
            <a:avLst/>
          </a:prstGeom>
        </p:spPr>
      </p:pic>
      <p:pic>
        <p:nvPicPr>
          <p:cNvPr id="259" name="그림 258"/>
          <p:cNvPicPr>
            <a:picLocks noChangeAspect="1"/>
          </p:cNvPicPr>
          <p:nvPr/>
        </p:nvPicPr>
        <p:blipFill rotWithShape="1">
          <a:blip r:embed="rId4"/>
          <a:srcRect r="53440"/>
          <a:stretch/>
        </p:blipFill>
        <p:spPr>
          <a:xfrm>
            <a:off x="5329888" y="5689599"/>
            <a:ext cx="1376978" cy="1063169"/>
          </a:xfrm>
          <a:prstGeom prst="rect">
            <a:avLst/>
          </a:prstGeom>
        </p:spPr>
      </p:pic>
      <p:sp>
        <p:nvSpPr>
          <p:cNvPr id="260" name="직사각형 259"/>
          <p:cNvSpPr/>
          <p:nvPr/>
        </p:nvSpPr>
        <p:spPr>
          <a:xfrm>
            <a:off x="-56373" y="-48732"/>
            <a:ext cx="12304746" cy="686045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8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xmlns="" id="{EF6AC613-B66E-46B6-A4CF-976FF0F0A6D7}"/>
              </a:ext>
            </a:extLst>
          </p:cNvPr>
          <p:cNvSpPr txBox="1"/>
          <p:nvPr/>
        </p:nvSpPr>
        <p:spPr>
          <a:xfrm>
            <a:off x="906934" y="1102299"/>
            <a:ext cx="10222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smtClean="0">
                <a:cs typeface="Arial" panose="020B0604020202020204" pitchFamily="34" charset="0"/>
              </a:rPr>
              <a:t>수륙양용 입무통제 </a:t>
            </a:r>
            <a:r>
              <a:rPr lang="en-US" altLang="ko-KR" sz="5400" b="1" smtClean="0">
                <a:cs typeface="Arial" panose="020B0604020202020204" pitchFamily="34" charset="0"/>
              </a:rPr>
              <a:t>SW </a:t>
            </a:r>
            <a:r>
              <a:rPr lang="ko-KR" altLang="en-US" sz="5400" b="1" smtClean="0">
                <a:cs typeface="Arial" panose="020B0604020202020204" pitchFamily="34" charset="0"/>
              </a:rPr>
              <a:t>메뉴얼</a:t>
            </a:r>
            <a:endParaRPr lang="en-US" altLang="ko-KR" sz="5400" b="1" smtClean="0">
              <a:cs typeface="Arial" panose="020B0604020202020204" pitchFamily="34" charset="0"/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5329888" y="5630642"/>
            <a:ext cx="3250694" cy="1181083"/>
          </a:xfrm>
          <a:prstGeom prst="rect">
            <a:avLst/>
          </a:prstGeom>
          <a:solidFill>
            <a:schemeClr val="tx1">
              <a:lumMod val="50000"/>
              <a:lumOff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4" name="직선 연결선 263"/>
          <p:cNvCxnSpPr/>
          <p:nvPr/>
        </p:nvCxnSpPr>
        <p:spPr>
          <a:xfrm flipV="1">
            <a:off x="823938" y="2093789"/>
            <a:ext cx="10221777" cy="2770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7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mph" presetSubtype="0" accel="52000" decel="48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350" fill="hold"/>
                                        <p:tgtEl>
                                          <p:spTgt spid="26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/>
      <p:bldP spid="26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모서리가 둥근 직사각형 38"/>
          <p:cNvSpPr/>
          <p:nvPr/>
        </p:nvSpPr>
        <p:spPr>
          <a:xfrm>
            <a:off x="6108357" y="1057209"/>
            <a:ext cx="4722270" cy="264103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17967" y="2752371"/>
            <a:ext cx="9957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600" b="1" smtClean="0">
                <a:solidFill>
                  <a:schemeClr val="accent1">
                    <a:lumMod val="50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목차</a:t>
            </a:r>
            <a:endParaRPr lang="ko-KR" altLang="en-US" sz="3600">
              <a:solidFill>
                <a:schemeClr val="accent1">
                  <a:lumMod val="50000"/>
                </a:schemeClr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6138942" y="1480392"/>
            <a:ext cx="1133584" cy="1520651"/>
            <a:chOff x="5469822" y="1255494"/>
            <a:chExt cx="1396376" cy="1884407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9822" y="1255494"/>
              <a:ext cx="1396376" cy="1884407"/>
            </a:xfrm>
            <a:prstGeom prst="rect">
              <a:avLst/>
            </a:prstGeom>
          </p:spPr>
        </p:pic>
        <p:sp>
          <p:nvSpPr>
            <p:cNvPr id="50" name="직사각형 85"/>
            <p:cNvSpPr/>
            <p:nvPr/>
          </p:nvSpPr>
          <p:spPr>
            <a:xfrm>
              <a:off x="5963698" y="1316439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86"/>
            <p:cNvSpPr/>
            <p:nvPr/>
          </p:nvSpPr>
          <p:spPr>
            <a:xfrm>
              <a:off x="5952398" y="1717577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809333" y="1431212"/>
            <a:ext cx="1133584" cy="1520651"/>
            <a:chOff x="7460547" y="1276490"/>
            <a:chExt cx="1396376" cy="1884407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44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9531633" y="1431212"/>
            <a:ext cx="1133584" cy="1520651"/>
            <a:chOff x="7460547" y="1276490"/>
            <a:chExt cx="1396376" cy="1884407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41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7A06AC0F-BB4C-999C-73AD-E0A9196B85E3}"/>
              </a:ext>
            </a:extLst>
          </p:cNvPr>
          <p:cNvSpPr txBox="1"/>
          <p:nvPr/>
        </p:nvSpPr>
        <p:spPr>
          <a:xfrm>
            <a:off x="6225038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#1</a:t>
            </a:r>
            <a:endParaRPr lang="ko-KR" altLang="en-US" sz="105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6308AD5-63CB-F7F2-17F2-D97CFACBFE4D}"/>
              </a:ext>
            </a:extLst>
          </p:cNvPr>
          <p:cNvSpPr txBox="1"/>
          <p:nvPr/>
        </p:nvSpPr>
        <p:spPr>
          <a:xfrm>
            <a:off x="7943286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#2</a:t>
            </a:r>
            <a:endParaRPr lang="ko-KR" altLang="en-US" sz="105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2012772-4F03-8846-F7C1-08412DA8D2C3}"/>
              </a:ext>
            </a:extLst>
          </p:cNvPr>
          <p:cNvSpPr txBox="1"/>
          <p:nvPr/>
        </p:nvSpPr>
        <p:spPr>
          <a:xfrm>
            <a:off x="9635972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#3</a:t>
            </a:r>
            <a:endParaRPr lang="ko-KR" altLang="en-US" sz="1050" b="1" dirty="0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0" y="3588714"/>
            <a:ext cx="12192000" cy="33039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2980B9"/>
              </a:gs>
              <a:gs pos="100000">
                <a:srgbClr val="2C3E50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0" y="3410403"/>
            <a:ext cx="12192000" cy="3412761"/>
          </a:xfrm>
          <a:prstGeom prst="roundRect">
            <a:avLst>
              <a:gd name="adj" fmla="val 4528"/>
            </a:avLst>
          </a:prstGeom>
          <a:gradFill>
            <a:gsLst>
              <a:gs pos="0">
                <a:srgbClr val="2980B9"/>
              </a:gs>
              <a:gs pos="100000">
                <a:srgbClr val="2C3E50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D6014D9C-5A41-B4F1-5A93-C78F561415DD}"/>
              </a:ext>
            </a:extLst>
          </p:cNvPr>
          <p:cNvSpPr txBox="1"/>
          <p:nvPr/>
        </p:nvSpPr>
        <p:spPr>
          <a:xfrm>
            <a:off x="1440502" y="3818660"/>
            <a:ext cx="1555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제어프로그램</a:t>
            </a:r>
            <a:endParaRPr lang="ko-KR" altLang="en-US" sz="2000" spc="-5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5" name="사각형: 둥근 모서리 49">
            <a:extLst>
              <a:ext uri="{FF2B5EF4-FFF2-40B4-BE49-F238E27FC236}">
                <a16:creationId xmlns:a16="http://schemas.microsoft.com/office/drawing/2014/main" xmlns="" id="{D436DA8B-4253-0E1E-7421-7FB7A921A1FB}"/>
              </a:ext>
            </a:extLst>
          </p:cNvPr>
          <p:cNvSpPr/>
          <p:nvPr/>
        </p:nvSpPr>
        <p:spPr>
          <a:xfrm>
            <a:off x="945318" y="3841377"/>
            <a:ext cx="468000" cy="340519"/>
          </a:xfrm>
          <a:prstGeom prst="roundRect">
            <a:avLst/>
          </a:prstGeom>
          <a:solidFill>
            <a:srgbClr val="119F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altLang="ko-KR" sz="1400" smtClean="0">
                <a:solidFill>
                  <a:srgbClr val="F8F8F8"/>
                </a:solidFill>
                <a:latin typeface="페이퍼로지 8 ExtraBold" pitchFamily="2" charset="-127"/>
                <a:ea typeface="페이퍼로지 8 ExtraBold" pitchFamily="2" charset="-127"/>
              </a:rPr>
              <a:t>0</a:t>
            </a:r>
            <a:endParaRPr lang="ko-KR" altLang="en-US" sz="1400" dirty="0">
              <a:solidFill>
                <a:srgbClr val="F8F8F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B103E8B2-6AC1-0854-18F7-376F12379DC0}"/>
              </a:ext>
            </a:extLst>
          </p:cNvPr>
          <p:cNvSpPr txBox="1"/>
          <p:nvPr/>
        </p:nvSpPr>
        <p:spPr>
          <a:xfrm>
            <a:off x="1057696" y="4412356"/>
            <a:ext cx="206691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ko-KR" altLang="en-US" sz="1600" spc="-50" smtClean="0">
                <a:solidFill>
                  <a:schemeClr val="bg1">
                    <a:lumMod val="95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운용통제 제어 기능</a:t>
            </a:r>
            <a:endParaRPr lang="en-US" altLang="ko-KR" sz="1600" spc="-50" smtClean="0">
              <a:solidFill>
                <a:schemeClr val="bg1">
                  <a:lumMod val="95000"/>
                </a:schemeClr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ko-KR" altLang="en-US" sz="1600" spc="-50" smtClean="0">
                <a:solidFill>
                  <a:schemeClr val="bg1">
                    <a:lumMod val="95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임무통제 제어 기능</a:t>
            </a:r>
            <a:endParaRPr lang="en-US" altLang="ko-KR" sz="1600" spc="-50" smtClean="0">
              <a:solidFill>
                <a:schemeClr val="bg1">
                  <a:lumMod val="95000"/>
                </a:schemeClr>
              </a:solidFill>
              <a:latin typeface="페이퍼로지 8 ExtraBold" pitchFamily="2" charset="-127"/>
              <a:ea typeface="페이퍼로지 8 ExtraBold" pitchFamily="2" charset="-127"/>
            </a:endParaRP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endParaRPr lang="ko-KR" altLang="en-US" sz="1600" spc="-50" dirty="0">
              <a:solidFill>
                <a:schemeClr val="bg1">
                  <a:lumMod val="95000"/>
                </a:schemeClr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D6014D9C-5A41-B4F1-5A93-C78F561415DD}"/>
              </a:ext>
            </a:extLst>
          </p:cNvPr>
          <p:cNvSpPr txBox="1"/>
          <p:nvPr/>
        </p:nvSpPr>
        <p:spPr>
          <a:xfrm>
            <a:off x="4156853" y="3818660"/>
            <a:ext cx="21368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소프트웨 통함 </a:t>
            </a:r>
            <a:r>
              <a:rPr lang="en-US" altLang="ko-KR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ICD</a:t>
            </a:r>
            <a:endParaRPr lang="ko-KR" altLang="en-US" sz="2000" spc="-5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8" name="사각형: 둥근 모서리 49">
            <a:extLst>
              <a:ext uri="{FF2B5EF4-FFF2-40B4-BE49-F238E27FC236}">
                <a16:creationId xmlns:a16="http://schemas.microsoft.com/office/drawing/2014/main" xmlns="" id="{D436DA8B-4253-0E1E-7421-7FB7A921A1FB}"/>
              </a:ext>
            </a:extLst>
          </p:cNvPr>
          <p:cNvSpPr/>
          <p:nvPr/>
        </p:nvSpPr>
        <p:spPr>
          <a:xfrm>
            <a:off x="3661670" y="3841377"/>
            <a:ext cx="468000" cy="340519"/>
          </a:xfrm>
          <a:prstGeom prst="roundRect">
            <a:avLst/>
          </a:prstGeom>
          <a:solidFill>
            <a:srgbClr val="119F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altLang="ko-KR" sz="1400" smtClean="0">
                <a:solidFill>
                  <a:srgbClr val="F8F8F8"/>
                </a:solidFill>
                <a:latin typeface="페이퍼로지 8 ExtraBold" pitchFamily="2" charset="-127"/>
                <a:ea typeface="페이퍼로지 8 ExtraBold" pitchFamily="2" charset="-127"/>
              </a:rPr>
              <a:t>1</a:t>
            </a:r>
            <a:endParaRPr lang="ko-KR" altLang="en-US" sz="1400" dirty="0">
              <a:solidFill>
                <a:srgbClr val="F8F8F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D6014D9C-5A41-B4F1-5A93-C78F561415DD}"/>
              </a:ext>
            </a:extLst>
          </p:cNvPr>
          <p:cNvSpPr txBox="1"/>
          <p:nvPr/>
        </p:nvSpPr>
        <p:spPr>
          <a:xfrm>
            <a:off x="7019142" y="3818660"/>
            <a:ext cx="172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SW </a:t>
            </a:r>
            <a:r>
              <a:rPr lang="ko-KR" altLang="en-US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제작 현황</a:t>
            </a:r>
            <a:endParaRPr lang="ko-KR" altLang="en-US" sz="2000" spc="-5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0" name="사각형: 둥근 모서리 49">
            <a:extLst>
              <a:ext uri="{FF2B5EF4-FFF2-40B4-BE49-F238E27FC236}">
                <a16:creationId xmlns:a16="http://schemas.microsoft.com/office/drawing/2014/main" xmlns="" id="{D436DA8B-4253-0E1E-7421-7FB7A921A1FB}"/>
              </a:ext>
            </a:extLst>
          </p:cNvPr>
          <p:cNvSpPr/>
          <p:nvPr/>
        </p:nvSpPr>
        <p:spPr>
          <a:xfrm>
            <a:off x="6523958" y="3841377"/>
            <a:ext cx="468000" cy="340519"/>
          </a:xfrm>
          <a:prstGeom prst="roundRect">
            <a:avLst/>
          </a:prstGeom>
          <a:solidFill>
            <a:srgbClr val="119F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altLang="ko-KR" sz="1400" smtClean="0">
                <a:solidFill>
                  <a:srgbClr val="F8F8F8"/>
                </a:solidFill>
                <a:latin typeface="페이퍼로지 8 ExtraBold" pitchFamily="2" charset="-127"/>
                <a:ea typeface="페이퍼로지 8 ExtraBold" pitchFamily="2" charset="-127"/>
              </a:rPr>
              <a:t>2</a:t>
            </a:r>
            <a:endParaRPr lang="ko-KR" altLang="en-US" sz="1400" dirty="0">
              <a:solidFill>
                <a:srgbClr val="F8F8F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D6014D9C-5A41-B4F1-5A93-C78F561415DD}"/>
              </a:ext>
            </a:extLst>
          </p:cNvPr>
          <p:cNvSpPr txBox="1"/>
          <p:nvPr/>
        </p:nvSpPr>
        <p:spPr>
          <a:xfrm>
            <a:off x="9831932" y="3818660"/>
            <a:ext cx="1764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제작 세부 현황</a:t>
            </a:r>
            <a:endParaRPr lang="ko-KR" altLang="en-US" sz="2000" spc="-5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2" name="사각형: 둥근 모서리 49">
            <a:extLst>
              <a:ext uri="{FF2B5EF4-FFF2-40B4-BE49-F238E27FC236}">
                <a16:creationId xmlns:a16="http://schemas.microsoft.com/office/drawing/2014/main" xmlns="" id="{D436DA8B-4253-0E1E-7421-7FB7A921A1FB}"/>
              </a:ext>
            </a:extLst>
          </p:cNvPr>
          <p:cNvSpPr/>
          <p:nvPr/>
        </p:nvSpPr>
        <p:spPr>
          <a:xfrm>
            <a:off x="9336748" y="3841377"/>
            <a:ext cx="468000" cy="340519"/>
          </a:xfrm>
          <a:prstGeom prst="roundRect">
            <a:avLst/>
          </a:prstGeom>
          <a:solidFill>
            <a:srgbClr val="119F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altLang="ko-KR" sz="1400" smtClean="0">
                <a:solidFill>
                  <a:srgbClr val="F8F8F8"/>
                </a:solidFill>
                <a:latin typeface="페이퍼로지 8 ExtraBold" pitchFamily="2" charset="-127"/>
                <a:ea typeface="페이퍼로지 8 ExtraBold" pitchFamily="2" charset="-127"/>
              </a:rPr>
              <a:t>3</a:t>
            </a:r>
            <a:endParaRPr lang="ko-KR" altLang="en-US" sz="1400" dirty="0">
              <a:solidFill>
                <a:srgbClr val="F8F8F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D6014D9C-5A41-B4F1-5A93-C78F561415DD}"/>
              </a:ext>
            </a:extLst>
          </p:cNvPr>
          <p:cNvSpPr txBox="1"/>
          <p:nvPr/>
        </p:nvSpPr>
        <p:spPr>
          <a:xfrm>
            <a:off x="4129670" y="5102420"/>
            <a:ext cx="2394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시뮬레이터 원격 제어</a:t>
            </a:r>
            <a:endParaRPr lang="ko-KR" altLang="en-US" sz="2000" spc="-5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4" name="사각형: 둥근 모서리 49">
            <a:extLst>
              <a:ext uri="{FF2B5EF4-FFF2-40B4-BE49-F238E27FC236}">
                <a16:creationId xmlns:a16="http://schemas.microsoft.com/office/drawing/2014/main" xmlns="" id="{D436DA8B-4253-0E1E-7421-7FB7A921A1FB}"/>
              </a:ext>
            </a:extLst>
          </p:cNvPr>
          <p:cNvSpPr/>
          <p:nvPr/>
        </p:nvSpPr>
        <p:spPr>
          <a:xfrm>
            <a:off x="3634486" y="5125137"/>
            <a:ext cx="468000" cy="340519"/>
          </a:xfrm>
          <a:prstGeom prst="roundRect">
            <a:avLst/>
          </a:prstGeom>
          <a:solidFill>
            <a:srgbClr val="119F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altLang="ko-KR" sz="1400" smtClean="0">
                <a:solidFill>
                  <a:srgbClr val="F8F8F8"/>
                </a:solidFill>
                <a:latin typeface="페이퍼로지 8 ExtraBold" pitchFamily="2" charset="-127"/>
                <a:ea typeface="페이퍼로지 8 ExtraBold" pitchFamily="2" charset="-127"/>
              </a:rPr>
              <a:t>4</a:t>
            </a:r>
            <a:endParaRPr lang="ko-KR" altLang="en-US" sz="1400" dirty="0">
              <a:solidFill>
                <a:srgbClr val="F8F8F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D6014D9C-5A41-B4F1-5A93-C78F561415DD}"/>
              </a:ext>
            </a:extLst>
          </p:cNvPr>
          <p:cNvSpPr txBox="1"/>
          <p:nvPr/>
        </p:nvSpPr>
        <p:spPr>
          <a:xfrm>
            <a:off x="7019142" y="5081676"/>
            <a:ext cx="2171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SW </a:t>
            </a:r>
            <a:r>
              <a:rPr lang="ko-KR" altLang="en-US" sz="2000" spc="-50" smtClean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설정파일 관리</a:t>
            </a:r>
            <a:endParaRPr lang="ko-KR" altLang="en-US" sz="2000" spc="-5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66" name="사각형: 둥근 모서리 49">
            <a:extLst>
              <a:ext uri="{FF2B5EF4-FFF2-40B4-BE49-F238E27FC236}">
                <a16:creationId xmlns:a16="http://schemas.microsoft.com/office/drawing/2014/main" xmlns="" id="{D436DA8B-4253-0E1E-7421-7FB7A921A1FB}"/>
              </a:ext>
            </a:extLst>
          </p:cNvPr>
          <p:cNvSpPr/>
          <p:nvPr/>
        </p:nvSpPr>
        <p:spPr>
          <a:xfrm>
            <a:off x="6523958" y="5104393"/>
            <a:ext cx="468000" cy="340519"/>
          </a:xfrm>
          <a:prstGeom prst="roundRect">
            <a:avLst/>
          </a:prstGeom>
          <a:solidFill>
            <a:srgbClr val="119F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buNone/>
            </a:pPr>
            <a:r>
              <a:rPr lang="en-US" altLang="ko-KR" sz="1400" smtClean="0">
                <a:solidFill>
                  <a:srgbClr val="F8F8F8"/>
                </a:solidFill>
                <a:latin typeface="페이퍼로지 8 ExtraBold" pitchFamily="2" charset="-127"/>
                <a:ea typeface="페이퍼로지 8 ExtraBold" pitchFamily="2" charset="-127"/>
              </a:rPr>
              <a:t>04</a:t>
            </a:r>
            <a:endParaRPr lang="ko-KR" altLang="en-US" sz="1400" dirty="0">
              <a:solidFill>
                <a:srgbClr val="F8F8F8"/>
              </a:solidFill>
              <a:latin typeface="페이퍼로지 8 ExtraBold" pitchFamily="2" charset="-127"/>
              <a:ea typeface="페이퍼로지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724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그룹 61"/>
          <p:cNvGrpSpPr/>
          <p:nvPr/>
        </p:nvGrpSpPr>
        <p:grpSpPr>
          <a:xfrm>
            <a:off x="846164" y="1197754"/>
            <a:ext cx="3946975" cy="2553809"/>
            <a:chOff x="846164" y="1197754"/>
            <a:chExt cx="3946975" cy="2553809"/>
          </a:xfrm>
        </p:grpSpPr>
        <p:grpSp>
          <p:nvGrpSpPr>
            <p:cNvPr id="60" name="그룹 59"/>
            <p:cNvGrpSpPr/>
            <p:nvPr/>
          </p:nvGrpSpPr>
          <p:grpSpPr>
            <a:xfrm>
              <a:off x="908447" y="1566423"/>
              <a:ext cx="3884692" cy="2185140"/>
              <a:chOff x="908447" y="1566423"/>
              <a:chExt cx="3884692" cy="2185140"/>
            </a:xfrm>
          </p:grpSpPr>
          <p:pic>
            <p:nvPicPr>
              <p:cNvPr id="32" name="그림 3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8447" y="1566423"/>
                <a:ext cx="3884692" cy="2185140"/>
              </a:xfrm>
              <a:prstGeom prst="rect">
                <a:avLst/>
              </a:prstGeom>
            </p:spPr>
          </p:pic>
          <p:pic>
            <p:nvPicPr>
              <p:cNvPr id="33" name="그림 3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0453" y="1699938"/>
                <a:ext cx="2742685" cy="1321177"/>
              </a:xfrm>
              <a:prstGeom prst="rect">
                <a:avLst/>
              </a:prstGeom>
              <a:ln w="38100">
                <a:noFill/>
              </a:ln>
            </p:spPr>
          </p:pic>
          <p:sp>
            <p:nvSpPr>
              <p:cNvPr id="34" name="직사각형 33"/>
              <p:cNvSpPr/>
              <p:nvPr/>
            </p:nvSpPr>
            <p:spPr>
              <a:xfrm>
                <a:off x="2248271" y="2396530"/>
                <a:ext cx="790575" cy="2269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3232274" y="2396530"/>
                <a:ext cx="520947" cy="226987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3820990" y="2396530"/>
                <a:ext cx="520947" cy="226987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846164" y="1197754"/>
              <a:ext cx="3235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smtClean="0"/>
                <a:t>운용통제 제어 </a:t>
              </a:r>
              <a:r>
                <a:rPr lang="en-US" altLang="ko-KR" sz="1400" b="1" smtClean="0"/>
                <a:t>SW</a:t>
              </a:r>
              <a:endParaRPr lang="ko-KR" altLang="en-US" sz="1400" b="1"/>
            </a:p>
          </p:txBody>
        </p: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임무통제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SW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구분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1" name="오른쪽 화살표 40"/>
          <p:cNvSpPr/>
          <p:nvPr/>
        </p:nvSpPr>
        <p:spPr>
          <a:xfrm>
            <a:off x="5162550" y="2170301"/>
            <a:ext cx="600075" cy="679443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오른쪽 화살표 44"/>
          <p:cNvSpPr/>
          <p:nvPr/>
        </p:nvSpPr>
        <p:spPr>
          <a:xfrm>
            <a:off x="5162016" y="4975922"/>
            <a:ext cx="600075" cy="679443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/>
          <p:cNvGrpSpPr/>
          <p:nvPr/>
        </p:nvGrpSpPr>
        <p:grpSpPr>
          <a:xfrm>
            <a:off x="5762625" y="1057209"/>
            <a:ext cx="5193706" cy="5705541"/>
            <a:chOff x="5762625" y="1057209"/>
            <a:chExt cx="5193706" cy="5705541"/>
          </a:xfrm>
        </p:grpSpPr>
        <p:sp>
          <p:nvSpPr>
            <p:cNvPr id="49" name="모서리가 둥근 직사각형 48"/>
            <p:cNvSpPr/>
            <p:nvPr/>
          </p:nvSpPr>
          <p:spPr>
            <a:xfrm>
              <a:off x="6138943" y="4121714"/>
              <a:ext cx="4722270" cy="2641036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6138942" y="1480392"/>
              <a:ext cx="1133584" cy="1520651"/>
              <a:chOff x="5469822" y="1255494"/>
              <a:chExt cx="1396376" cy="1884407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xmlns="" id="{0814747E-E9BA-A10B-0FC1-53DA5388F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9822" y="1255494"/>
                <a:ext cx="1396376" cy="1884407"/>
              </a:xfrm>
              <a:prstGeom prst="rect">
                <a:avLst/>
              </a:prstGeom>
            </p:spPr>
          </p:pic>
          <p:sp>
            <p:nvSpPr>
              <p:cNvPr id="6" name="직사각형 85"/>
              <p:cNvSpPr/>
              <p:nvPr/>
            </p:nvSpPr>
            <p:spPr>
              <a:xfrm>
                <a:off x="5963698" y="1316439"/>
                <a:ext cx="592277" cy="422239"/>
              </a:xfrm>
              <a:custGeom>
                <a:avLst/>
                <a:gdLst>
                  <a:gd name="connsiteX0" fmla="*/ 0 w 914400"/>
                  <a:gd name="connsiteY0" fmla="*/ 0 h 822707"/>
                  <a:gd name="connsiteX1" fmla="*/ 914400 w 914400"/>
                  <a:gd name="connsiteY1" fmla="*/ 0 h 822707"/>
                  <a:gd name="connsiteX2" fmla="*/ 914400 w 914400"/>
                  <a:gd name="connsiteY2" fmla="*/ 822707 h 822707"/>
                  <a:gd name="connsiteX3" fmla="*/ 0 w 914400"/>
                  <a:gd name="connsiteY3" fmla="*/ 822707 h 822707"/>
                  <a:gd name="connsiteX4" fmla="*/ 0 w 91440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8288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2573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57150 w 994410"/>
                  <a:gd name="connsiteY0" fmla="*/ 0 h 822707"/>
                  <a:gd name="connsiteX1" fmla="*/ 994410 w 994410"/>
                  <a:gd name="connsiteY1" fmla="*/ 125730 h 822707"/>
                  <a:gd name="connsiteX2" fmla="*/ 971550 w 994410"/>
                  <a:gd name="connsiteY2" fmla="*/ 822707 h 822707"/>
                  <a:gd name="connsiteX3" fmla="*/ 0 w 994410"/>
                  <a:gd name="connsiteY3" fmla="*/ 651257 h 822707"/>
                  <a:gd name="connsiteX4" fmla="*/ 57150 w 994410"/>
                  <a:gd name="connsiteY4" fmla="*/ 0 h 822707"/>
                  <a:gd name="connsiteX0" fmla="*/ 57150 w 994410"/>
                  <a:gd name="connsiteY0" fmla="*/ 0 h 799847"/>
                  <a:gd name="connsiteX1" fmla="*/ 994410 w 994410"/>
                  <a:gd name="connsiteY1" fmla="*/ 125730 h 799847"/>
                  <a:gd name="connsiteX2" fmla="*/ 857250 w 994410"/>
                  <a:gd name="connsiteY2" fmla="*/ 799847 h 799847"/>
                  <a:gd name="connsiteX3" fmla="*/ 0 w 994410"/>
                  <a:gd name="connsiteY3" fmla="*/ 651257 h 799847"/>
                  <a:gd name="connsiteX4" fmla="*/ 57150 w 994410"/>
                  <a:gd name="connsiteY4" fmla="*/ 0 h 799847"/>
                  <a:gd name="connsiteX0" fmla="*/ 57150 w 994410"/>
                  <a:gd name="connsiteY0" fmla="*/ 0 h 811277"/>
                  <a:gd name="connsiteX1" fmla="*/ 994410 w 994410"/>
                  <a:gd name="connsiteY1" fmla="*/ 125730 h 811277"/>
                  <a:gd name="connsiteX2" fmla="*/ 868680 w 994410"/>
                  <a:gd name="connsiteY2" fmla="*/ 811277 h 811277"/>
                  <a:gd name="connsiteX3" fmla="*/ 0 w 994410"/>
                  <a:gd name="connsiteY3" fmla="*/ 651257 h 811277"/>
                  <a:gd name="connsiteX4" fmla="*/ 57150 w 994410"/>
                  <a:gd name="connsiteY4" fmla="*/ 0 h 811277"/>
                  <a:gd name="connsiteX0" fmla="*/ 5715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51257 h 811277"/>
                  <a:gd name="connsiteX4" fmla="*/ 57150 w 982980"/>
                  <a:gd name="connsiteY4" fmla="*/ 0 h 811277"/>
                  <a:gd name="connsiteX0" fmla="*/ 0 w 925830"/>
                  <a:gd name="connsiteY0" fmla="*/ 0 h 811277"/>
                  <a:gd name="connsiteX1" fmla="*/ 925830 w 925830"/>
                  <a:gd name="connsiteY1" fmla="*/ 125730 h 811277"/>
                  <a:gd name="connsiteX2" fmla="*/ 811530 w 925830"/>
                  <a:gd name="connsiteY2" fmla="*/ 811277 h 811277"/>
                  <a:gd name="connsiteX3" fmla="*/ 68580 w 925830"/>
                  <a:gd name="connsiteY3" fmla="*/ 674117 h 811277"/>
                  <a:gd name="connsiteX4" fmla="*/ 0 w 925830"/>
                  <a:gd name="connsiteY4" fmla="*/ 0 h 811277"/>
                  <a:gd name="connsiteX0" fmla="*/ 0 w 914400"/>
                  <a:gd name="connsiteY0" fmla="*/ 0 h 811277"/>
                  <a:gd name="connsiteX1" fmla="*/ 914400 w 914400"/>
                  <a:gd name="connsiteY1" fmla="*/ 125730 h 811277"/>
                  <a:gd name="connsiteX2" fmla="*/ 800100 w 914400"/>
                  <a:gd name="connsiteY2" fmla="*/ 811277 h 811277"/>
                  <a:gd name="connsiteX3" fmla="*/ 57150 w 914400"/>
                  <a:gd name="connsiteY3" fmla="*/ 674117 h 811277"/>
                  <a:gd name="connsiteX4" fmla="*/ 0 w 914400"/>
                  <a:gd name="connsiteY4" fmla="*/ 0 h 811277"/>
                  <a:gd name="connsiteX0" fmla="*/ 6858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62687 h 811277"/>
                  <a:gd name="connsiteX4" fmla="*/ 68580 w 982980"/>
                  <a:gd name="connsiteY4" fmla="*/ 0 h 811277"/>
                  <a:gd name="connsiteX0" fmla="*/ 100330 w 1014730"/>
                  <a:gd name="connsiteY0" fmla="*/ 0 h 811277"/>
                  <a:gd name="connsiteX1" fmla="*/ 1014730 w 1014730"/>
                  <a:gd name="connsiteY1" fmla="*/ 125730 h 811277"/>
                  <a:gd name="connsiteX2" fmla="*/ 900430 w 1014730"/>
                  <a:gd name="connsiteY2" fmla="*/ 811277 h 811277"/>
                  <a:gd name="connsiteX3" fmla="*/ 0 w 1014730"/>
                  <a:gd name="connsiteY3" fmla="*/ 621412 h 811277"/>
                  <a:gd name="connsiteX4" fmla="*/ 100330 w 1014730"/>
                  <a:gd name="connsiteY4" fmla="*/ 0 h 811277"/>
                  <a:gd name="connsiteX0" fmla="*/ 122555 w 1014730"/>
                  <a:gd name="connsiteY0" fmla="*/ 0 h 823977"/>
                  <a:gd name="connsiteX1" fmla="*/ 1014730 w 1014730"/>
                  <a:gd name="connsiteY1" fmla="*/ 138430 h 823977"/>
                  <a:gd name="connsiteX2" fmla="*/ 900430 w 1014730"/>
                  <a:gd name="connsiteY2" fmla="*/ 823977 h 823977"/>
                  <a:gd name="connsiteX3" fmla="*/ 0 w 1014730"/>
                  <a:gd name="connsiteY3" fmla="*/ 634112 h 823977"/>
                  <a:gd name="connsiteX4" fmla="*/ 122555 w 1014730"/>
                  <a:gd name="connsiteY4" fmla="*/ 0 h 823977"/>
                  <a:gd name="connsiteX0" fmla="*/ 100330 w 1014730"/>
                  <a:gd name="connsiteY0" fmla="*/ 0 h 833502"/>
                  <a:gd name="connsiteX1" fmla="*/ 1014730 w 1014730"/>
                  <a:gd name="connsiteY1" fmla="*/ 147955 h 833502"/>
                  <a:gd name="connsiteX2" fmla="*/ 900430 w 1014730"/>
                  <a:gd name="connsiteY2" fmla="*/ 833502 h 833502"/>
                  <a:gd name="connsiteX3" fmla="*/ 0 w 1014730"/>
                  <a:gd name="connsiteY3" fmla="*/ 643637 h 833502"/>
                  <a:gd name="connsiteX4" fmla="*/ 100330 w 1014730"/>
                  <a:gd name="connsiteY4" fmla="*/ 0 h 833502"/>
                  <a:gd name="connsiteX0" fmla="*/ 100330 w 1030605"/>
                  <a:gd name="connsiteY0" fmla="*/ 0 h 833502"/>
                  <a:gd name="connsiteX1" fmla="*/ 1030605 w 1030605"/>
                  <a:gd name="connsiteY1" fmla="*/ 128905 h 833502"/>
                  <a:gd name="connsiteX2" fmla="*/ 900430 w 1030605"/>
                  <a:gd name="connsiteY2" fmla="*/ 833502 h 833502"/>
                  <a:gd name="connsiteX3" fmla="*/ 0 w 1030605"/>
                  <a:gd name="connsiteY3" fmla="*/ 643637 h 833502"/>
                  <a:gd name="connsiteX4" fmla="*/ 100330 w 1030605"/>
                  <a:gd name="connsiteY4" fmla="*/ 0 h 833502"/>
                  <a:gd name="connsiteX0" fmla="*/ 100330 w 1030605"/>
                  <a:gd name="connsiteY0" fmla="*/ 0 h 801752"/>
                  <a:gd name="connsiteX1" fmla="*/ 1030605 w 1030605"/>
                  <a:gd name="connsiteY1" fmla="*/ 128905 h 801752"/>
                  <a:gd name="connsiteX2" fmla="*/ 925830 w 1030605"/>
                  <a:gd name="connsiteY2" fmla="*/ 801752 h 801752"/>
                  <a:gd name="connsiteX3" fmla="*/ 0 w 1030605"/>
                  <a:gd name="connsiteY3" fmla="*/ 643637 h 801752"/>
                  <a:gd name="connsiteX4" fmla="*/ 100330 w 1030605"/>
                  <a:gd name="connsiteY4" fmla="*/ 0 h 801752"/>
                  <a:gd name="connsiteX0" fmla="*/ 113030 w 1043305"/>
                  <a:gd name="connsiteY0" fmla="*/ 0 h 801752"/>
                  <a:gd name="connsiteX1" fmla="*/ 1043305 w 1043305"/>
                  <a:gd name="connsiteY1" fmla="*/ 128905 h 801752"/>
                  <a:gd name="connsiteX2" fmla="*/ 938530 w 1043305"/>
                  <a:gd name="connsiteY2" fmla="*/ 801752 h 801752"/>
                  <a:gd name="connsiteX3" fmla="*/ 0 w 1043305"/>
                  <a:gd name="connsiteY3" fmla="*/ 656337 h 801752"/>
                  <a:gd name="connsiteX4" fmla="*/ 113030 w 1043305"/>
                  <a:gd name="connsiteY4" fmla="*/ 0 h 801752"/>
                  <a:gd name="connsiteX0" fmla="*/ 113030 w 1008380"/>
                  <a:gd name="connsiteY0" fmla="*/ 0 h 801752"/>
                  <a:gd name="connsiteX1" fmla="*/ 1008380 w 1008380"/>
                  <a:gd name="connsiteY1" fmla="*/ 109855 h 801752"/>
                  <a:gd name="connsiteX2" fmla="*/ 938530 w 1008380"/>
                  <a:gd name="connsiteY2" fmla="*/ 801752 h 801752"/>
                  <a:gd name="connsiteX3" fmla="*/ 0 w 1008380"/>
                  <a:gd name="connsiteY3" fmla="*/ 656337 h 801752"/>
                  <a:gd name="connsiteX4" fmla="*/ 113030 w 1008380"/>
                  <a:gd name="connsiteY4" fmla="*/ 0 h 801752"/>
                  <a:gd name="connsiteX0" fmla="*/ 46355 w 1008380"/>
                  <a:gd name="connsiteY0" fmla="*/ 0 h 757302"/>
                  <a:gd name="connsiteX1" fmla="*/ 1008380 w 1008380"/>
                  <a:gd name="connsiteY1" fmla="*/ 65405 h 757302"/>
                  <a:gd name="connsiteX2" fmla="*/ 938530 w 1008380"/>
                  <a:gd name="connsiteY2" fmla="*/ 757302 h 757302"/>
                  <a:gd name="connsiteX3" fmla="*/ 0 w 1008380"/>
                  <a:gd name="connsiteY3" fmla="*/ 611887 h 757302"/>
                  <a:gd name="connsiteX4" fmla="*/ 46355 w 1008380"/>
                  <a:gd name="connsiteY4" fmla="*/ 0 h 757302"/>
                  <a:gd name="connsiteX0" fmla="*/ 0 w 962025"/>
                  <a:gd name="connsiteY0" fmla="*/ 0 h 757302"/>
                  <a:gd name="connsiteX1" fmla="*/ 962025 w 962025"/>
                  <a:gd name="connsiteY1" fmla="*/ 65405 h 757302"/>
                  <a:gd name="connsiteX2" fmla="*/ 892175 w 962025"/>
                  <a:gd name="connsiteY2" fmla="*/ 757302 h 757302"/>
                  <a:gd name="connsiteX3" fmla="*/ 140970 w 962025"/>
                  <a:gd name="connsiteY3" fmla="*/ 621412 h 757302"/>
                  <a:gd name="connsiteX4" fmla="*/ 0 w 962025"/>
                  <a:gd name="connsiteY4" fmla="*/ 0 h 757302"/>
                  <a:gd name="connsiteX0" fmla="*/ 0 w 1016000"/>
                  <a:gd name="connsiteY0" fmla="*/ 0 h 735077"/>
                  <a:gd name="connsiteX1" fmla="*/ 962025 w 1016000"/>
                  <a:gd name="connsiteY1" fmla="*/ 65405 h 735077"/>
                  <a:gd name="connsiteX2" fmla="*/ 1016000 w 1016000"/>
                  <a:gd name="connsiteY2" fmla="*/ 735077 h 735077"/>
                  <a:gd name="connsiteX3" fmla="*/ 140970 w 1016000"/>
                  <a:gd name="connsiteY3" fmla="*/ 621412 h 735077"/>
                  <a:gd name="connsiteX4" fmla="*/ 0 w 1016000"/>
                  <a:gd name="connsiteY4" fmla="*/ 0 h 73507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140970 w 1031875"/>
                  <a:gd name="connsiteY3" fmla="*/ 621412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90170 w 1031875"/>
                  <a:gd name="connsiteY3" fmla="*/ 618237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83820 w 1031875"/>
                  <a:gd name="connsiteY3" fmla="*/ 637287 h 741427"/>
                  <a:gd name="connsiteX4" fmla="*/ 0 w 1031875"/>
                  <a:gd name="connsiteY4" fmla="*/ 0 h 741427"/>
                  <a:gd name="connsiteX0" fmla="*/ 0 w 1031875"/>
                  <a:gd name="connsiteY0" fmla="*/ 0 h 731902"/>
                  <a:gd name="connsiteX1" fmla="*/ 962025 w 1031875"/>
                  <a:gd name="connsiteY1" fmla="*/ 65405 h 731902"/>
                  <a:gd name="connsiteX2" fmla="*/ 1031875 w 1031875"/>
                  <a:gd name="connsiteY2" fmla="*/ 731902 h 731902"/>
                  <a:gd name="connsiteX3" fmla="*/ 83820 w 1031875"/>
                  <a:gd name="connsiteY3" fmla="*/ 637287 h 731902"/>
                  <a:gd name="connsiteX4" fmla="*/ 0 w 1031875"/>
                  <a:gd name="connsiteY4" fmla="*/ 0 h 73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1875" h="731902">
                    <a:moveTo>
                      <a:pt x="0" y="0"/>
                    </a:moveTo>
                    <a:lnTo>
                      <a:pt x="962025" y="65405"/>
                    </a:lnTo>
                    <a:lnTo>
                      <a:pt x="1031875" y="731902"/>
                    </a:lnTo>
                    <a:lnTo>
                      <a:pt x="83820" y="63728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86"/>
              <p:cNvSpPr/>
              <p:nvPr/>
            </p:nvSpPr>
            <p:spPr>
              <a:xfrm>
                <a:off x="5952398" y="1717577"/>
                <a:ext cx="603212" cy="463415"/>
              </a:xfrm>
              <a:custGeom>
                <a:avLst/>
                <a:gdLst>
                  <a:gd name="connsiteX0" fmla="*/ 0 w 777875"/>
                  <a:gd name="connsiteY0" fmla="*/ 0 h 815975"/>
                  <a:gd name="connsiteX1" fmla="*/ 777875 w 777875"/>
                  <a:gd name="connsiteY1" fmla="*/ 0 h 815975"/>
                  <a:gd name="connsiteX2" fmla="*/ 777875 w 777875"/>
                  <a:gd name="connsiteY2" fmla="*/ 815975 h 815975"/>
                  <a:gd name="connsiteX3" fmla="*/ 0 w 777875"/>
                  <a:gd name="connsiteY3" fmla="*/ 815975 h 815975"/>
                  <a:gd name="connsiteX4" fmla="*/ 0 w 777875"/>
                  <a:gd name="connsiteY4" fmla="*/ 0 h 815975"/>
                  <a:gd name="connsiteX0" fmla="*/ 0 w 939800"/>
                  <a:gd name="connsiteY0" fmla="*/ 0 h 815975"/>
                  <a:gd name="connsiteX1" fmla="*/ 939800 w 939800"/>
                  <a:gd name="connsiteY1" fmla="*/ 88900 h 815975"/>
                  <a:gd name="connsiteX2" fmla="*/ 777875 w 939800"/>
                  <a:gd name="connsiteY2" fmla="*/ 815975 h 815975"/>
                  <a:gd name="connsiteX3" fmla="*/ 0 w 939800"/>
                  <a:gd name="connsiteY3" fmla="*/ 815975 h 815975"/>
                  <a:gd name="connsiteX4" fmla="*/ 0 w 939800"/>
                  <a:gd name="connsiteY4" fmla="*/ 0 h 815975"/>
                  <a:gd name="connsiteX0" fmla="*/ 15875 w 939800"/>
                  <a:gd name="connsiteY0" fmla="*/ 0 h 838200"/>
                  <a:gd name="connsiteX1" fmla="*/ 939800 w 939800"/>
                  <a:gd name="connsiteY1" fmla="*/ 111125 h 838200"/>
                  <a:gd name="connsiteX2" fmla="*/ 777875 w 939800"/>
                  <a:gd name="connsiteY2" fmla="*/ 838200 h 838200"/>
                  <a:gd name="connsiteX3" fmla="*/ 0 w 939800"/>
                  <a:gd name="connsiteY3" fmla="*/ 838200 h 838200"/>
                  <a:gd name="connsiteX4" fmla="*/ 15875 w 939800"/>
                  <a:gd name="connsiteY4" fmla="*/ 0 h 838200"/>
                  <a:gd name="connsiteX0" fmla="*/ 127000 w 1050925"/>
                  <a:gd name="connsiteY0" fmla="*/ 0 h 838200"/>
                  <a:gd name="connsiteX1" fmla="*/ 1050925 w 1050925"/>
                  <a:gd name="connsiteY1" fmla="*/ 111125 h 838200"/>
                  <a:gd name="connsiteX2" fmla="*/ 889000 w 1050925"/>
                  <a:gd name="connsiteY2" fmla="*/ 838200 h 838200"/>
                  <a:gd name="connsiteX3" fmla="*/ 0 w 1050925"/>
                  <a:gd name="connsiteY3" fmla="*/ 650875 h 838200"/>
                  <a:gd name="connsiteX4" fmla="*/ 127000 w 1050925"/>
                  <a:gd name="connsiteY4" fmla="*/ 0 h 838200"/>
                  <a:gd name="connsiteX0" fmla="*/ 117475 w 1050925"/>
                  <a:gd name="connsiteY0" fmla="*/ 0 h 828675"/>
                  <a:gd name="connsiteX1" fmla="*/ 1050925 w 1050925"/>
                  <a:gd name="connsiteY1" fmla="*/ 101600 h 828675"/>
                  <a:gd name="connsiteX2" fmla="*/ 889000 w 1050925"/>
                  <a:gd name="connsiteY2" fmla="*/ 828675 h 828675"/>
                  <a:gd name="connsiteX3" fmla="*/ 0 w 1050925"/>
                  <a:gd name="connsiteY3" fmla="*/ 641350 h 828675"/>
                  <a:gd name="connsiteX4" fmla="*/ 117475 w 1050925"/>
                  <a:gd name="connsiteY4" fmla="*/ 0 h 828675"/>
                  <a:gd name="connsiteX0" fmla="*/ 117475 w 1050925"/>
                  <a:gd name="connsiteY0" fmla="*/ 0 h 803275"/>
                  <a:gd name="connsiteX1" fmla="*/ 1050925 w 1050925"/>
                  <a:gd name="connsiteY1" fmla="*/ 101600 h 803275"/>
                  <a:gd name="connsiteX2" fmla="*/ 933450 w 1050925"/>
                  <a:gd name="connsiteY2" fmla="*/ 803275 h 803275"/>
                  <a:gd name="connsiteX3" fmla="*/ 0 w 1050925"/>
                  <a:gd name="connsiteY3" fmla="*/ 641350 h 803275"/>
                  <a:gd name="connsiteX4" fmla="*/ 117475 w 1050925"/>
                  <a:gd name="connsiteY4" fmla="*/ 0 h 80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925" h="803275">
                    <a:moveTo>
                      <a:pt x="117475" y="0"/>
                    </a:moveTo>
                    <a:lnTo>
                      <a:pt x="1050925" y="101600"/>
                    </a:lnTo>
                    <a:lnTo>
                      <a:pt x="933450" y="803275"/>
                    </a:lnTo>
                    <a:lnTo>
                      <a:pt x="0" y="641350"/>
                    </a:lnTo>
                    <a:lnTo>
                      <a:pt x="117475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7546541" y="4339250"/>
              <a:ext cx="1396376" cy="1884407"/>
              <a:chOff x="1299198" y="2161308"/>
              <a:chExt cx="2432789" cy="3266399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xmlns="" id="{0814747E-E9BA-A10B-0FC1-53DA5388F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9198" y="2161308"/>
                <a:ext cx="2432789" cy="3266399"/>
              </a:xfrm>
              <a:prstGeom prst="rect">
                <a:avLst/>
              </a:prstGeom>
            </p:spPr>
          </p:pic>
          <p:sp>
            <p:nvSpPr>
              <p:cNvPr id="10" name="직사각형 85"/>
              <p:cNvSpPr/>
              <p:nvPr/>
            </p:nvSpPr>
            <p:spPr>
              <a:xfrm>
                <a:off x="2159636" y="2266949"/>
                <a:ext cx="1031875" cy="731902"/>
              </a:xfrm>
              <a:custGeom>
                <a:avLst/>
                <a:gdLst>
                  <a:gd name="connsiteX0" fmla="*/ 0 w 914400"/>
                  <a:gd name="connsiteY0" fmla="*/ 0 h 822707"/>
                  <a:gd name="connsiteX1" fmla="*/ 914400 w 914400"/>
                  <a:gd name="connsiteY1" fmla="*/ 0 h 822707"/>
                  <a:gd name="connsiteX2" fmla="*/ 914400 w 914400"/>
                  <a:gd name="connsiteY2" fmla="*/ 822707 h 822707"/>
                  <a:gd name="connsiteX3" fmla="*/ 0 w 914400"/>
                  <a:gd name="connsiteY3" fmla="*/ 822707 h 822707"/>
                  <a:gd name="connsiteX4" fmla="*/ 0 w 91440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8288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2573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57150 w 994410"/>
                  <a:gd name="connsiteY0" fmla="*/ 0 h 822707"/>
                  <a:gd name="connsiteX1" fmla="*/ 994410 w 994410"/>
                  <a:gd name="connsiteY1" fmla="*/ 125730 h 822707"/>
                  <a:gd name="connsiteX2" fmla="*/ 971550 w 994410"/>
                  <a:gd name="connsiteY2" fmla="*/ 822707 h 822707"/>
                  <a:gd name="connsiteX3" fmla="*/ 0 w 994410"/>
                  <a:gd name="connsiteY3" fmla="*/ 651257 h 822707"/>
                  <a:gd name="connsiteX4" fmla="*/ 57150 w 994410"/>
                  <a:gd name="connsiteY4" fmla="*/ 0 h 822707"/>
                  <a:gd name="connsiteX0" fmla="*/ 57150 w 994410"/>
                  <a:gd name="connsiteY0" fmla="*/ 0 h 799847"/>
                  <a:gd name="connsiteX1" fmla="*/ 994410 w 994410"/>
                  <a:gd name="connsiteY1" fmla="*/ 125730 h 799847"/>
                  <a:gd name="connsiteX2" fmla="*/ 857250 w 994410"/>
                  <a:gd name="connsiteY2" fmla="*/ 799847 h 799847"/>
                  <a:gd name="connsiteX3" fmla="*/ 0 w 994410"/>
                  <a:gd name="connsiteY3" fmla="*/ 651257 h 799847"/>
                  <a:gd name="connsiteX4" fmla="*/ 57150 w 994410"/>
                  <a:gd name="connsiteY4" fmla="*/ 0 h 799847"/>
                  <a:gd name="connsiteX0" fmla="*/ 57150 w 994410"/>
                  <a:gd name="connsiteY0" fmla="*/ 0 h 811277"/>
                  <a:gd name="connsiteX1" fmla="*/ 994410 w 994410"/>
                  <a:gd name="connsiteY1" fmla="*/ 125730 h 811277"/>
                  <a:gd name="connsiteX2" fmla="*/ 868680 w 994410"/>
                  <a:gd name="connsiteY2" fmla="*/ 811277 h 811277"/>
                  <a:gd name="connsiteX3" fmla="*/ 0 w 994410"/>
                  <a:gd name="connsiteY3" fmla="*/ 651257 h 811277"/>
                  <a:gd name="connsiteX4" fmla="*/ 57150 w 994410"/>
                  <a:gd name="connsiteY4" fmla="*/ 0 h 811277"/>
                  <a:gd name="connsiteX0" fmla="*/ 5715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51257 h 811277"/>
                  <a:gd name="connsiteX4" fmla="*/ 57150 w 982980"/>
                  <a:gd name="connsiteY4" fmla="*/ 0 h 811277"/>
                  <a:gd name="connsiteX0" fmla="*/ 0 w 925830"/>
                  <a:gd name="connsiteY0" fmla="*/ 0 h 811277"/>
                  <a:gd name="connsiteX1" fmla="*/ 925830 w 925830"/>
                  <a:gd name="connsiteY1" fmla="*/ 125730 h 811277"/>
                  <a:gd name="connsiteX2" fmla="*/ 811530 w 925830"/>
                  <a:gd name="connsiteY2" fmla="*/ 811277 h 811277"/>
                  <a:gd name="connsiteX3" fmla="*/ 68580 w 925830"/>
                  <a:gd name="connsiteY3" fmla="*/ 674117 h 811277"/>
                  <a:gd name="connsiteX4" fmla="*/ 0 w 925830"/>
                  <a:gd name="connsiteY4" fmla="*/ 0 h 811277"/>
                  <a:gd name="connsiteX0" fmla="*/ 0 w 914400"/>
                  <a:gd name="connsiteY0" fmla="*/ 0 h 811277"/>
                  <a:gd name="connsiteX1" fmla="*/ 914400 w 914400"/>
                  <a:gd name="connsiteY1" fmla="*/ 125730 h 811277"/>
                  <a:gd name="connsiteX2" fmla="*/ 800100 w 914400"/>
                  <a:gd name="connsiteY2" fmla="*/ 811277 h 811277"/>
                  <a:gd name="connsiteX3" fmla="*/ 57150 w 914400"/>
                  <a:gd name="connsiteY3" fmla="*/ 674117 h 811277"/>
                  <a:gd name="connsiteX4" fmla="*/ 0 w 914400"/>
                  <a:gd name="connsiteY4" fmla="*/ 0 h 811277"/>
                  <a:gd name="connsiteX0" fmla="*/ 6858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62687 h 811277"/>
                  <a:gd name="connsiteX4" fmla="*/ 68580 w 982980"/>
                  <a:gd name="connsiteY4" fmla="*/ 0 h 811277"/>
                  <a:gd name="connsiteX0" fmla="*/ 100330 w 1014730"/>
                  <a:gd name="connsiteY0" fmla="*/ 0 h 811277"/>
                  <a:gd name="connsiteX1" fmla="*/ 1014730 w 1014730"/>
                  <a:gd name="connsiteY1" fmla="*/ 125730 h 811277"/>
                  <a:gd name="connsiteX2" fmla="*/ 900430 w 1014730"/>
                  <a:gd name="connsiteY2" fmla="*/ 811277 h 811277"/>
                  <a:gd name="connsiteX3" fmla="*/ 0 w 1014730"/>
                  <a:gd name="connsiteY3" fmla="*/ 621412 h 811277"/>
                  <a:gd name="connsiteX4" fmla="*/ 100330 w 1014730"/>
                  <a:gd name="connsiteY4" fmla="*/ 0 h 811277"/>
                  <a:gd name="connsiteX0" fmla="*/ 122555 w 1014730"/>
                  <a:gd name="connsiteY0" fmla="*/ 0 h 823977"/>
                  <a:gd name="connsiteX1" fmla="*/ 1014730 w 1014730"/>
                  <a:gd name="connsiteY1" fmla="*/ 138430 h 823977"/>
                  <a:gd name="connsiteX2" fmla="*/ 900430 w 1014730"/>
                  <a:gd name="connsiteY2" fmla="*/ 823977 h 823977"/>
                  <a:gd name="connsiteX3" fmla="*/ 0 w 1014730"/>
                  <a:gd name="connsiteY3" fmla="*/ 634112 h 823977"/>
                  <a:gd name="connsiteX4" fmla="*/ 122555 w 1014730"/>
                  <a:gd name="connsiteY4" fmla="*/ 0 h 823977"/>
                  <a:gd name="connsiteX0" fmla="*/ 100330 w 1014730"/>
                  <a:gd name="connsiteY0" fmla="*/ 0 h 833502"/>
                  <a:gd name="connsiteX1" fmla="*/ 1014730 w 1014730"/>
                  <a:gd name="connsiteY1" fmla="*/ 147955 h 833502"/>
                  <a:gd name="connsiteX2" fmla="*/ 900430 w 1014730"/>
                  <a:gd name="connsiteY2" fmla="*/ 833502 h 833502"/>
                  <a:gd name="connsiteX3" fmla="*/ 0 w 1014730"/>
                  <a:gd name="connsiteY3" fmla="*/ 643637 h 833502"/>
                  <a:gd name="connsiteX4" fmla="*/ 100330 w 1014730"/>
                  <a:gd name="connsiteY4" fmla="*/ 0 h 833502"/>
                  <a:gd name="connsiteX0" fmla="*/ 100330 w 1030605"/>
                  <a:gd name="connsiteY0" fmla="*/ 0 h 833502"/>
                  <a:gd name="connsiteX1" fmla="*/ 1030605 w 1030605"/>
                  <a:gd name="connsiteY1" fmla="*/ 128905 h 833502"/>
                  <a:gd name="connsiteX2" fmla="*/ 900430 w 1030605"/>
                  <a:gd name="connsiteY2" fmla="*/ 833502 h 833502"/>
                  <a:gd name="connsiteX3" fmla="*/ 0 w 1030605"/>
                  <a:gd name="connsiteY3" fmla="*/ 643637 h 833502"/>
                  <a:gd name="connsiteX4" fmla="*/ 100330 w 1030605"/>
                  <a:gd name="connsiteY4" fmla="*/ 0 h 833502"/>
                  <a:gd name="connsiteX0" fmla="*/ 100330 w 1030605"/>
                  <a:gd name="connsiteY0" fmla="*/ 0 h 801752"/>
                  <a:gd name="connsiteX1" fmla="*/ 1030605 w 1030605"/>
                  <a:gd name="connsiteY1" fmla="*/ 128905 h 801752"/>
                  <a:gd name="connsiteX2" fmla="*/ 925830 w 1030605"/>
                  <a:gd name="connsiteY2" fmla="*/ 801752 h 801752"/>
                  <a:gd name="connsiteX3" fmla="*/ 0 w 1030605"/>
                  <a:gd name="connsiteY3" fmla="*/ 643637 h 801752"/>
                  <a:gd name="connsiteX4" fmla="*/ 100330 w 1030605"/>
                  <a:gd name="connsiteY4" fmla="*/ 0 h 801752"/>
                  <a:gd name="connsiteX0" fmla="*/ 113030 w 1043305"/>
                  <a:gd name="connsiteY0" fmla="*/ 0 h 801752"/>
                  <a:gd name="connsiteX1" fmla="*/ 1043305 w 1043305"/>
                  <a:gd name="connsiteY1" fmla="*/ 128905 h 801752"/>
                  <a:gd name="connsiteX2" fmla="*/ 938530 w 1043305"/>
                  <a:gd name="connsiteY2" fmla="*/ 801752 h 801752"/>
                  <a:gd name="connsiteX3" fmla="*/ 0 w 1043305"/>
                  <a:gd name="connsiteY3" fmla="*/ 656337 h 801752"/>
                  <a:gd name="connsiteX4" fmla="*/ 113030 w 1043305"/>
                  <a:gd name="connsiteY4" fmla="*/ 0 h 801752"/>
                  <a:gd name="connsiteX0" fmla="*/ 113030 w 1008380"/>
                  <a:gd name="connsiteY0" fmla="*/ 0 h 801752"/>
                  <a:gd name="connsiteX1" fmla="*/ 1008380 w 1008380"/>
                  <a:gd name="connsiteY1" fmla="*/ 109855 h 801752"/>
                  <a:gd name="connsiteX2" fmla="*/ 938530 w 1008380"/>
                  <a:gd name="connsiteY2" fmla="*/ 801752 h 801752"/>
                  <a:gd name="connsiteX3" fmla="*/ 0 w 1008380"/>
                  <a:gd name="connsiteY3" fmla="*/ 656337 h 801752"/>
                  <a:gd name="connsiteX4" fmla="*/ 113030 w 1008380"/>
                  <a:gd name="connsiteY4" fmla="*/ 0 h 801752"/>
                  <a:gd name="connsiteX0" fmla="*/ 46355 w 1008380"/>
                  <a:gd name="connsiteY0" fmla="*/ 0 h 757302"/>
                  <a:gd name="connsiteX1" fmla="*/ 1008380 w 1008380"/>
                  <a:gd name="connsiteY1" fmla="*/ 65405 h 757302"/>
                  <a:gd name="connsiteX2" fmla="*/ 938530 w 1008380"/>
                  <a:gd name="connsiteY2" fmla="*/ 757302 h 757302"/>
                  <a:gd name="connsiteX3" fmla="*/ 0 w 1008380"/>
                  <a:gd name="connsiteY3" fmla="*/ 611887 h 757302"/>
                  <a:gd name="connsiteX4" fmla="*/ 46355 w 1008380"/>
                  <a:gd name="connsiteY4" fmla="*/ 0 h 757302"/>
                  <a:gd name="connsiteX0" fmla="*/ 0 w 962025"/>
                  <a:gd name="connsiteY0" fmla="*/ 0 h 757302"/>
                  <a:gd name="connsiteX1" fmla="*/ 962025 w 962025"/>
                  <a:gd name="connsiteY1" fmla="*/ 65405 h 757302"/>
                  <a:gd name="connsiteX2" fmla="*/ 892175 w 962025"/>
                  <a:gd name="connsiteY2" fmla="*/ 757302 h 757302"/>
                  <a:gd name="connsiteX3" fmla="*/ 140970 w 962025"/>
                  <a:gd name="connsiteY3" fmla="*/ 621412 h 757302"/>
                  <a:gd name="connsiteX4" fmla="*/ 0 w 962025"/>
                  <a:gd name="connsiteY4" fmla="*/ 0 h 757302"/>
                  <a:gd name="connsiteX0" fmla="*/ 0 w 1016000"/>
                  <a:gd name="connsiteY0" fmla="*/ 0 h 735077"/>
                  <a:gd name="connsiteX1" fmla="*/ 962025 w 1016000"/>
                  <a:gd name="connsiteY1" fmla="*/ 65405 h 735077"/>
                  <a:gd name="connsiteX2" fmla="*/ 1016000 w 1016000"/>
                  <a:gd name="connsiteY2" fmla="*/ 735077 h 735077"/>
                  <a:gd name="connsiteX3" fmla="*/ 140970 w 1016000"/>
                  <a:gd name="connsiteY3" fmla="*/ 621412 h 735077"/>
                  <a:gd name="connsiteX4" fmla="*/ 0 w 1016000"/>
                  <a:gd name="connsiteY4" fmla="*/ 0 h 73507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140970 w 1031875"/>
                  <a:gd name="connsiteY3" fmla="*/ 621412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90170 w 1031875"/>
                  <a:gd name="connsiteY3" fmla="*/ 618237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83820 w 1031875"/>
                  <a:gd name="connsiteY3" fmla="*/ 637287 h 741427"/>
                  <a:gd name="connsiteX4" fmla="*/ 0 w 1031875"/>
                  <a:gd name="connsiteY4" fmla="*/ 0 h 741427"/>
                  <a:gd name="connsiteX0" fmla="*/ 0 w 1031875"/>
                  <a:gd name="connsiteY0" fmla="*/ 0 h 731902"/>
                  <a:gd name="connsiteX1" fmla="*/ 962025 w 1031875"/>
                  <a:gd name="connsiteY1" fmla="*/ 65405 h 731902"/>
                  <a:gd name="connsiteX2" fmla="*/ 1031875 w 1031875"/>
                  <a:gd name="connsiteY2" fmla="*/ 731902 h 731902"/>
                  <a:gd name="connsiteX3" fmla="*/ 83820 w 1031875"/>
                  <a:gd name="connsiteY3" fmla="*/ 637287 h 731902"/>
                  <a:gd name="connsiteX4" fmla="*/ 0 w 1031875"/>
                  <a:gd name="connsiteY4" fmla="*/ 0 h 73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1875" h="731902">
                    <a:moveTo>
                      <a:pt x="0" y="0"/>
                    </a:moveTo>
                    <a:lnTo>
                      <a:pt x="962025" y="65405"/>
                    </a:lnTo>
                    <a:lnTo>
                      <a:pt x="1031875" y="731902"/>
                    </a:lnTo>
                    <a:lnTo>
                      <a:pt x="83820" y="63728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86"/>
              <p:cNvSpPr/>
              <p:nvPr/>
            </p:nvSpPr>
            <p:spPr>
              <a:xfrm>
                <a:off x="2139950" y="2962275"/>
                <a:ext cx="1050925" cy="803275"/>
              </a:xfrm>
              <a:custGeom>
                <a:avLst/>
                <a:gdLst>
                  <a:gd name="connsiteX0" fmla="*/ 0 w 777875"/>
                  <a:gd name="connsiteY0" fmla="*/ 0 h 815975"/>
                  <a:gd name="connsiteX1" fmla="*/ 777875 w 777875"/>
                  <a:gd name="connsiteY1" fmla="*/ 0 h 815975"/>
                  <a:gd name="connsiteX2" fmla="*/ 777875 w 777875"/>
                  <a:gd name="connsiteY2" fmla="*/ 815975 h 815975"/>
                  <a:gd name="connsiteX3" fmla="*/ 0 w 777875"/>
                  <a:gd name="connsiteY3" fmla="*/ 815975 h 815975"/>
                  <a:gd name="connsiteX4" fmla="*/ 0 w 777875"/>
                  <a:gd name="connsiteY4" fmla="*/ 0 h 815975"/>
                  <a:gd name="connsiteX0" fmla="*/ 0 w 939800"/>
                  <a:gd name="connsiteY0" fmla="*/ 0 h 815975"/>
                  <a:gd name="connsiteX1" fmla="*/ 939800 w 939800"/>
                  <a:gd name="connsiteY1" fmla="*/ 88900 h 815975"/>
                  <a:gd name="connsiteX2" fmla="*/ 777875 w 939800"/>
                  <a:gd name="connsiteY2" fmla="*/ 815975 h 815975"/>
                  <a:gd name="connsiteX3" fmla="*/ 0 w 939800"/>
                  <a:gd name="connsiteY3" fmla="*/ 815975 h 815975"/>
                  <a:gd name="connsiteX4" fmla="*/ 0 w 939800"/>
                  <a:gd name="connsiteY4" fmla="*/ 0 h 815975"/>
                  <a:gd name="connsiteX0" fmla="*/ 15875 w 939800"/>
                  <a:gd name="connsiteY0" fmla="*/ 0 h 838200"/>
                  <a:gd name="connsiteX1" fmla="*/ 939800 w 939800"/>
                  <a:gd name="connsiteY1" fmla="*/ 111125 h 838200"/>
                  <a:gd name="connsiteX2" fmla="*/ 777875 w 939800"/>
                  <a:gd name="connsiteY2" fmla="*/ 838200 h 838200"/>
                  <a:gd name="connsiteX3" fmla="*/ 0 w 939800"/>
                  <a:gd name="connsiteY3" fmla="*/ 838200 h 838200"/>
                  <a:gd name="connsiteX4" fmla="*/ 15875 w 939800"/>
                  <a:gd name="connsiteY4" fmla="*/ 0 h 838200"/>
                  <a:gd name="connsiteX0" fmla="*/ 127000 w 1050925"/>
                  <a:gd name="connsiteY0" fmla="*/ 0 h 838200"/>
                  <a:gd name="connsiteX1" fmla="*/ 1050925 w 1050925"/>
                  <a:gd name="connsiteY1" fmla="*/ 111125 h 838200"/>
                  <a:gd name="connsiteX2" fmla="*/ 889000 w 1050925"/>
                  <a:gd name="connsiteY2" fmla="*/ 838200 h 838200"/>
                  <a:gd name="connsiteX3" fmla="*/ 0 w 1050925"/>
                  <a:gd name="connsiteY3" fmla="*/ 650875 h 838200"/>
                  <a:gd name="connsiteX4" fmla="*/ 127000 w 1050925"/>
                  <a:gd name="connsiteY4" fmla="*/ 0 h 838200"/>
                  <a:gd name="connsiteX0" fmla="*/ 117475 w 1050925"/>
                  <a:gd name="connsiteY0" fmla="*/ 0 h 828675"/>
                  <a:gd name="connsiteX1" fmla="*/ 1050925 w 1050925"/>
                  <a:gd name="connsiteY1" fmla="*/ 101600 h 828675"/>
                  <a:gd name="connsiteX2" fmla="*/ 889000 w 1050925"/>
                  <a:gd name="connsiteY2" fmla="*/ 828675 h 828675"/>
                  <a:gd name="connsiteX3" fmla="*/ 0 w 1050925"/>
                  <a:gd name="connsiteY3" fmla="*/ 641350 h 828675"/>
                  <a:gd name="connsiteX4" fmla="*/ 117475 w 1050925"/>
                  <a:gd name="connsiteY4" fmla="*/ 0 h 828675"/>
                  <a:gd name="connsiteX0" fmla="*/ 117475 w 1050925"/>
                  <a:gd name="connsiteY0" fmla="*/ 0 h 803275"/>
                  <a:gd name="connsiteX1" fmla="*/ 1050925 w 1050925"/>
                  <a:gd name="connsiteY1" fmla="*/ 101600 h 803275"/>
                  <a:gd name="connsiteX2" fmla="*/ 933450 w 1050925"/>
                  <a:gd name="connsiteY2" fmla="*/ 803275 h 803275"/>
                  <a:gd name="connsiteX3" fmla="*/ 0 w 1050925"/>
                  <a:gd name="connsiteY3" fmla="*/ 641350 h 803275"/>
                  <a:gd name="connsiteX4" fmla="*/ 117475 w 1050925"/>
                  <a:gd name="connsiteY4" fmla="*/ 0 h 80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925" h="803275">
                    <a:moveTo>
                      <a:pt x="117475" y="0"/>
                    </a:moveTo>
                    <a:lnTo>
                      <a:pt x="1050925" y="101600"/>
                    </a:lnTo>
                    <a:lnTo>
                      <a:pt x="933450" y="803275"/>
                    </a:lnTo>
                    <a:lnTo>
                      <a:pt x="0" y="641350"/>
                    </a:lnTo>
                    <a:lnTo>
                      <a:pt x="117475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7809333" y="1431212"/>
              <a:ext cx="1133584" cy="1520651"/>
              <a:chOff x="7460547" y="1276490"/>
              <a:chExt cx="1396376" cy="1884407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xmlns="" id="{0814747E-E9BA-A10B-0FC1-53DA5388F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0547" y="1276490"/>
                <a:ext cx="1396376" cy="1884407"/>
              </a:xfrm>
              <a:prstGeom prst="rect">
                <a:avLst/>
              </a:prstGeom>
            </p:spPr>
          </p:pic>
          <p:sp>
            <p:nvSpPr>
              <p:cNvPr id="14" name="직사각형 85"/>
              <p:cNvSpPr/>
              <p:nvPr/>
            </p:nvSpPr>
            <p:spPr>
              <a:xfrm>
                <a:off x="7954423" y="1337435"/>
                <a:ext cx="592277" cy="422239"/>
              </a:xfrm>
              <a:custGeom>
                <a:avLst/>
                <a:gdLst>
                  <a:gd name="connsiteX0" fmla="*/ 0 w 914400"/>
                  <a:gd name="connsiteY0" fmla="*/ 0 h 822707"/>
                  <a:gd name="connsiteX1" fmla="*/ 914400 w 914400"/>
                  <a:gd name="connsiteY1" fmla="*/ 0 h 822707"/>
                  <a:gd name="connsiteX2" fmla="*/ 914400 w 914400"/>
                  <a:gd name="connsiteY2" fmla="*/ 822707 h 822707"/>
                  <a:gd name="connsiteX3" fmla="*/ 0 w 914400"/>
                  <a:gd name="connsiteY3" fmla="*/ 822707 h 822707"/>
                  <a:gd name="connsiteX4" fmla="*/ 0 w 91440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8288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2573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57150 w 994410"/>
                  <a:gd name="connsiteY0" fmla="*/ 0 h 822707"/>
                  <a:gd name="connsiteX1" fmla="*/ 994410 w 994410"/>
                  <a:gd name="connsiteY1" fmla="*/ 125730 h 822707"/>
                  <a:gd name="connsiteX2" fmla="*/ 971550 w 994410"/>
                  <a:gd name="connsiteY2" fmla="*/ 822707 h 822707"/>
                  <a:gd name="connsiteX3" fmla="*/ 0 w 994410"/>
                  <a:gd name="connsiteY3" fmla="*/ 651257 h 822707"/>
                  <a:gd name="connsiteX4" fmla="*/ 57150 w 994410"/>
                  <a:gd name="connsiteY4" fmla="*/ 0 h 822707"/>
                  <a:gd name="connsiteX0" fmla="*/ 57150 w 994410"/>
                  <a:gd name="connsiteY0" fmla="*/ 0 h 799847"/>
                  <a:gd name="connsiteX1" fmla="*/ 994410 w 994410"/>
                  <a:gd name="connsiteY1" fmla="*/ 125730 h 799847"/>
                  <a:gd name="connsiteX2" fmla="*/ 857250 w 994410"/>
                  <a:gd name="connsiteY2" fmla="*/ 799847 h 799847"/>
                  <a:gd name="connsiteX3" fmla="*/ 0 w 994410"/>
                  <a:gd name="connsiteY3" fmla="*/ 651257 h 799847"/>
                  <a:gd name="connsiteX4" fmla="*/ 57150 w 994410"/>
                  <a:gd name="connsiteY4" fmla="*/ 0 h 799847"/>
                  <a:gd name="connsiteX0" fmla="*/ 57150 w 994410"/>
                  <a:gd name="connsiteY0" fmla="*/ 0 h 811277"/>
                  <a:gd name="connsiteX1" fmla="*/ 994410 w 994410"/>
                  <a:gd name="connsiteY1" fmla="*/ 125730 h 811277"/>
                  <a:gd name="connsiteX2" fmla="*/ 868680 w 994410"/>
                  <a:gd name="connsiteY2" fmla="*/ 811277 h 811277"/>
                  <a:gd name="connsiteX3" fmla="*/ 0 w 994410"/>
                  <a:gd name="connsiteY3" fmla="*/ 651257 h 811277"/>
                  <a:gd name="connsiteX4" fmla="*/ 57150 w 994410"/>
                  <a:gd name="connsiteY4" fmla="*/ 0 h 811277"/>
                  <a:gd name="connsiteX0" fmla="*/ 5715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51257 h 811277"/>
                  <a:gd name="connsiteX4" fmla="*/ 57150 w 982980"/>
                  <a:gd name="connsiteY4" fmla="*/ 0 h 811277"/>
                  <a:gd name="connsiteX0" fmla="*/ 0 w 925830"/>
                  <a:gd name="connsiteY0" fmla="*/ 0 h 811277"/>
                  <a:gd name="connsiteX1" fmla="*/ 925830 w 925830"/>
                  <a:gd name="connsiteY1" fmla="*/ 125730 h 811277"/>
                  <a:gd name="connsiteX2" fmla="*/ 811530 w 925830"/>
                  <a:gd name="connsiteY2" fmla="*/ 811277 h 811277"/>
                  <a:gd name="connsiteX3" fmla="*/ 68580 w 925830"/>
                  <a:gd name="connsiteY3" fmla="*/ 674117 h 811277"/>
                  <a:gd name="connsiteX4" fmla="*/ 0 w 925830"/>
                  <a:gd name="connsiteY4" fmla="*/ 0 h 811277"/>
                  <a:gd name="connsiteX0" fmla="*/ 0 w 914400"/>
                  <a:gd name="connsiteY0" fmla="*/ 0 h 811277"/>
                  <a:gd name="connsiteX1" fmla="*/ 914400 w 914400"/>
                  <a:gd name="connsiteY1" fmla="*/ 125730 h 811277"/>
                  <a:gd name="connsiteX2" fmla="*/ 800100 w 914400"/>
                  <a:gd name="connsiteY2" fmla="*/ 811277 h 811277"/>
                  <a:gd name="connsiteX3" fmla="*/ 57150 w 914400"/>
                  <a:gd name="connsiteY3" fmla="*/ 674117 h 811277"/>
                  <a:gd name="connsiteX4" fmla="*/ 0 w 914400"/>
                  <a:gd name="connsiteY4" fmla="*/ 0 h 811277"/>
                  <a:gd name="connsiteX0" fmla="*/ 6858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62687 h 811277"/>
                  <a:gd name="connsiteX4" fmla="*/ 68580 w 982980"/>
                  <a:gd name="connsiteY4" fmla="*/ 0 h 811277"/>
                  <a:gd name="connsiteX0" fmla="*/ 100330 w 1014730"/>
                  <a:gd name="connsiteY0" fmla="*/ 0 h 811277"/>
                  <a:gd name="connsiteX1" fmla="*/ 1014730 w 1014730"/>
                  <a:gd name="connsiteY1" fmla="*/ 125730 h 811277"/>
                  <a:gd name="connsiteX2" fmla="*/ 900430 w 1014730"/>
                  <a:gd name="connsiteY2" fmla="*/ 811277 h 811277"/>
                  <a:gd name="connsiteX3" fmla="*/ 0 w 1014730"/>
                  <a:gd name="connsiteY3" fmla="*/ 621412 h 811277"/>
                  <a:gd name="connsiteX4" fmla="*/ 100330 w 1014730"/>
                  <a:gd name="connsiteY4" fmla="*/ 0 h 811277"/>
                  <a:gd name="connsiteX0" fmla="*/ 122555 w 1014730"/>
                  <a:gd name="connsiteY0" fmla="*/ 0 h 823977"/>
                  <a:gd name="connsiteX1" fmla="*/ 1014730 w 1014730"/>
                  <a:gd name="connsiteY1" fmla="*/ 138430 h 823977"/>
                  <a:gd name="connsiteX2" fmla="*/ 900430 w 1014730"/>
                  <a:gd name="connsiteY2" fmla="*/ 823977 h 823977"/>
                  <a:gd name="connsiteX3" fmla="*/ 0 w 1014730"/>
                  <a:gd name="connsiteY3" fmla="*/ 634112 h 823977"/>
                  <a:gd name="connsiteX4" fmla="*/ 122555 w 1014730"/>
                  <a:gd name="connsiteY4" fmla="*/ 0 h 823977"/>
                  <a:gd name="connsiteX0" fmla="*/ 100330 w 1014730"/>
                  <a:gd name="connsiteY0" fmla="*/ 0 h 833502"/>
                  <a:gd name="connsiteX1" fmla="*/ 1014730 w 1014730"/>
                  <a:gd name="connsiteY1" fmla="*/ 147955 h 833502"/>
                  <a:gd name="connsiteX2" fmla="*/ 900430 w 1014730"/>
                  <a:gd name="connsiteY2" fmla="*/ 833502 h 833502"/>
                  <a:gd name="connsiteX3" fmla="*/ 0 w 1014730"/>
                  <a:gd name="connsiteY3" fmla="*/ 643637 h 833502"/>
                  <a:gd name="connsiteX4" fmla="*/ 100330 w 1014730"/>
                  <a:gd name="connsiteY4" fmla="*/ 0 h 833502"/>
                  <a:gd name="connsiteX0" fmla="*/ 100330 w 1030605"/>
                  <a:gd name="connsiteY0" fmla="*/ 0 h 833502"/>
                  <a:gd name="connsiteX1" fmla="*/ 1030605 w 1030605"/>
                  <a:gd name="connsiteY1" fmla="*/ 128905 h 833502"/>
                  <a:gd name="connsiteX2" fmla="*/ 900430 w 1030605"/>
                  <a:gd name="connsiteY2" fmla="*/ 833502 h 833502"/>
                  <a:gd name="connsiteX3" fmla="*/ 0 w 1030605"/>
                  <a:gd name="connsiteY3" fmla="*/ 643637 h 833502"/>
                  <a:gd name="connsiteX4" fmla="*/ 100330 w 1030605"/>
                  <a:gd name="connsiteY4" fmla="*/ 0 h 833502"/>
                  <a:gd name="connsiteX0" fmla="*/ 100330 w 1030605"/>
                  <a:gd name="connsiteY0" fmla="*/ 0 h 801752"/>
                  <a:gd name="connsiteX1" fmla="*/ 1030605 w 1030605"/>
                  <a:gd name="connsiteY1" fmla="*/ 128905 h 801752"/>
                  <a:gd name="connsiteX2" fmla="*/ 925830 w 1030605"/>
                  <a:gd name="connsiteY2" fmla="*/ 801752 h 801752"/>
                  <a:gd name="connsiteX3" fmla="*/ 0 w 1030605"/>
                  <a:gd name="connsiteY3" fmla="*/ 643637 h 801752"/>
                  <a:gd name="connsiteX4" fmla="*/ 100330 w 1030605"/>
                  <a:gd name="connsiteY4" fmla="*/ 0 h 801752"/>
                  <a:gd name="connsiteX0" fmla="*/ 113030 w 1043305"/>
                  <a:gd name="connsiteY0" fmla="*/ 0 h 801752"/>
                  <a:gd name="connsiteX1" fmla="*/ 1043305 w 1043305"/>
                  <a:gd name="connsiteY1" fmla="*/ 128905 h 801752"/>
                  <a:gd name="connsiteX2" fmla="*/ 938530 w 1043305"/>
                  <a:gd name="connsiteY2" fmla="*/ 801752 h 801752"/>
                  <a:gd name="connsiteX3" fmla="*/ 0 w 1043305"/>
                  <a:gd name="connsiteY3" fmla="*/ 656337 h 801752"/>
                  <a:gd name="connsiteX4" fmla="*/ 113030 w 1043305"/>
                  <a:gd name="connsiteY4" fmla="*/ 0 h 801752"/>
                  <a:gd name="connsiteX0" fmla="*/ 113030 w 1008380"/>
                  <a:gd name="connsiteY0" fmla="*/ 0 h 801752"/>
                  <a:gd name="connsiteX1" fmla="*/ 1008380 w 1008380"/>
                  <a:gd name="connsiteY1" fmla="*/ 109855 h 801752"/>
                  <a:gd name="connsiteX2" fmla="*/ 938530 w 1008380"/>
                  <a:gd name="connsiteY2" fmla="*/ 801752 h 801752"/>
                  <a:gd name="connsiteX3" fmla="*/ 0 w 1008380"/>
                  <a:gd name="connsiteY3" fmla="*/ 656337 h 801752"/>
                  <a:gd name="connsiteX4" fmla="*/ 113030 w 1008380"/>
                  <a:gd name="connsiteY4" fmla="*/ 0 h 801752"/>
                  <a:gd name="connsiteX0" fmla="*/ 46355 w 1008380"/>
                  <a:gd name="connsiteY0" fmla="*/ 0 h 757302"/>
                  <a:gd name="connsiteX1" fmla="*/ 1008380 w 1008380"/>
                  <a:gd name="connsiteY1" fmla="*/ 65405 h 757302"/>
                  <a:gd name="connsiteX2" fmla="*/ 938530 w 1008380"/>
                  <a:gd name="connsiteY2" fmla="*/ 757302 h 757302"/>
                  <a:gd name="connsiteX3" fmla="*/ 0 w 1008380"/>
                  <a:gd name="connsiteY3" fmla="*/ 611887 h 757302"/>
                  <a:gd name="connsiteX4" fmla="*/ 46355 w 1008380"/>
                  <a:gd name="connsiteY4" fmla="*/ 0 h 757302"/>
                  <a:gd name="connsiteX0" fmla="*/ 0 w 962025"/>
                  <a:gd name="connsiteY0" fmla="*/ 0 h 757302"/>
                  <a:gd name="connsiteX1" fmla="*/ 962025 w 962025"/>
                  <a:gd name="connsiteY1" fmla="*/ 65405 h 757302"/>
                  <a:gd name="connsiteX2" fmla="*/ 892175 w 962025"/>
                  <a:gd name="connsiteY2" fmla="*/ 757302 h 757302"/>
                  <a:gd name="connsiteX3" fmla="*/ 140970 w 962025"/>
                  <a:gd name="connsiteY3" fmla="*/ 621412 h 757302"/>
                  <a:gd name="connsiteX4" fmla="*/ 0 w 962025"/>
                  <a:gd name="connsiteY4" fmla="*/ 0 h 757302"/>
                  <a:gd name="connsiteX0" fmla="*/ 0 w 1016000"/>
                  <a:gd name="connsiteY0" fmla="*/ 0 h 735077"/>
                  <a:gd name="connsiteX1" fmla="*/ 962025 w 1016000"/>
                  <a:gd name="connsiteY1" fmla="*/ 65405 h 735077"/>
                  <a:gd name="connsiteX2" fmla="*/ 1016000 w 1016000"/>
                  <a:gd name="connsiteY2" fmla="*/ 735077 h 735077"/>
                  <a:gd name="connsiteX3" fmla="*/ 140970 w 1016000"/>
                  <a:gd name="connsiteY3" fmla="*/ 621412 h 735077"/>
                  <a:gd name="connsiteX4" fmla="*/ 0 w 1016000"/>
                  <a:gd name="connsiteY4" fmla="*/ 0 h 73507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140970 w 1031875"/>
                  <a:gd name="connsiteY3" fmla="*/ 621412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90170 w 1031875"/>
                  <a:gd name="connsiteY3" fmla="*/ 618237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83820 w 1031875"/>
                  <a:gd name="connsiteY3" fmla="*/ 637287 h 741427"/>
                  <a:gd name="connsiteX4" fmla="*/ 0 w 1031875"/>
                  <a:gd name="connsiteY4" fmla="*/ 0 h 741427"/>
                  <a:gd name="connsiteX0" fmla="*/ 0 w 1031875"/>
                  <a:gd name="connsiteY0" fmla="*/ 0 h 731902"/>
                  <a:gd name="connsiteX1" fmla="*/ 962025 w 1031875"/>
                  <a:gd name="connsiteY1" fmla="*/ 65405 h 731902"/>
                  <a:gd name="connsiteX2" fmla="*/ 1031875 w 1031875"/>
                  <a:gd name="connsiteY2" fmla="*/ 731902 h 731902"/>
                  <a:gd name="connsiteX3" fmla="*/ 83820 w 1031875"/>
                  <a:gd name="connsiteY3" fmla="*/ 637287 h 731902"/>
                  <a:gd name="connsiteX4" fmla="*/ 0 w 1031875"/>
                  <a:gd name="connsiteY4" fmla="*/ 0 h 73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1875" h="731902">
                    <a:moveTo>
                      <a:pt x="0" y="0"/>
                    </a:moveTo>
                    <a:lnTo>
                      <a:pt x="962025" y="65405"/>
                    </a:lnTo>
                    <a:lnTo>
                      <a:pt x="1031875" y="731902"/>
                    </a:lnTo>
                    <a:lnTo>
                      <a:pt x="83820" y="63728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86"/>
              <p:cNvSpPr/>
              <p:nvPr/>
            </p:nvSpPr>
            <p:spPr>
              <a:xfrm>
                <a:off x="7943123" y="1738573"/>
                <a:ext cx="603212" cy="463415"/>
              </a:xfrm>
              <a:custGeom>
                <a:avLst/>
                <a:gdLst>
                  <a:gd name="connsiteX0" fmla="*/ 0 w 777875"/>
                  <a:gd name="connsiteY0" fmla="*/ 0 h 815975"/>
                  <a:gd name="connsiteX1" fmla="*/ 777875 w 777875"/>
                  <a:gd name="connsiteY1" fmla="*/ 0 h 815975"/>
                  <a:gd name="connsiteX2" fmla="*/ 777875 w 777875"/>
                  <a:gd name="connsiteY2" fmla="*/ 815975 h 815975"/>
                  <a:gd name="connsiteX3" fmla="*/ 0 w 777875"/>
                  <a:gd name="connsiteY3" fmla="*/ 815975 h 815975"/>
                  <a:gd name="connsiteX4" fmla="*/ 0 w 777875"/>
                  <a:gd name="connsiteY4" fmla="*/ 0 h 815975"/>
                  <a:gd name="connsiteX0" fmla="*/ 0 w 939800"/>
                  <a:gd name="connsiteY0" fmla="*/ 0 h 815975"/>
                  <a:gd name="connsiteX1" fmla="*/ 939800 w 939800"/>
                  <a:gd name="connsiteY1" fmla="*/ 88900 h 815975"/>
                  <a:gd name="connsiteX2" fmla="*/ 777875 w 939800"/>
                  <a:gd name="connsiteY2" fmla="*/ 815975 h 815975"/>
                  <a:gd name="connsiteX3" fmla="*/ 0 w 939800"/>
                  <a:gd name="connsiteY3" fmla="*/ 815975 h 815975"/>
                  <a:gd name="connsiteX4" fmla="*/ 0 w 939800"/>
                  <a:gd name="connsiteY4" fmla="*/ 0 h 815975"/>
                  <a:gd name="connsiteX0" fmla="*/ 15875 w 939800"/>
                  <a:gd name="connsiteY0" fmla="*/ 0 h 838200"/>
                  <a:gd name="connsiteX1" fmla="*/ 939800 w 939800"/>
                  <a:gd name="connsiteY1" fmla="*/ 111125 h 838200"/>
                  <a:gd name="connsiteX2" fmla="*/ 777875 w 939800"/>
                  <a:gd name="connsiteY2" fmla="*/ 838200 h 838200"/>
                  <a:gd name="connsiteX3" fmla="*/ 0 w 939800"/>
                  <a:gd name="connsiteY3" fmla="*/ 838200 h 838200"/>
                  <a:gd name="connsiteX4" fmla="*/ 15875 w 939800"/>
                  <a:gd name="connsiteY4" fmla="*/ 0 h 838200"/>
                  <a:gd name="connsiteX0" fmla="*/ 127000 w 1050925"/>
                  <a:gd name="connsiteY0" fmla="*/ 0 h 838200"/>
                  <a:gd name="connsiteX1" fmla="*/ 1050925 w 1050925"/>
                  <a:gd name="connsiteY1" fmla="*/ 111125 h 838200"/>
                  <a:gd name="connsiteX2" fmla="*/ 889000 w 1050925"/>
                  <a:gd name="connsiteY2" fmla="*/ 838200 h 838200"/>
                  <a:gd name="connsiteX3" fmla="*/ 0 w 1050925"/>
                  <a:gd name="connsiteY3" fmla="*/ 650875 h 838200"/>
                  <a:gd name="connsiteX4" fmla="*/ 127000 w 1050925"/>
                  <a:gd name="connsiteY4" fmla="*/ 0 h 838200"/>
                  <a:gd name="connsiteX0" fmla="*/ 117475 w 1050925"/>
                  <a:gd name="connsiteY0" fmla="*/ 0 h 828675"/>
                  <a:gd name="connsiteX1" fmla="*/ 1050925 w 1050925"/>
                  <a:gd name="connsiteY1" fmla="*/ 101600 h 828675"/>
                  <a:gd name="connsiteX2" fmla="*/ 889000 w 1050925"/>
                  <a:gd name="connsiteY2" fmla="*/ 828675 h 828675"/>
                  <a:gd name="connsiteX3" fmla="*/ 0 w 1050925"/>
                  <a:gd name="connsiteY3" fmla="*/ 641350 h 828675"/>
                  <a:gd name="connsiteX4" fmla="*/ 117475 w 1050925"/>
                  <a:gd name="connsiteY4" fmla="*/ 0 h 828675"/>
                  <a:gd name="connsiteX0" fmla="*/ 117475 w 1050925"/>
                  <a:gd name="connsiteY0" fmla="*/ 0 h 803275"/>
                  <a:gd name="connsiteX1" fmla="*/ 1050925 w 1050925"/>
                  <a:gd name="connsiteY1" fmla="*/ 101600 h 803275"/>
                  <a:gd name="connsiteX2" fmla="*/ 933450 w 1050925"/>
                  <a:gd name="connsiteY2" fmla="*/ 803275 h 803275"/>
                  <a:gd name="connsiteX3" fmla="*/ 0 w 1050925"/>
                  <a:gd name="connsiteY3" fmla="*/ 641350 h 803275"/>
                  <a:gd name="connsiteX4" fmla="*/ 117475 w 1050925"/>
                  <a:gd name="connsiteY4" fmla="*/ 0 h 80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925" h="803275">
                    <a:moveTo>
                      <a:pt x="117475" y="0"/>
                    </a:moveTo>
                    <a:lnTo>
                      <a:pt x="1050925" y="101600"/>
                    </a:lnTo>
                    <a:lnTo>
                      <a:pt x="933450" y="803275"/>
                    </a:lnTo>
                    <a:lnTo>
                      <a:pt x="0" y="641350"/>
                    </a:lnTo>
                    <a:lnTo>
                      <a:pt x="117475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/>
            <p:cNvGrpSpPr/>
            <p:nvPr/>
          </p:nvGrpSpPr>
          <p:grpSpPr>
            <a:xfrm>
              <a:off x="9531633" y="1431212"/>
              <a:ext cx="1133584" cy="1520651"/>
              <a:chOff x="7460547" y="1276490"/>
              <a:chExt cx="1396376" cy="1884407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xmlns="" id="{0814747E-E9BA-A10B-0FC1-53DA5388F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0547" y="1276490"/>
                <a:ext cx="1396376" cy="1884407"/>
              </a:xfrm>
              <a:prstGeom prst="rect">
                <a:avLst/>
              </a:prstGeom>
            </p:spPr>
          </p:pic>
          <p:sp>
            <p:nvSpPr>
              <p:cNvPr id="18" name="직사각형 85"/>
              <p:cNvSpPr/>
              <p:nvPr/>
            </p:nvSpPr>
            <p:spPr>
              <a:xfrm>
                <a:off x="7954423" y="1337435"/>
                <a:ext cx="592277" cy="422239"/>
              </a:xfrm>
              <a:custGeom>
                <a:avLst/>
                <a:gdLst>
                  <a:gd name="connsiteX0" fmla="*/ 0 w 914400"/>
                  <a:gd name="connsiteY0" fmla="*/ 0 h 822707"/>
                  <a:gd name="connsiteX1" fmla="*/ 914400 w 914400"/>
                  <a:gd name="connsiteY1" fmla="*/ 0 h 822707"/>
                  <a:gd name="connsiteX2" fmla="*/ 914400 w 914400"/>
                  <a:gd name="connsiteY2" fmla="*/ 822707 h 822707"/>
                  <a:gd name="connsiteX3" fmla="*/ 0 w 914400"/>
                  <a:gd name="connsiteY3" fmla="*/ 822707 h 822707"/>
                  <a:gd name="connsiteX4" fmla="*/ 0 w 91440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8288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0 w 937260"/>
                  <a:gd name="connsiteY0" fmla="*/ 0 h 822707"/>
                  <a:gd name="connsiteX1" fmla="*/ 937260 w 937260"/>
                  <a:gd name="connsiteY1" fmla="*/ 125730 h 822707"/>
                  <a:gd name="connsiteX2" fmla="*/ 914400 w 937260"/>
                  <a:gd name="connsiteY2" fmla="*/ 822707 h 822707"/>
                  <a:gd name="connsiteX3" fmla="*/ 0 w 937260"/>
                  <a:gd name="connsiteY3" fmla="*/ 822707 h 822707"/>
                  <a:gd name="connsiteX4" fmla="*/ 0 w 937260"/>
                  <a:gd name="connsiteY4" fmla="*/ 0 h 822707"/>
                  <a:gd name="connsiteX0" fmla="*/ 57150 w 994410"/>
                  <a:gd name="connsiteY0" fmla="*/ 0 h 822707"/>
                  <a:gd name="connsiteX1" fmla="*/ 994410 w 994410"/>
                  <a:gd name="connsiteY1" fmla="*/ 125730 h 822707"/>
                  <a:gd name="connsiteX2" fmla="*/ 971550 w 994410"/>
                  <a:gd name="connsiteY2" fmla="*/ 822707 h 822707"/>
                  <a:gd name="connsiteX3" fmla="*/ 0 w 994410"/>
                  <a:gd name="connsiteY3" fmla="*/ 651257 h 822707"/>
                  <a:gd name="connsiteX4" fmla="*/ 57150 w 994410"/>
                  <a:gd name="connsiteY4" fmla="*/ 0 h 822707"/>
                  <a:gd name="connsiteX0" fmla="*/ 57150 w 994410"/>
                  <a:gd name="connsiteY0" fmla="*/ 0 h 799847"/>
                  <a:gd name="connsiteX1" fmla="*/ 994410 w 994410"/>
                  <a:gd name="connsiteY1" fmla="*/ 125730 h 799847"/>
                  <a:gd name="connsiteX2" fmla="*/ 857250 w 994410"/>
                  <a:gd name="connsiteY2" fmla="*/ 799847 h 799847"/>
                  <a:gd name="connsiteX3" fmla="*/ 0 w 994410"/>
                  <a:gd name="connsiteY3" fmla="*/ 651257 h 799847"/>
                  <a:gd name="connsiteX4" fmla="*/ 57150 w 994410"/>
                  <a:gd name="connsiteY4" fmla="*/ 0 h 799847"/>
                  <a:gd name="connsiteX0" fmla="*/ 57150 w 994410"/>
                  <a:gd name="connsiteY0" fmla="*/ 0 h 811277"/>
                  <a:gd name="connsiteX1" fmla="*/ 994410 w 994410"/>
                  <a:gd name="connsiteY1" fmla="*/ 125730 h 811277"/>
                  <a:gd name="connsiteX2" fmla="*/ 868680 w 994410"/>
                  <a:gd name="connsiteY2" fmla="*/ 811277 h 811277"/>
                  <a:gd name="connsiteX3" fmla="*/ 0 w 994410"/>
                  <a:gd name="connsiteY3" fmla="*/ 651257 h 811277"/>
                  <a:gd name="connsiteX4" fmla="*/ 57150 w 994410"/>
                  <a:gd name="connsiteY4" fmla="*/ 0 h 811277"/>
                  <a:gd name="connsiteX0" fmla="*/ 5715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51257 h 811277"/>
                  <a:gd name="connsiteX4" fmla="*/ 57150 w 982980"/>
                  <a:gd name="connsiteY4" fmla="*/ 0 h 811277"/>
                  <a:gd name="connsiteX0" fmla="*/ 0 w 925830"/>
                  <a:gd name="connsiteY0" fmla="*/ 0 h 811277"/>
                  <a:gd name="connsiteX1" fmla="*/ 925830 w 925830"/>
                  <a:gd name="connsiteY1" fmla="*/ 125730 h 811277"/>
                  <a:gd name="connsiteX2" fmla="*/ 811530 w 925830"/>
                  <a:gd name="connsiteY2" fmla="*/ 811277 h 811277"/>
                  <a:gd name="connsiteX3" fmla="*/ 68580 w 925830"/>
                  <a:gd name="connsiteY3" fmla="*/ 674117 h 811277"/>
                  <a:gd name="connsiteX4" fmla="*/ 0 w 925830"/>
                  <a:gd name="connsiteY4" fmla="*/ 0 h 811277"/>
                  <a:gd name="connsiteX0" fmla="*/ 0 w 914400"/>
                  <a:gd name="connsiteY0" fmla="*/ 0 h 811277"/>
                  <a:gd name="connsiteX1" fmla="*/ 914400 w 914400"/>
                  <a:gd name="connsiteY1" fmla="*/ 125730 h 811277"/>
                  <a:gd name="connsiteX2" fmla="*/ 800100 w 914400"/>
                  <a:gd name="connsiteY2" fmla="*/ 811277 h 811277"/>
                  <a:gd name="connsiteX3" fmla="*/ 57150 w 914400"/>
                  <a:gd name="connsiteY3" fmla="*/ 674117 h 811277"/>
                  <a:gd name="connsiteX4" fmla="*/ 0 w 914400"/>
                  <a:gd name="connsiteY4" fmla="*/ 0 h 811277"/>
                  <a:gd name="connsiteX0" fmla="*/ 68580 w 982980"/>
                  <a:gd name="connsiteY0" fmla="*/ 0 h 811277"/>
                  <a:gd name="connsiteX1" fmla="*/ 982980 w 982980"/>
                  <a:gd name="connsiteY1" fmla="*/ 125730 h 811277"/>
                  <a:gd name="connsiteX2" fmla="*/ 868680 w 982980"/>
                  <a:gd name="connsiteY2" fmla="*/ 811277 h 811277"/>
                  <a:gd name="connsiteX3" fmla="*/ 0 w 982980"/>
                  <a:gd name="connsiteY3" fmla="*/ 662687 h 811277"/>
                  <a:gd name="connsiteX4" fmla="*/ 68580 w 982980"/>
                  <a:gd name="connsiteY4" fmla="*/ 0 h 811277"/>
                  <a:gd name="connsiteX0" fmla="*/ 100330 w 1014730"/>
                  <a:gd name="connsiteY0" fmla="*/ 0 h 811277"/>
                  <a:gd name="connsiteX1" fmla="*/ 1014730 w 1014730"/>
                  <a:gd name="connsiteY1" fmla="*/ 125730 h 811277"/>
                  <a:gd name="connsiteX2" fmla="*/ 900430 w 1014730"/>
                  <a:gd name="connsiteY2" fmla="*/ 811277 h 811277"/>
                  <a:gd name="connsiteX3" fmla="*/ 0 w 1014730"/>
                  <a:gd name="connsiteY3" fmla="*/ 621412 h 811277"/>
                  <a:gd name="connsiteX4" fmla="*/ 100330 w 1014730"/>
                  <a:gd name="connsiteY4" fmla="*/ 0 h 811277"/>
                  <a:gd name="connsiteX0" fmla="*/ 122555 w 1014730"/>
                  <a:gd name="connsiteY0" fmla="*/ 0 h 823977"/>
                  <a:gd name="connsiteX1" fmla="*/ 1014730 w 1014730"/>
                  <a:gd name="connsiteY1" fmla="*/ 138430 h 823977"/>
                  <a:gd name="connsiteX2" fmla="*/ 900430 w 1014730"/>
                  <a:gd name="connsiteY2" fmla="*/ 823977 h 823977"/>
                  <a:gd name="connsiteX3" fmla="*/ 0 w 1014730"/>
                  <a:gd name="connsiteY3" fmla="*/ 634112 h 823977"/>
                  <a:gd name="connsiteX4" fmla="*/ 122555 w 1014730"/>
                  <a:gd name="connsiteY4" fmla="*/ 0 h 823977"/>
                  <a:gd name="connsiteX0" fmla="*/ 100330 w 1014730"/>
                  <a:gd name="connsiteY0" fmla="*/ 0 h 833502"/>
                  <a:gd name="connsiteX1" fmla="*/ 1014730 w 1014730"/>
                  <a:gd name="connsiteY1" fmla="*/ 147955 h 833502"/>
                  <a:gd name="connsiteX2" fmla="*/ 900430 w 1014730"/>
                  <a:gd name="connsiteY2" fmla="*/ 833502 h 833502"/>
                  <a:gd name="connsiteX3" fmla="*/ 0 w 1014730"/>
                  <a:gd name="connsiteY3" fmla="*/ 643637 h 833502"/>
                  <a:gd name="connsiteX4" fmla="*/ 100330 w 1014730"/>
                  <a:gd name="connsiteY4" fmla="*/ 0 h 833502"/>
                  <a:gd name="connsiteX0" fmla="*/ 100330 w 1030605"/>
                  <a:gd name="connsiteY0" fmla="*/ 0 h 833502"/>
                  <a:gd name="connsiteX1" fmla="*/ 1030605 w 1030605"/>
                  <a:gd name="connsiteY1" fmla="*/ 128905 h 833502"/>
                  <a:gd name="connsiteX2" fmla="*/ 900430 w 1030605"/>
                  <a:gd name="connsiteY2" fmla="*/ 833502 h 833502"/>
                  <a:gd name="connsiteX3" fmla="*/ 0 w 1030605"/>
                  <a:gd name="connsiteY3" fmla="*/ 643637 h 833502"/>
                  <a:gd name="connsiteX4" fmla="*/ 100330 w 1030605"/>
                  <a:gd name="connsiteY4" fmla="*/ 0 h 833502"/>
                  <a:gd name="connsiteX0" fmla="*/ 100330 w 1030605"/>
                  <a:gd name="connsiteY0" fmla="*/ 0 h 801752"/>
                  <a:gd name="connsiteX1" fmla="*/ 1030605 w 1030605"/>
                  <a:gd name="connsiteY1" fmla="*/ 128905 h 801752"/>
                  <a:gd name="connsiteX2" fmla="*/ 925830 w 1030605"/>
                  <a:gd name="connsiteY2" fmla="*/ 801752 h 801752"/>
                  <a:gd name="connsiteX3" fmla="*/ 0 w 1030605"/>
                  <a:gd name="connsiteY3" fmla="*/ 643637 h 801752"/>
                  <a:gd name="connsiteX4" fmla="*/ 100330 w 1030605"/>
                  <a:gd name="connsiteY4" fmla="*/ 0 h 801752"/>
                  <a:gd name="connsiteX0" fmla="*/ 113030 w 1043305"/>
                  <a:gd name="connsiteY0" fmla="*/ 0 h 801752"/>
                  <a:gd name="connsiteX1" fmla="*/ 1043305 w 1043305"/>
                  <a:gd name="connsiteY1" fmla="*/ 128905 h 801752"/>
                  <a:gd name="connsiteX2" fmla="*/ 938530 w 1043305"/>
                  <a:gd name="connsiteY2" fmla="*/ 801752 h 801752"/>
                  <a:gd name="connsiteX3" fmla="*/ 0 w 1043305"/>
                  <a:gd name="connsiteY3" fmla="*/ 656337 h 801752"/>
                  <a:gd name="connsiteX4" fmla="*/ 113030 w 1043305"/>
                  <a:gd name="connsiteY4" fmla="*/ 0 h 801752"/>
                  <a:gd name="connsiteX0" fmla="*/ 113030 w 1008380"/>
                  <a:gd name="connsiteY0" fmla="*/ 0 h 801752"/>
                  <a:gd name="connsiteX1" fmla="*/ 1008380 w 1008380"/>
                  <a:gd name="connsiteY1" fmla="*/ 109855 h 801752"/>
                  <a:gd name="connsiteX2" fmla="*/ 938530 w 1008380"/>
                  <a:gd name="connsiteY2" fmla="*/ 801752 h 801752"/>
                  <a:gd name="connsiteX3" fmla="*/ 0 w 1008380"/>
                  <a:gd name="connsiteY3" fmla="*/ 656337 h 801752"/>
                  <a:gd name="connsiteX4" fmla="*/ 113030 w 1008380"/>
                  <a:gd name="connsiteY4" fmla="*/ 0 h 801752"/>
                  <a:gd name="connsiteX0" fmla="*/ 46355 w 1008380"/>
                  <a:gd name="connsiteY0" fmla="*/ 0 h 757302"/>
                  <a:gd name="connsiteX1" fmla="*/ 1008380 w 1008380"/>
                  <a:gd name="connsiteY1" fmla="*/ 65405 h 757302"/>
                  <a:gd name="connsiteX2" fmla="*/ 938530 w 1008380"/>
                  <a:gd name="connsiteY2" fmla="*/ 757302 h 757302"/>
                  <a:gd name="connsiteX3" fmla="*/ 0 w 1008380"/>
                  <a:gd name="connsiteY3" fmla="*/ 611887 h 757302"/>
                  <a:gd name="connsiteX4" fmla="*/ 46355 w 1008380"/>
                  <a:gd name="connsiteY4" fmla="*/ 0 h 757302"/>
                  <a:gd name="connsiteX0" fmla="*/ 0 w 962025"/>
                  <a:gd name="connsiteY0" fmla="*/ 0 h 757302"/>
                  <a:gd name="connsiteX1" fmla="*/ 962025 w 962025"/>
                  <a:gd name="connsiteY1" fmla="*/ 65405 h 757302"/>
                  <a:gd name="connsiteX2" fmla="*/ 892175 w 962025"/>
                  <a:gd name="connsiteY2" fmla="*/ 757302 h 757302"/>
                  <a:gd name="connsiteX3" fmla="*/ 140970 w 962025"/>
                  <a:gd name="connsiteY3" fmla="*/ 621412 h 757302"/>
                  <a:gd name="connsiteX4" fmla="*/ 0 w 962025"/>
                  <a:gd name="connsiteY4" fmla="*/ 0 h 757302"/>
                  <a:gd name="connsiteX0" fmla="*/ 0 w 1016000"/>
                  <a:gd name="connsiteY0" fmla="*/ 0 h 735077"/>
                  <a:gd name="connsiteX1" fmla="*/ 962025 w 1016000"/>
                  <a:gd name="connsiteY1" fmla="*/ 65405 h 735077"/>
                  <a:gd name="connsiteX2" fmla="*/ 1016000 w 1016000"/>
                  <a:gd name="connsiteY2" fmla="*/ 735077 h 735077"/>
                  <a:gd name="connsiteX3" fmla="*/ 140970 w 1016000"/>
                  <a:gd name="connsiteY3" fmla="*/ 621412 h 735077"/>
                  <a:gd name="connsiteX4" fmla="*/ 0 w 1016000"/>
                  <a:gd name="connsiteY4" fmla="*/ 0 h 73507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140970 w 1031875"/>
                  <a:gd name="connsiteY3" fmla="*/ 621412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90170 w 1031875"/>
                  <a:gd name="connsiteY3" fmla="*/ 618237 h 741427"/>
                  <a:gd name="connsiteX4" fmla="*/ 0 w 1031875"/>
                  <a:gd name="connsiteY4" fmla="*/ 0 h 741427"/>
                  <a:gd name="connsiteX0" fmla="*/ 0 w 1031875"/>
                  <a:gd name="connsiteY0" fmla="*/ 0 h 741427"/>
                  <a:gd name="connsiteX1" fmla="*/ 962025 w 1031875"/>
                  <a:gd name="connsiteY1" fmla="*/ 65405 h 741427"/>
                  <a:gd name="connsiteX2" fmla="*/ 1031875 w 1031875"/>
                  <a:gd name="connsiteY2" fmla="*/ 741427 h 741427"/>
                  <a:gd name="connsiteX3" fmla="*/ 83820 w 1031875"/>
                  <a:gd name="connsiteY3" fmla="*/ 637287 h 741427"/>
                  <a:gd name="connsiteX4" fmla="*/ 0 w 1031875"/>
                  <a:gd name="connsiteY4" fmla="*/ 0 h 741427"/>
                  <a:gd name="connsiteX0" fmla="*/ 0 w 1031875"/>
                  <a:gd name="connsiteY0" fmla="*/ 0 h 731902"/>
                  <a:gd name="connsiteX1" fmla="*/ 962025 w 1031875"/>
                  <a:gd name="connsiteY1" fmla="*/ 65405 h 731902"/>
                  <a:gd name="connsiteX2" fmla="*/ 1031875 w 1031875"/>
                  <a:gd name="connsiteY2" fmla="*/ 731902 h 731902"/>
                  <a:gd name="connsiteX3" fmla="*/ 83820 w 1031875"/>
                  <a:gd name="connsiteY3" fmla="*/ 637287 h 731902"/>
                  <a:gd name="connsiteX4" fmla="*/ 0 w 1031875"/>
                  <a:gd name="connsiteY4" fmla="*/ 0 h 731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1875" h="731902">
                    <a:moveTo>
                      <a:pt x="0" y="0"/>
                    </a:moveTo>
                    <a:lnTo>
                      <a:pt x="962025" y="65405"/>
                    </a:lnTo>
                    <a:lnTo>
                      <a:pt x="1031875" y="731902"/>
                    </a:lnTo>
                    <a:lnTo>
                      <a:pt x="83820" y="63728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86"/>
              <p:cNvSpPr/>
              <p:nvPr/>
            </p:nvSpPr>
            <p:spPr>
              <a:xfrm>
                <a:off x="7943123" y="1738573"/>
                <a:ext cx="603212" cy="463415"/>
              </a:xfrm>
              <a:custGeom>
                <a:avLst/>
                <a:gdLst>
                  <a:gd name="connsiteX0" fmla="*/ 0 w 777875"/>
                  <a:gd name="connsiteY0" fmla="*/ 0 h 815975"/>
                  <a:gd name="connsiteX1" fmla="*/ 777875 w 777875"/>
                  <a:gd name="connsiteY1" fmla="*/ 0 h 815975"/>
                  <a:gd name="connsiteX2" fmla="*/ 777875 w 777875"/>
                  <a:gd name="connsiteY2" fmla="*/ 815975 h 815975"/>
                  <a:gd name="connsiteX3" fmla="*/ 0 w 777875"/>
                  <a:gd name="connsiteY3" fmla="*/ 815975 h 815975"/>
                  <a:gd name="connsiteX4" fmla="*/ 0 w 777875"/>
                  <a:gd name="connsiteY4" fmla="*/ 0 h 815975"/>
                  <a:gd name="connsiteX0" fmla="*/ 0 w 939800"/>
                  <a:gd name="connsiteY0" fmla="*/ 0 h 815975"/>
                  <a:gd name="connsiteX1" fmla="*/ 939800 w 939800"/>
                  <a:gd name="connsiteY1" fmla="*/ 88900 h 815975"/>
                  <a:gd name="connsiteX2" fmla="*/ 777875 w 939800"/>
                  <a:gd name="connsiteY2" fmla="*/ 815975 h 815975"/>
                  <a:gd name="connsiteX3" fmla="*/ 0 w 939800"/>
                  <a:gd name="connsiteY3" fmla="*/ 815975 h 815975"/>
                  <a:gd name="connsiteX4" fmla="*/ 0 w 939800"/>
                  <a:gd name="connsiteY4" fmla="*/ 0 h 815975"/>
                  <a:gd name="connsiteX0" fmla="*/ 15875 w 939800"/>
                  <a:gd name="connsiteY0" fmla="*/ 0 h 838200"/>
                  <a:gd name="connsiteX1" fmla="*/ 939800 w 939800"/>
                  <a:gd name="connsiteY1" fmla="*/ 111125 h 838200"/>
                  <a:gd name="connsiteX2" fmla="*/ 777875 w 939800"/>
                  <a:gd name="connsiteY2" fmla="*/ 838200 h 838200"/>
                  <a:gd name="connsiteX3" fmla="*/ 0 w 939800"/>
                  <a:gd name="connsiteY3" fmla="*/ 838200 h 838200"/>
                  <a:gd name="connsiteX4" fmla="*/ 15875 w 939800"/>
                  <a:gd name="connsiteY4" fmla="*/ 0 h 838200"/>
                  <a:gd name="connsiteX0" fmla="*/ 127000 w 1050925"/>
                  <a:gd name="connsiteY0" fmla="*/ 0 h 838200"/>
                  <a:gd name="connsiteX1" fmla="*/ 1050925 w 1050925"/>
                  <a:gd name="connsiteY1" fmla="*/ 111125 h 838200"/>
                  <a:gd name="connsiteX2" fmla="*/ 889000 w 1050925"/>
                  <a:gd name="connsiteY2" fmla="*/ 838200 h 838200"/>
                  <a:gd name="connsiteX3" fmla="*/ 0 w 1050925"/>
                  <a:gd name="connsiteY3" fmla="*/ 650875 h 838200"/>
                  <a:gd name="connsiteX4" fmla="*/ 127000 w 1050925"/>
                  <a:gd name="connsiteY4" fmla="*/ 0 h 838200"/>
                  <a:gd name="connsiteX0" fmla="*/ 117475 w 1050925"/>
                  <a:gd name="connsiteY0" fmla="*/ 0 h 828675"/>
                  <a:gd name="connsiteX1" fmla="*/ 1050925 w 1050925"/>
                  <a:gd name="connsiteY1" fmla="*/ 101600 h 828675"/>
                  <a:gd name="connsiteX2" fmla="*/ 889000 w 1050925"/>
                  <a:gd name="connsiteY2" fmla="*/ 828675 h 828675"/>
                  <a:gd name="connsiteX3" fmla="*/ 0 w 1050925"/>
                  <a:gd name="connsiteY3" fmla="*/ 641350 h 828675"/>
                  <a:gd name="connsiteX4" fmla="*/ 117475 w 1050925"/>
                  <a:gd name="connsiteY4" fmla="*/ 0 h 828675"/>
                  <a:gd name="connsiteX0" fmla="*/ 117475 w 1050925"/>
                  <a:gd name="connsiteY0" fmla="*/ 0 h 803275"/>
                  <a:gd name="connsiteX1" fmla="*/ 1050925 w 1050925"/>
                  <a:gd name="connsiteY1" fmla="*/ 101600 h 803275"/>
                  <a:gd name="connsiteX2" fmla="*/ 933450 w 1050925"/>
                  <a:gd name="connsiteY2" fmla="*/ 803275 h 803275"/>
                  <a:gd name="connsiteX3" fmla="*/ 0 w 1050925"/>
                  <a:gd name="connsiteY3" fmla="*/ 641350 h 803275"/>
                  <a:gd name="connsiteX4" fmla="*/ 117475 w 1050925"/>
                  <a:gd name="connsiteY4" fmla="*/ 0 h 80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0925" h="803275">
                    <a:moveTo>
                      <a:pt x="117475" y="0"/>
                    </a:moveTo>
                    <a:lnTo>
                      <a:pt x="1050925" y="101600"/>
                    </a:lnTo>
                    <a:lnTo>
                      <a:pt x="933450" y="803275"/>
                    </a:lnTo>
                    <a:lnTo>
                      <a:pt x="0" y="641350"/>
                    </a:lnTo>
                    <a:lnTo>
                      <a:pt x="117475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7A06AC0F-BB4C-999C-73AD-E0A9196B85E3}"/>
                </a:ext>
              </a:extLst>
            </p:cNvPr>
            <p:cNvSpPr txBox="1"/>
            <p:nvPr/>
          </p:nvSpPr>
          <p:spPr>
            <a:xfrm>
              <a:off x="6225038" y="3183864"/>
              <a:ext cx="10640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/>
                <a:t>운용통제 </a:t>
              </a:r>
              <a:r>
                <a:rPr lang="en-US" altLang="ko-KR" sz="1050" b="1" dirty="0"/>
                <a:t>#1</a:t>
              </a:r>
              <a:endParaRPr lang="ko-KR" altLang="en-US" sz="105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6308AD5-63CB-F7F2-17F2-D97CFACBFE4D}"/>
                </a:ext>
              </a:extLst>
            </p:cNvPr>
            <p:cNvSpPr txBox="1"/>
            <p:nvPr/>
          </p:nvSpPr>
          <p:spPr>
            <a:xfrm>
              <a:off x="7943286" y="3183864"/>
              <a:ext cx="10640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/>
                <a:t>운용통제 </a:t>
              </a:r>
              <a:r>
                <a:rPr lang="en-US" altLang="ko-KR" sz="1050" b="1" dirty="0"/>
                <a:t>#2</a:t>
              </a:r>
              <a:endParaRPr lang="ko-KR" altLang="en-US" sz="1050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D2012772-4F03-8846-F7C1-08412DA8D2C3}"/>
                </a:ext>
              </a:extLst>
            </p:cNvPr>
            <p:cNvSpPr txBox="1"/>
            <p:nvPr/>
          </p:nvSpPr>
          <p:spPr>
            <a:xfrm>
              <a:off x="9635972" y="3183864"/>
              <a:ext cx="10640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b="1" dirty="0"/>
                <a:t>운용통제 </a:t>
              </a:r>
              <a:r>
                <a:rPr lang="en-US" altLang="ko-KR" sz="1050" b="1" dirty="0"/>
                <a:t>#3</a:t>
              </a:r>
              <a:endParaRPr lang="ko-KR" altLang="en-US" sz="1050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56E0FE35-48D0-DDE1-4598-BB11A08B8286}"/>
                </a:ext>
              </a:extLst>
            </p:cNvPr>
            <p:cNvSpPr txBox="1"/>
            <p:nvPr/>
          </p:nvSpPr>
          <p:spPr>
            <a:xfrm>
              <a:off x="7712693" y="6363185"/>
              <a:ext cx="10640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/>
                <a:t>임무통제 </a:t>
              </a:r>
              <a:endParaRPr lang="ko-KR" altLang="en-US" sz="1100" b="1" dirty="0"/>
            </a:p>
          </p:txBody>
        </p:sp>
        <p:sp>
          <p:nvSpPr>
            <p:cNvPr id="24" name="정육면체 23">
              <a:extLst>
                <a:ext uri="{FF2B5EF4-FFF2-40B4-BE49-F238E27FC236}">
                  <a16:creationId xmlns:a16="http://schemas.microsoft.com/office/drawing/2014/main" xmlns="" id="{4750078A-D69D-A4CF-2EB6-6289D4B0997D}"/>
                </a:ext>
              </a:extLst>
            </p:cNvPr>
            <p:cNvSpPr/>
            <p:nvPr/>
          </p:nvSpPr>
          <p:spPr>
            <a:xfrm>
              <a:off x="10280748" y="5021401"/>
              <a:ext cx="292002" cy="716063"/>
            </a:xfrm>
            <a:prstGeom prst="cube">
              <a:avLst>
                <a:gd name="adj" fmla="val 85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0000101010101" charset="-127"/>
                <a:ea typeface="나눔바른고딕" panose="020B0600000101010101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F3202A2-3CA7-B6F0-BCE3-41923FAF8995}"/>
                </a:ext>
              </a:extLst>
            </p:cNvPr>
            <p:cNvSpPr txBox="1"/>
            <p:nvPr/>
          </p:nvSpPr>
          <p:spPr>
            <a:xfrm>
              <a:off x="9892259" y="5980310"/>
              <a:ext cx="10640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/>
                <a:t>임무처리</a:t>
              </a:r>
              <a:r>
                <a:rPr lang="en-US" altLang="ko-KR" sz="1100" b="1" dirty="0"/>
                <a:t> SW(KIRO)</a:t>
              </a:r>
              <a:endParaRPr lang="ko-KR" altLang="en-US" sz="1100" b="1" dirty="0"/>
            </a:p>
          </p:txBody>
        </p:sp>
        <p:sp>
          <p:nvSpPr>
            <p:cNvPr id="26" name="화살표: 왼쪽/오른쪽 23">
              <a:extLst>
                <a:ext uri="{FF2B5EF4-FFF2-40B4-BE49-F238E27FC236}">
                  <a16:creationId xmlns:a16="http://schemas.microsoft.com/office/drawing/2014/main" xmlns="" id="{638F4CCF-72FE-A080-F77E-E037ECB2F3D6}"/>
                </a:ext>
              </a:extLst>
            </p:cNvPr>
            <p:cNvSpPr/>
            <p:nvPr/>
          </p:nvSpPr>
          <p:spPr>
            <a:xfrm>
              <a:off x="9232452" y="5394495"/>
              <a:ext cx="789038" cy="117987"/>
            </a:xfrm>
            <a:prstGeom prst="leftRight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5762625" y="3829050"/>
              <a:ext cx="5193706" cy="76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꺾인 연결선 27"/>
            <p:cNvCxnSpPr>
              <a:stCxn id="20" idx="2"/>
              <a:endCxn id="27" idx="0"/>
            </p:cNvCxnSpPr>
            <p:nvPr/>
          </p:nvCxnSpPr>
          <p:spPr>
            <a:xfrm rot="16200000" flipH="1">
              <a:off x="7366488" y="2836060"/>
              <a:ext cx="383576" cy="1602404"/>
            </a:xfrm>
            <a:prstGeom prst="bentConnector3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꺾인 연결선 28"/>
            <p:cNvCxnSpPr>
              <a:stCxn id="21" idx="2"/>
              <a:endCxn id="27" idx="0"/>
            </p:cNvCxnSpPr>
            <p:nvPr/>
          </p:nvCxnSpPr>
          <p:spPr>
            <a:xfrm rot="5400000">
              <a:off x="8225612" y="3579340"/>
              <a:ext cx="383576" cy="115844"/>
            </a:xfrm>
            <a:prstGeom prst="bentConnector3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꺾인 연결선 29"/>
            <p:cNvCxnSpPr>
              <a:stCxn id="22" idx="2"/>
              <a:endCxn id="27" idx="0"/>
            </p:cNvCxnSpPr>
            <p:nvPr/>
          </p:nvCxnSpPr>
          <p:spPr>
            <a:xfrm rot="5400000">
              <a:off x="9071955" y="2732997"/>
              <a:ext cx="383576" cy="1808530"/>
            </a:xfrm>
            <a:prstGeom prst="bentConnector3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위쪽/아래쪽 화살표 30"/>
            <p:cNvSpPr/>
            <p:nvPr/>
          </p:nvSpPr>
          <p:spPr>
            <a:xfrm>
              <a:off x="8283901" y="3971433"/>
              <a:ext cx="184447" cy="395900"/>
            </a:xfrm>
            <a:prstGeom prst="up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6108357" y="1057209"/>
              <a:ext cx="4722270" cy="264103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846163" y="4121714"/>
            <a:ext cx="3946975" cy="2473998"/>
            <a:chOff x="846163" y="4121714"/>
            <a:chExt cx="3946975" cy="2473998"/>
          </a:xfrm>
        </p:grpSpPr>
        <p:grpSp>
          <p:nvGrpSpPr>
            <p:cNvPr id="51" name="그룹 50"/>
            <p:cNvGrpSpPr/>
            <p:nvPr/>
          </p:nvGrpSpPr>
          <p:grpSpPr>
            <a:xfrm>
              <a:off x="846163" y="4121714"/>
              <a:ext cx="3946975" cy="2473998"/>
              <a:chOff x="846163" y="4121714"/>
              <a:chExt cx="3946975" cy="2473998"/>
            </a:xfrm>
          </p:grpSpPr>
          <p:pic>
            <p:nvPicPr>
              <p:cNvPr id="42" name="그림 4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8447" y="4432602"/>
                <a:ext cx="3884691" cy="2163110"/>
              </a:xfrm>
              <a:prstGeom prst="rect">
                <a:avLst/>
              </a:prstGeom>
            </p:spPr>
          </p:pic>
          <p:pic>
            <p:nvPicPr>
              <p:cNvPr id="43" name="그림 4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972" y="4993203"/>
                <a:ext cx="1125774" cy="570286"/>
              </a:xfrm>
              <a:prstGeom prst="rect">
                <a:avLst/>
              </a:prstGeom>
              <a:ln w="38100">
                <a:noFill/>
              </a:ln>
            </p:spPr>
          </p:pic>
          <p:sp>
            <p:nvSpPr>
              <p:cNvPr id="44" name="TextBox 43"/>
              <p:cNvSpPr txBox="1"/>
              <p:nvPr/>
            </p:nvSpPr>
            <p:spPr>
              <a:xfrm>
                <a:off x="846163" y="4121714"/>
                <a:ext cx="32352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smtClean="0"/>
                  <a:t>임무통제 제어 </a:t>
                </a:r>
                <a:r>
                  <a:rPr lang="en-US" altLang="ko-KR" sz="1400" b="1" smtClean="0"/>
                  <a:t>SW</a:t>
                </a:r>
                <a:endParaRPr lang="ko-KR" altLang="en-US" sz="1400" b="1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1084163" y="5264748"/>
                <a:ext cx="302599" cy="1297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1431068" y="5264748"/>
                <a:ext cx="302599" cy="129747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" name="그룹 52"/>
            <p:cNvGrpSpPr/>
            <p:nvPr/>
          </p:nvGrpSpPr>
          <p:grpSpPr>
            <a:xfrm>
              <a:off x="3191642" y="5086387"/>
              <a:ext cx="1489361" cy="477102"/>
              <a:chOff x="4643868" y="3336847"/>
              <a:chExt cx="1498887" cy="993492"/>
            </a:xfrm>
          </p:grpSpPr>
          <p:sp>
            <p:nvSpPr>
              <p:cNvPr id="54" name="아래쪽 화살표 53"/>
              <p:cNvSpPr/>
              <p:nvPr/>
            </p:nvSpPr>
            <p:spPr>
              <a:xfrm>
                <a:off x="5107707" y="3442990"/>
                <a:ext cx="221673" cy="27671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아래쪽 화살표 54"/>
              <p:cNvSpPr/>
              <p:nvPr/>
            </p:nvSpPr>
            <p:spPr>
              <a:xfrm>
                <a:off x="4885025" y="3751624"/>
                <a:ext cx="221673" cy="276714"/>
              </a:xfrm>
              <a:prstGeom prst="downArrow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아래쪽 화살표 55"/>
              <p:cNvSpPr/>
              <p:nvPr/>
            </p:nvSpPr>
            <p:spPr>
              <a:xfrm>
                <a:off x="4643868" y="4053625"/>
                <a:ext cx="221673" cy="276714"/>
              </a:xfrm>
              <a:prstGeom prst="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134260" y="3336847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254-124-375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4985228" y="3775585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254-125-365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4693512" y="4038509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254-134-365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309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그룹 97"/>
          <p:cNvGrpSpPr/>
          <p:nvPr/>
        </p:nvGrpSpPr>
        <p:grpSpPr>
          <a:xfrm>
            <a:off x="6138942" y="1480392"/>
            <a:ext cx="1133584" cy="1520651"/>
            <a:chOff x="5469822" y="1255494"/>
            <a:chExt cx="1396376" cy="1884407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9822" y="1255494"/>
              <a:ext cx="1396376" cy="1884407"/>
            </a:xfrm>
            <a:prstGeom prst="rect">
              <a:avLst/>
            </a:prstGeom>
          </p:spPr>
        </p:pic>
        <p:sp>
          <p:nvSpPr>
            <p:cNvPr id="86" name="직사각형 85"/>
            <p:cNvSpPr/>
            <p:nvPr/>
          </p:nvSpPr>
          <p:spPr>
            <a:xfrm>
              <a:off x="5963698" y="1316439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5952398" y="1717577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7546541" y="4339250"/>
            <a:ext cx="1396376" cy="1884407"/>
            <a:chOff x="1299198" y="2161308"/>
            <a:chExt cx="2432789" cy="3266399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9198" y="2161308"/>
              <a:ext cx="2432789" cy="3266399"/>
            </a:xfrm>
            <a:prstGeom prst="rect">
              <a:avLst/>
            </a:prstGeom>
          </p:spPr>
        </p:pic>
        <p:sp>
          <p:nvSpPr>
            <p:cNvPr id="95" name="직사각형 85"/>
            <p:cNvSpPr/>
            <p:nvPr/>
          </p:nvSpPr>
          <p:spPr>
            <a:xfrm>
              <a:off x="2159636" y="2266949"/>
              <a:ext cx="1031875" cy="731902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86"/>
            <p:cNvSpPr/>
            <p:nvPr/>
          </p:nvSpPr>
          <p:spPr>
            <a:xfrm>
              <a:off x="2139950" y="2962275"/>
              <a:ext cx="1050925" cy="80327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7809333" y="1431212"/>
            <a:ext cx="1133584" cy="1520651"/>
            <a:chOff x="7460547" y="1276490"/>
            <a:chExt cx="1396376" cy="1884407"/>
          </a:xfrm>
        </p:grpSpPr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101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9531633" y="1431212"/>
            <a:ext cx="1133584" cy="1520651"/>
            <a:chOff x="7460547" y="1276490"/>
            <a:chExt cx="1396376" cy="1884407"/>
          </a:xfrm>
        </p:grpSpPr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106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xmlns="" id="{7A06AC0F-BB4C-999C-73AD-E0A9196B85E3}"/>
              </a:ext>
            </a:extLst>
          </p:cNvPr>
          <p:cNvSpPr txBox="1"/>
          <p:nvPr/>
        </p:nvSpPr>
        <p:spPr>
          <a:xfrm>
            <a:off x="6225038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#1</a:t>
            </a:r>
            <a:endParaRPr lang="ko-KR" altLang="en-US" sz="105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46308AD5-63CB-F7F2-17F2-D97CFACBFE4D}"/>
              </a:ext>
            </a:extLst>
          </p:cNvPr>
          <p:cNvSpPr txBox="1"/>
          <p:nvPr/>
        </p:nvSpPr>
        <p:spPr>
          <a:xfrm>
            <a:off x="7943286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#2</a:t>
            </a:r>
            <a:endParaRPr lang="ko-KR" altLang="en-US" sz="105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D2012772-4F03-8846-F7C1-08412DA8D2C3}"/>
              </a:ext>
            </a:extLst>
          </p:cNvPr>
          <p:cNvSpPr txBox="1"/>
          <p:nvPr/>
        </p:nvSpPr>
        <p:spPr>
          <a:xfrm>
            <a:off x="9635972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#3</a:t>
            </a:r>
            <a:endParaRPr lang="ko-KR" altLang="en-US" sz="105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56E0FE35-48D0-DDE1-4598-BB11A08B8286}"/>
              </a:ext>
            </a:extLst>
          </p:cNvPr>
          <p:cNvSpPr txBox="1"/>
          <p:nvPr/>
        </p:nvSpPr>
        <p:spPr>
          <a:xfrm>
            <a:off x="7712693" y="6363185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임무통제 </a:t>
            </a:r>
            <a:r>
              <a:rPr lang="en-US" altLang="ko-KR" sz="1100" b="1" dirty="0"/>
              <a:t>#1</a:t>
            </a:r>
            <a:endParaRPr lang="ko-KR" altLang="en-US" sz="1100" b="1" dirty="0"/>
          </a:p>
        </p:txBody>
      </p:sp>
      <p:sp>
        <p:nvSpPr>
          <p:cNvPr id="114" name="정육면체 113">
            <a:extLst>
              <a:ext uri="{FF2B5EF4-FFF2-40B4-BE49-F238E27FC236}">
                <a16:creationId xmlns:a16="http://schemas.microsoft.com/office/drawing/2014/main" xmlns="" id="{4750078A-D69D-A4CF-2EB6-6289D4B0997D}"/>
              </a:ext>
            </a:extLst>
          </p:cNvPr>
          <p:cNvSpPr/>
          <p:nvPr/>
        </p:nvSpPr>
        <p:spPr>
          <a:xfrm>
            <a:off x="10280748" y="5021401"/>
            <a:ext cx="292002" cy="716063"/>
          </a:xfrm>
          <a:prstGeom prst="cube">
            <a:avLst>
              <a:gd name="adj" fmla="val 85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FF3202A2-3CA7-B6F0-BCE3-41923FAF8995}"/>
              </a:ext>
            </a:extLst>
          </p:cNvPr>
          <p:cNvSpPr txBox="1"/>
          <p:nvPr/>
        </p:nvSpPr>
        <p:spPr>
          <a:xfrm>
            <a:off x="9892259" y="5980310"/>
            <a:ext cx="1064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임무처리</a:t>
            </a:r>
            <a:r>
              <a:rPr lang="en-US" altLang="ko-KR" sz="1100" b="1" dirty="0"/>
              <a:t> SW(KIRO)</a:t>
            </a:r>
            <a:endParaRPr lang="ko-KR" altLang="en-US" sz="1100" b="1" dirty="0"/>
          </a:p>
        </p:txBody>
      </p:sp>
      <p:sp>
        <p:nvSpPr>
          <p:cNvPr id="116" name="화살표: 왼쪽/오른쪽 23">
            <a:extLst>
              <a:ext uri="{FF2B5EF4-FFF2-40B4-BE49-F238E27FC236}">
                <a16:creationId xmlns:a16="http://schemas.microsoft.com/office/drawing/2014/main" xmlns="" id="{638F4CCF-72FE-A080-F77E-E037ECB2F3D6}"/>
              </a:ext>
            </a:extLst>
          </p:cNvPr>
          <p:cNvSpPr/>
          <p:nvPr/>
        </p:nvSpPr>
        <p:spPr>
          <a:xfrm>
            <a:off x="9232452" y="5394495"/>
            <a:ext cx="789038" cy="117987"/>
          </a:xfrm>
          <a:prstGeom prst="left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/>
          <p:cNvSpPr/>
          <p:nvPr/>
        </p:nvSpPr>
        <p:spPr>
          <a:xfrm>
            <a:off x="5762625" y="3829050"/>
            <a:ext cx="5193706" cy="76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꺾인 연결선 124"/>
          <p:cNvCxnSpPr>
            <a:stCxn id="108" idx="2"/>
            <a:endCxn id="121" idx="0"/>
          </p:cNvCxnSpPr>
          <p:nvPr/>
        </p:nvCxnSpPr>
        <p:spPr>
          <a:xfrm rot="16200000" flipH="1">
            <a:off x="7366488" y="2836060"/>
            <a:ext cx="383576" cy="1602404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109" idx="2"/>
            <a:endCxn id="121" idx="0"/>
          </p:cNvCxnSpPr>
          <p:nvPr/>
        </p:nvCxnSpPr>
        <p:spPr>
          <a:xfrm rot="5400000">
            <a:off x="8225612" y="3579340"/>
            <a:ext cx="383576" cy="115844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110" idx="2"/>
            <a:endCxn id="121" idx="0"/>
          </p:cNvCxnSpPr>
          <p:nvPr/>
        </p:nvCxnSpPr>
        <p:spPr>
          <a:xfrm rot="5400000">
            <a:off x="9071955" y="2732997"/>
            <a:ext cx="383576" cy="1808530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위쪽/아래쪽 화살표 129"/>
          <p:cNvSpPr/>
          <p:nvPr/>
        </p:nvSpPr>
        <p:spPr>
          <a:xfrm>
            <a:off x="8283901" y="3971433"/>
            <a:ext cx="184447" cy="395900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2" name="그림 1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47" y="1566423"/>
            <a:ext cx="3884692" cy="2185140"/>
          </a:xfrm>
          <a:prstGeom prst="rect">
            <a:avLst/>
          </a:prstGeom>
        </p:spPr>
      </p:pic>
      <p:pic>
        <p:nvPicPr>
          <p:cNvPr id="133" name="그림 1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0453" y="1699938"/>
            <a:ext cx="2742685" cy="1321177"/>
          </a:xfrm>
          <a:prstGeom prst="rect">
            <a:avLst/>
          </a:prstGeom>
          <a:ln w="38100">
            <a:noFill/>
          </a:ln>
        </p:spPr>
      </p:pic>
      <p:sp>
        <p:nvSpPr>
          <p:cNvPr id="134" name="직사각형 133"/>
          <p:cNvSpPr/>
          <p:nvPr/>
        </p:nvSpPr>
        <p:spPr>
          <a:xfrm>
            <a:off x="2248271" y="2396530"/>
            <a:ext cx="790575" cy="226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/>
          <p:cNvSpPr/>
          <p:nvPr/>
        </p:nvSpPr>
        <p:spPr>
          <a:xfrm>
            <a:off x="3232274" y="2396530"/>
            <a:ext cx="520947" cy="22698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/>
          <p:cNvSpPr/>
          <p:nvPr/>
        </p:nvSpPr>
        <p:spPr>
          <a:xfrm>
            <a:off x="3820990" y="2396530"/>
            <a:ext cx="520947" cy="22698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xmlns="" id="{571BFC8F-91BD-3A6B-AEEE-2456AD5634A3}"/>
              </a:ext>
            </a:extLst>
          </p:cNvPr>
          <p:cNvSpPr txBox="1"/>
          <p:nvPr/>
        </p:nvSpPr>
        <p:spPr>
          <a:xfrm>
            <a:off x="925102" y="3971433"/>
            <a:ext cx="3868035" cy="17851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100"/>
              <a:t>&lt;</a:t>
            </a:r>
            <a:r>
              <a:rPr lang="ko-KR" altLang="en-US" sz="1100" smtClean="0"/>
              <a:t>기능 </a:t>
            </a:r>
            <a:r>
              <a:rPr lang="en-US" altLang="ko-KR" sz="1100" smtClean="0"/>
              <a:t>&gt;</a:t>
            </a:r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로봇 </a:t>
            </a:r>
            <a:r>
              <a:rPr lang="en-US" altLang="ko-KR" sz="1100" smtClean="0"/>
              <a:t>#1 </a:t>
            </a:r>
            <a:r>
              <a:rPr lang="ko-KR" altLang="en-US" sz="1100" smtClean="0"/>
              <a:t>제어</a:t>
            </a:r>
            <a:r>
              <a:rPr lang="en-US" altLang="ko-KR" sz="1100"/>
              <a:t> </a:t>
            </a:r>
            <a:r>
              <a:rPr lang="en-US" altLang="ko-KR" sz="1100" smtClean="0"/>
              <a:t>&gt; </a:t>
            </a:r>
            <a:r>
              <a:rPr lang="ko-KR" altLang="en-US" sz="1100" smtClean="0"/>
              <a:t>운영제어 자율</a:t>
            </a:r>
            <a:r>
              <a:rPr lang="en-US" altLang="ko-KR" sz="1100" smtClean="0"/>
              <a:t>/</a:t>
            </a:r>
            <a:r>
              <a:rPr lang="ko-KR" altLang="en-US" sz="1100" smtClean="0"/>
              <a:t>수동 이동</a:t>
            </a:r>
            <a:r>
              <a:rPr lang="en-US" altLang="ko-KR" sz="1100" smtClean="0"/>
              <a:t>, </a:t>
            </a:r>
            <a:r>
              <a:rPr lang="ko-KR" altLang="en-US" sz="1100" smtClean="0"/>
              <a:t>회기</a:t>
            </a:r>
            <a:r>
              <a:rPr lang="en-US" altLang="ko-KR" sz="1100"/>
              <a:t> </a:t>
            </a:r>
            <a:r>
              <a:rPr lang="ko-KR" altLang="en-US" sz="1100" smtClean="0"/>
              <a:t>등</a:t>
            </a:r>
            <a:endParaRPr lang="en-US" altLang="ko-KR" sz="1100" smtClean="0"/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로봇 영상 모니터링</a:t>
            </a:r>
            <a:r>
              <a:rPr lang="en-US" altLang="ko-KR" sz="1100" smtClean="0"/>
              <a:t>&gt; : </a:t>
            </a:r>
            <a:r>
              <a:rPr lang="ko-KR" altLang="en-US" sz="1100" smtClean="0"/>
              <a:t>로봇영상 제어 및 모니터링</a:t>
            </a:r>
            <a:endParaRPr lang="en-US" altLang="ko-KR" sz="1100" smtClean="0"/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분석영상 모니터링</a:t>
            </a:r>
            <a:r>
              <a:rPr lang="en-US" altLang="ko-KR" sz="1100" smtClean="0"/>
              <a:t>&gt; : </a:t>
            </a:r>
            <a:r>
              <a:rPr lang="ko-KR" altLang="en-US" sz="1100" smtClean="0"/>
              <a:t>영상 분석</a:t>
            </a:r>
            <a:r>
              <a:rPr lang="en-US" altLang="ko-KR" sz="1100" smtClean="0"/>
              <a:t>, </a:t>
            </a:r>
            <a:r>
              <a:rPr lang="ko-KR" altLang="en-US" sz="1100" smtClean="0"/>
              <a:t>정보 제공</a:t>
            </a:r>
            <a:endParaRPr lang="en-US" altLang="ko-KR" sz="1100" smtClean="0"/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위치표시</a:t>
            </a:r>
            <a:r>
              <a:rPr lang="en-US" altLang="ko-KR" sz="1100" smtClean="0"/>
              <a:t>&gt; : </a:t>
            </a:r>
            <a:r>
              <a:rPr lang="ko-KR" altLang="en-US" sz="1100" smtClean="0"/>
              <a:t>위치정보 표시</a:t>
            </a:r>
            <a:endParaRPr lang="ko-KR" altLang="en-US" sz="1100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임무통제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SW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구분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9" name="오른쪽 화살표 148"/>
          <p:cNvSpPr/>
          <p:nvPr/>
        </p:nvSpPr>
        <p:spPr>
          <a:xfrm>
            <a:off x="5162550" y="2170301"/>
            <a:ext cx="600075" cy="679443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846164" y="1197754"/>
            <a:ext cx="3235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mtClean="0"/>
              <a:t>운용통제 제어 </a:t>
            </a:r>
            <a:r>
              <a:rPr lang="en-US" altLang="ko-KR" sz="1400" b="1" smtClean="0"/>
              <a:t>SW</a:t>
            </a:r>
            <a:endParaRPr lang="ko-KR" altLang="en-US" sz="1400" b="1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08357" y="1057209"/>
            <a:ext cx="4722270" cy="264103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6193906" y="3985862"/>
            <a:ext cx="4722270" cy="2641036"/>
          </a:xfrm>
          <a:prstGeom prst="roundRect">
            <a:avLst>
              <a:gd name="adj" fmla="val 40984"/>
            </a:avLst>
          </a:prstGeom>
          <a:solidFill>
            <a:schemeClr val="accent4">
              <a:lumMod val="7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867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138942" y="1480392"/>
            <a:ext cx="1133584" cy="1520651"/>
            <a:chOff x="5469822" y="1255494"/>
            <a:chExt cx="1396376" cy="188440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9822" y="1255494"/>
              <a:ext cx="1396376" cy="1884407"/>
            </a:xfrm>
            <a:prstGeom prst="rect">
              <a:avLst/>
            </a:prstGeom>
          </p:spPr>
        </p:pic>
        <p:sp>
          <p:nvSpPr>
            <p:cNvPr id="6" name="직사각형 85"/>
            <p:cNvSpPr/>
            <p:nvPr/>
          </p:nvSpPr>
          <p:spPr>
            <a:xfrm>
              <a:off x="5963698" y="1316439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86"/>
            <p:cNvSpPr/>
            <p:nvPr/>
          </p:nvSpPr>
          <p:spPr>
            <a:xfrm>
              <a:off x="5952398" y="1717577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7546541" y="4339250"/>
            <a:ext cx="1396376" cy="1884407"/>
            <a:chOff x="1299198" y="2161308"/>
            <a:chExt cx="2432789" cy="326639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9198" y="2161308"/>
              <a:ext cx="2432789" cy="3266399"/>
            </a:xfrm>
            <a:prstGeom prst="rect">
              <a:avLst/>
            </a:prstGeom>
          </p:spPr>
        </p:pic>
        <p:sp>
          <p:nvSpPr>
            <p:cNvPr id="10" name="직사각형 85"/>
            <p:cNvSpPr/>
            <p:nvPr/>
          </p:nvSpPr>
          <p:spPr>
            <a:xfrm>
              <a:off x="2159636" y="2266949"/>
              <a:ext cx="1031875" cy="731902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86"/>
            <p:cNvSpPr/>
            <p:nvPr/>
          </p:nvSpPr>
          <p:spPr>
            <a:xfrm>
              <a:off x="2139950" y="2962275"/>
              <a:ext cx="1050925" cy="80327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809333" y="1431212"/>
            <a:ext cx="1133584" cy="1520651"/>
            <a:chOff x="7460547" y="1276490"/>
            <a:chExt cx="1396376" cy="188440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14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9531633" y="1431212"/>
            <a:ext cx="1133584" cy="1520651"/>
            <a:chOff x="7460547" y="1276490"/>
            <a:chExt cx="1396376" cy="1884407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18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A06AC0F-BB4C-999C-73AD-E0A9196B85E3}"/>
              </a:ext>
            </a:extLst>
          </p:cNvPr>
          <p:cNvSpPr txBox="1"/>
          <p:nvPr/>
        </p:nvSpPr>
        <p:spPr>
          <a:xfrm>
            <a:off x="6225038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#1</a:t>
            </a:r>
            <a:endParaRPr lang="ko-KR" altLang="en-US" sz="105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6308AD5-63CB-F7F2-17F2-D97CFACBFE4D}"/>
              </a:ext>
            </a:extLst>
          </p:cNvPr>
          <p:cNvSpPr txBox="1"/>
          <p:nvPr/>
        </p:nvSpPr>
        <p:spPr>
          <a:xfrm>
            <a:off x="7943286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#2</a:t>
            </a:r>
            <a:endParaRPr lang="ko-KR" altLang="en-US" sz="105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2012772-4F03-8846-F7C1-08412DA8D2C3}"/>
              </a:ext>
            </a:extLst>
          </p:cNvPr>
          <p:cNvSpPr txBox="1"/>
          <p:nvPr/>
        </p:nvSpPr>
        <p:spPr>
          <a:xfrm>
            <a:off x="9635972" y="3183864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#3</a:t>
            </a:r>
            <a:endParaRPr lang="ko-KR" altLang="en-US" sz="10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6E0FE35-48D0-DDE1-4598-BB11A08B8286}"/>
              </a:ext>
            </a:extLst>
          </p:cNvPr>
          <p:cNvSpPr txBox="1"/>
          <p:nvPr/>
        </p:nvSpPr>
        <p:spPr>
          <a:xfrm>
            <a:off x="7712693" y="6363185"/>
            <a:ext cx="1064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임무통제 </a:t>
            </a:r>
            <a:r>
              <a:rPr lang="en-US" altLang="ko-KR" sz="1100" b="1" dirty="0"/>
              <a:t>#1</a:t>
            </a:r>
            <a:endParaRPr lang="ko-KR" altLang="en-US" sz="1100" b="1" dirty="0"/>
          </a:p>
        </p:txBody>
      </p:sp>
      <p:sp>
        <p:nvSpPr>
          <p:cNvPr id="24" name="정육면체 23">
            <a:extLst>
              <a:ext uri="{FF2B5EF4-FFF2-40B4-BE49-F238E27FC236}">
                <a16:creationId xmlns:a16="http://schemas.microsoft.com/office/drawing/2014/main" xmlns="" id="{4750078A-D69D-A4CF-2EB6-6289D4B0997D}"/>
              </a:ext>
            </a:extLst>
          </p:cNvPr>
          <p:cNvSpPr/>
          <p:nvPr/>
        </p:nvSpPr>
        <p:spPr>
          <a:xfrm>
            <a:off x="10280748" y="5021401"/>
            <a:ext cx="292002" cy="716063"/>
          </a:xfrm>
          <a:prstGeom prst="cube">
            <a:avLst>
              <a:gd name="adj" fmla="val 85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F3202A2-3CA7-B6F0-BCE3-41923FAF8995}"/>
              </a:ext>
            </a:extLst>
          </p:cNvPr>
          <p:cNvSpPr txBox="1"/>
          <p:nvPr/>
        </p:nvSpPr>
        <p:spPr>
          <a:xfrm>
            <a:off x="9892259" y="5980310"/>
            <a:ext cx="10640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임무처리</a:t>
            </a:r>
            <a:r>
              <a:rPr lang="en-US" altLang="ko-KR" sz="1100" b="1" dirty="0"/>
              <a:t> SW(KIRO)</a:t>
            </a:r>
            <a:endParaRPr lang="ko-KR" altLang="en-US" sz="1100" b="1" dirty="0"/>
          </a:p>
        </p:txBody>
      </p:sp>
      <p:sp>
        <p:nvSpPr>
          <p:cNvPr id="26" name="화살표: 왼쪽/오른쪽 23">
            <a:extLst>
              <a:ext uri="{FF2B5EF4-FFF2-40B4-BE49-F238E27FC236}">
                <a16:creationId xmlns:a16="http://schemas.microsoft.com/office/drawing/2014/main" xmlns="" id="{638F4CCF-72FE-A080-F77E-E037ECB2F3D6}"/>
              </a:ext>
            </a:extLst>
          </p:cNvPr>
          <p:cNvSpPr/>
          <p:nvPr/>
        </p:nvSpPr>
        <p:spPr>
          <a:xfrm>
            <a:off x="9232452" y="5394495"/>
            <a:ext cx="789038" cy="117987"/>
          </a:xfrm>
          <a:prstGeom prst="left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5762625" y="3829050"/>
            <a:ext cx="5193706" cy="76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꺾인 연결선 27"/>
          <p:cNvCxnSpPr>
            <a:stCxn id="20" idx="2"/>
            <a:endCxn id="27" idx="0"/>
          </p:cNvCxnSpPr>
          <p:nvPr/>
        </p:nvCxnSpPr>
        <p:spPr>
          <a:xfrm rot="16200000" flipH="1">
            <a:off x="7366488" y="2836060"/>
            <a:ext cx="383576" cy="1602404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21" idx="2"/>
            <a:endCxn id="27" idx="0"/>
          </p:cNvCxnSpPr>
          <p:nvPr/>
        </p:nvCxnSpPr>
        <p:spPr>
          <a:xfrm rot="5400000">
            <a:off x="8225612" y="3579340"/>
            <a:ext cx="383576" cy="115844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2" idx="2"/>
            <a:endCxn id="27" idx="0"/>
          </p:cNvCxnSpPr>
          <p:nvPr/>
        </p:nvCxnSpPr>
        <p:spPr>
          <a:xfrm rot="5400000">
            <a:off x="9071955" y="2732997"/>
            <a:ext cx="383576" cy="1808530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위쪽/아래쪽 화살표 30"/>
          <p:cNvSpPr/>
          <p:nvPr/>
        </p:nvSpPr>
        <p:spPr>
          <a:xfrm>
            <a:off x="8283901" y="3971433"/>
            <a:ext cx="184447" cy="395900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915578" y="893685"/>
            <a:ext cx="3235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mtClean="0"/>
              <a:t>운용통제 제어 </a:t>
            </a:r>
            <a:r>
              <a:rPr lang="en-US" altLang="ko-KR" sz="1400" b="1" smtClean="0"/>
              <a:t>SW</a:t>
            </a:r>
            <a:endParaRPr lang="ko-KR" altLang="en-US" sz="1400" b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571BFC8F-91BD-3A6B-AEEE-2456AD5634A3}"/>
              </a:ext>
            </a:extLst>
          </p:cNvPr>
          <p:cNvSpPr txBox="1"/>
          <p:nvPr/>
        </p:nvSpPr>
        <p:spPr>
          <a:xfrm>
            <a:off x="925103" y="2034920"/>
            <a:ext cx="3868035" cy="17851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100"/>
              <a:t>&lt;</a:t>
            </a:r>
            <a:r>
              <a:rPr lang="ko-KR" altLang="en-US" sz="1100" smtClean="0"/>
              <a:t>기능 </a:t>
            </a:r>
            <a:r>
              <a:rPr lang="en-US" altLang="ko-KR" sz="1100" smtClean="0"/>
              <a:t>&gt;</a:t>
            </a:r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로봇 </a:t>
            </a:r>
            <a:r>
              <a:rPr lang="en-US" altLang="ko-KR" sz="1100" smtClean="0"/>
              <a:t>&gt; 1~3 </a:t>
            </a:r>
            <a:r>
              <a:rPr lang="ko-KR" altLang="en-US" sz="1100" smtClean="0"/>
              <a:t>선택 및 영상 모니터링</a:t>
            </a:r>
            <a:endParaRPr lang="en-US" altLang="ko-KR" sz="1100" smtClean="0"/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로봇 </a:t>
            </a:r>
            <a:r>
              <a:rPr lang="en-US" altLang="ko-KR" sz="1100" smtClean="0"/>
              <a:t>&gt; </a:t>
            </a:r>
            <a:r>
              <a:rPr lang="ko-KR" altLang="en-US" sz="1100" smtClean="0"/>
              <a:t>선택 로봇 제어 및 모니터링 </a:t>
            </a:r>
            <a:endParaRPr lang="en-US" altLang="ko-KR" sz="1100" smtClean="0"/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로봇 영상 모니터링</a:t>
            </a:r>
            <a:r>
              <a:rPr lang="en-US" altLang="ko-KR" sz="1100" smtClean="0"/>
              <a:t>&gt; : 1~3</a:t>
            </a:r>
            <a:r>
              <a:rPr lang="ko-KR" altLang="en-US" sz="1100" smtClean="0"/>
              <a:t>호기 위치 표시 및 바향 표시</a:t>
            </a:r>
            <a:endParaRPr lang="en-US" altLang="ko-KR" sz="1100" smtClean="0"/>
          </a:p>
          <a:p>
            <a:pPr>
              <a:lnSpc>
                <a:spcPct val="200000"/>
              </a:lnSpc>
            </a:pPr>
            <a:r>
              <a:rPr lang="en-US" altLang="ko-KR" sz="1100" smtClean="0"/>
              <a:t>&lt;</a:t>
            </a:r>
            <a:r>
              <a:rPr lang="ko-KR" altLang="en-US" sz="1100" smtClean="0"/>
              <a:t>분석영상 모니터링</a:t>
            </a:r>
            <a:r>
              <a:rPr lang="en-US" altLang="ko-KR" sz="1100" smtClean="0"/>
              <a:t>&gt; : </a:t>
            </a:r>
            <a:r>
              <a:rPr lang="ko-KR" altLang="en-US" sz="1100" smtClean="0"/>
              <a:t>운용 통제 기능 제공 </a:t>
            </a:r>
            <a:endParaRPr lang="ko-KR" altLang="en-US" sz="11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/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임무통제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SW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구분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846163" y="4121714"/>
            <a:ext cx="3946975" cy="2473998"/>
            <a:chOff x="846163" y="4121714"/>
            <a:chExt cx="3946975" cy="2473998"/>
          </a:xfrm>
        </p:grpSpPr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447" y="4432602"/>
              <a:ext cx="3884691" cy="216311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7972" y="4993203"/>
              <a:ext cx="1125774" cy="570286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55" name="TextBox 54"/>
            <p:cNvSpPr txBox="1"/>
            <p:nvPr/>
          </p:nvSpPr>
          <p:spPr>
            <a:xfrm>
              <a:off x="846163" y="4121714"/>
              <a:ext cx="3235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smtClean="0"/>
                <a:t>임무통제 제어 </a:t>
              </a:r>
              <a:r>
                <a:rPr lang="en-US" altLang="ko-KR" sz="1400" b="1" smtClean="0"/>
                <a:t>SW</a:t>
              </a:r>
              <a:endParaRPr lang="ko-KR" altLang="en-US" sz="1400" b="1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084163" y="5264748"/>
              <a:ext cx="302599" cy="1297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431068" y="5264748"/>
              <a:ext cx="302599" cy="12974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오른쪽 화살표 57"/>
          <p:cNvSpPr/>
          <p:nvPr/>
        </p:nvSpPr>
        <p:spPr>
          <a:xfrm>
            <a:off x="5162016" y="4975922"/>
            <a:ext cx="600075" cy="679443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6138942" y="1078457"/>
            <a:ext cx="4722270" cy="2641036"/>
          </a:xfrm>
          <a:prstGeom prst="roundRect">
            <a:avLst>
              <a:gd name="adj" fmla="val 40984"/>
            </a:avLst>
          </a:prstGeom>
          <a:solidFill>
            <a:schemeClr val="bg2">
              <a:lumMod val="5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/>
          <p:cNvGrpSpPr/>
          <p:nvPr/>
        </p:nvGrpSpPr>
        <p:grpSpPr>
          <a:xfrm>
            <a:off x="3191642" y="5086387"/>
            <a:ext cx="1489361" cy="477102"/>
            <a:chOff x="4643868" y="3336847"/>
            <a:chExt cx="1498887" cy="993492"/>
          </a:xfrm>
        </p:grpSpPr>
        <p:sp>
          <p:nvSpPr>
            <p:cNvPr id="61" name="아래쪽 화살표 60"/>
            <p:cNvSpPr/>
            <p:nvPr/>
          </p:nvSpPr>
          <p:spPr>
            <a:xfrm>
              <a:off x="5107707" y="3442990"/>
              <a:ext cx="221673" cy="27671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아래쪽 화살표 61"/>
            <p:cNvSpPr/>
            <p:nvPr/>
          </p:nvSpPr>
          <p:spPr>
            <a:xfrm>
              <a:off x="4885025" y="3751624"/>
              <a:ext cx="221673" cy="276714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아래쪽 화살표 62"/>
            <p:cNvSpPr/>
            <p:nvPr/>
          </p:nvSpPr>
          <p:spPr>
            <a:xfrm>
              <a:off x="4643868" y="4053625"/>
              <a:ext cx="221673" cy="276714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34260" y="3336847"/>
              <a:ext cx="10084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mtClean="0">
                  <a:solidFill>
                    <a:srgbClr val="FF0000"/>
                  </a:solidFill>
                </a:rPr>
                <a:t>254-124-375</a:t>
              </a:r>
              <a:endParaRPr lang="ko-KR" altLang="en-US" sz="1000">
                <a:solidFill>
                  <a:srgbClr val="FF0000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985228" y="3775585"/>
              <a:ext cx="10084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mtClean="0">
                  <a:solidFill>
                    <a:srgbClr val="FF0000"/>
                  </a:solidFill>
                </a:rPr>
                <a:t>254-125-365</a:t>
              </a:r>
              <a:endParaRPr lang="ko-KR" altLang="en-US" sz="1000">
                <a:solidFill>
                  <a:srgbClr val="FF0000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693512" y="4038509"/>
              <a:ext cx="10084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mtClean="0">
                  <a:solidFill>
                    <a:srgbClr val="FF0000"/>
                  </a:solidFill>
                </a:rPr>
                <a:t>254-134-365</a:t>
              </a:r>
              <a:endParaRPr lang="ko-KR" altLang="en-US" sz="10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77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구분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298" y="4365387"/>
            <a:ext cx="3171826" cy="178415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802" y="2632002"/>
            <a:ext cx="3160068" cy="177753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4" y="3520771"/>
            <a:ext cx="4476712" cy="251815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66774" y="6079417"/>
            <a:ext cx="4476712" cy="314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/>
              <a:t>시작 메뉴</a:t>
            </a:r>
            <a:endParaRPr lang="ko-KR" altLang="en-US" sz="1400" b="1"/>
          </a:p>
        </p:txBody>
      </p:sp>
      <p:sp>
        <p:nvSpPr>
          <p:cNvPr id="12" name="직사각형 11"/>
          <p:cNvSpPr/>
          <p:nvPr/>
        </p:nvSpPr>
        <p:spPr>
          <a:xfrm>
            <a:off x="7115570" y="4482647"/>
            <a:ext cx="3162300" cy="314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/>
              <a:t>제어 프로그램</a:t>
            </a:r>
            <a:endParaRPr lang="ko-KR" altLang="en-US" sz="1400" b="1"/>
          </a:p>
        </p:txBody>
      </p:sp>
      <p:sp>
        <p:nvSpPr>
          <p:cNvPr id="13" name="직사각형 12"/>
          <p:cNvSpPr/>
          <p:nvPr/>
        </p:nvSpPr>
        <p:spPr>
          <a:xfrm>
            <a:off x="8308824" y="6222646"/>
            <a:ext cx="3162300" cy="314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/>
              <a:t>설정 프로그램</a:t>
            </a:r>
            <a:endParaRPr lang="ko-KR" altLang="en-US" sz="1400" b="1"/>
          </a:p>
        </p:txBody>
      </p:sp>
      <p:sp>
        <p:nvSpPr>
          <p:cNvPr id="14" name="TextBox 13"/>
          <p:cNvSpPr txBox="1"/>
          <p:nvPr/>
        </p:nvSpPr>
        <p:spPr>
          <a:xfrm>
            <a:off x="866774" y="901147"/>
            <a:ext cx="392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타이틀 메뉴 기능</a:t>
            </a:r>
            <a:endParaRPr lang="en-US" altLang="ko-KR" smtClean="0"/>
          </a:p>
          <a:p>
            <a:r>
              <a:rPr lang="ko-KR" altLang="en-US" smtClean="0"/>
              <a:t>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시작</a:t>
            </a:r>
            <a:r>
              <a:rPr lang="en-US" altLang="ko-KR" sz="1600" smtClean="0"/>
              <a:t>,  </a:t>
            </a:r>
            <a:r>
              <a:rPr lang="ko-KR" altLang="en-US" sz="1600" smtClean="0"/>
              <a:t>설정</a:t>
            </a:r>
            <a:r>
              <a:rPr lang="en-US" altLang="ko-KR" sz="1600" smtClean="0"/>
              <a:t>, </a:t>
            </a:r>
            <a:r>
              <a:rPr lang="ko-KR" altLang="en-US" sz="1600" smtClean="0"/>
              <a:t>종료</a:t>
            </a:r>
            <a:endParaRPr lang="en-US" altLang="ko-KR" sz="1600" smtClean="0"/>
          </a:p>
        </p:txBody>
      </p:sp>
      <p:sp>
        <p:nvSpPr>
          <p:cNvPr id="15" name="TextBox 14"/>
          <p:cNvSpPr txBox="1"/>
          <p:nvPr/>
        </p:nvSpPr>
        <p:spPr>
          <a:xfrm>
            <a:off x="857250" y="1954204"/>
            <a:ext cx="92868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시작 </a:t>
            </a:r>
            <a:r>
              <a:rPr lang="en-US" altLang="ko-KR" sz="1400" smtClean="0"/>
              <a:t>: </a:t>
            </a:r>
            <a:r>
              <a:rPr lang="ko-KR" altLang="en-US" sz="1400" smtClean="0"/>
              <a:t>제어 프로그램으로 이동 </a:t>
            </a:r>
            <a:endParaRPr lang="en-US" altLang="ko-KR" sz="1400" smtClean="0"/>
          </a:p>
          <a:p>
            <a:r>
              <a:rPr lang="en-US" altLang="ko-KR" sz="1400"/>
              <a:t> </a:t>
            </a:r>
            <a:r>
              <a:rPr lang="en-US" altLang="ko-KR" sz="1400" smtClean="0"/>
              <a:t> -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  <a:p>
            <a:endParaRPr lang="en-US" altLang="ko-KR" sz="1400" smtClean="0"/>
          </a:p>
          <a:p>
            <a:r>
              <a:rPr lang="ko-KR" altLang="en-US" sz="1400" smtClean="0"/>
              <a:t>설정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 주소 등 옵션 선택 저장 </a:t>
            </a:r>
            <a:endParaRPr lang="en-US" altLang="ko-KR" sz="1400" smtClean="0"/>
          </a:p>
          <a:p>
            <a:endParaRPr lang="en-US" altLang="ko-KR" sz="1400" smtClean="0"/>
          </a:p>
          <a:p>
            <a:r>
              <a:rPr lang="ko-KR" altLang="en-US" sz="1400" smtClean="0"/>
              <a:t>종료 </a:t>
            </a:r>
            <a:r>
              <a:rPr lang="en-US" altLang="ko-KR" sz="1400" smtClean="0"/>
              <a:t>: </a:t>
            </a:r>
            <a:r>
              <a:rPr lang="ko-KR" altLang="en-US" sz="1400" smtClean="0"/>
              <a:t>프로그램 종료 확인</a:t>
            </a:r>
            <a:endParaRPr lang="en-US" altLang="ko-KR" sz="1400" smtClean="0"/>
          </a:p>
        </p:txBody>
      </p:sp>
      <p:sp>
        <p:nvSpPr>
          <p:cNvPr id="16" name="오른쪽 화살표 15"/>
          <p:cNvSpPr/>
          <p:nvPr/>
        </p:nvSpPr>
        <p:spPr>
          <a:xfrm>
            <a:off x="5753100" y="3543300"/>
            <a:ext cx="1028700" cy="161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5792692" y="5686425"/>
            <a:ext cx="1998758" cy="123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924548" y="3825142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시작</a:t>
            </a: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설정 </a:t>
            </a:r>
            <a:endParaRPr lang="ko-KR" altLang="en-US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43" y="2758195"/>
            <a:ext cx="2213128" cy="1066084"/>
          </a:xfrm>
          <a:prstGeom prst="rect">
            <a:avLst/>
          </a:prstGeom>
          <a:ln w="38100">
            <a:noFill/>
          </a:ln>
        </p:spPr>
      </p:pic>
      <p:sp>
        <p:nvSpPr>
          <p:cNvPr id="21" name="직사각형 20"/>
          <p:cNvSpPr/>
          <p:nvPr/>
        </p:nvSpPr>
        <p:spPr>
          <a:xfrm>
            <a:off x="8262560" y="3264287"/>
            <a:ext cx="637931" cy="162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246563" y="3264287"/>
            <a:ext cx="420363" cy="16270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9835279" y="3264287"/>
            <a:ext cx="420363" cy="16270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>
            <a:off x="7667625" y="3313418"/>
            <a:ext cx="123825" cy="11357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9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기능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6773" y="901147"/>
            <a:ext cx="51625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1</a:t>
            </a:r>
            <a:r>
              <a:rPr lang="ko-KR" altLang="en-US" smtClean="0"/>
              <a:t>번 상태바 기능 </a:t>
            </a:r>
            <a:endParaRPr lang="en-US" altLang="ko-KR" smtClean="0"/>
          </a:p>
          <a:p>
            <a:r>
              <a:rPr lang="ko-KR" altLang="en-US" smtClean="0"/>
              <a:t>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로봇 영상 모니터링 및 제어 기능 제공</a:t>
            </a:r>
            <a:endParaRPr lang="en-US" altLang="ko-KR" sz="1600" smtClean="0"/>
          </a:p>
        </p:txBody>
      </p:sp>
      <p:sp>
        <p:nvSpPr>
          <p:cNvPr id="37" name="TextBox 36"/>
          <p:cNvSpPr txBox="1"/>
          <p:nvPr/>
        </p:nvSpPr>
        <p:spPr>
          <a:xfrm>
            <a:off x="857250" y="1954204"/>
            <a:ext cx="9286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기능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</p:txBody>
      </p:sp>
      <p:sp>
        <p:nvSpPr>
          <p:cNvPr id="41" name="TextBox 40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 </a:t>
            </a:r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913066" y="2422485"/>
            <a:ext cx="6011966" cy="3839634"/>
            <a:chOff x="7115570" y="2632002"/>
            <a:chExt cx="3162301" cy="2020348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802" y="2632002"/>
              <a:ext cx="3160068" cy="1777538"/>
            </a:xfrm>
            <a:prstGeom prst="rect">
              <a:avLst/>
            </a:prstGeom>
          </p:spPr>
        </p:pic>
        <p:sp>
          <p:nvSpPr>
            <p:cNvPr id="34" name="직사각형 33"/>
            <p:cNvSpPr/>
            <p:nvPr/>
          </p:nvSpPr>
          <p:spPr>
            <a:xfrm>
              <a:off x="7115570" y="4482648"/>
              <a:ext cx="3162300" cy="16970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smtClean="0"/>
                <a:t>제어 프로그램</a:t>
              </a:r>
              <a:endParaRPr lang="ko-KR" altLang="en-US" sz="1400" b="1"/>
            </a:p>
          </p:txBody>
        </p:sp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4743" y="2758195"/>
              <a:ext cx="2213128" cy="1066084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43" name="직사각형 42"/>
            <p:cNvSpPr/>
            <p:nvPr/>
          </p:nvSpPr>
          <p:spPr>
            <a:xfrm>
              <a:off x="8262560" y="3264287"/>
              <a:ext cx="637931" cy="1627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9246563" y="3264287"/>
              <a:ext cx="420363" cy="16270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9835279" y="3264287"/>
              <a:ext cx="420363" cy="16270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아래쪽 화살표 45"/>
            <p:cNvSpPr/>
            <p:nvPr/>
          </p:nvSpPr>
          <p:spPr>
            <a:xfrm>
              <a:off x="7667625" y="3313418"/>
              <a:ext cx="123825" cy="113575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모서리가 둥근 직사각형 47"/>
          <p:cNvSpPr/>
          <p:nvPr/>
        </p:nvSpPr>
        <p:spPr>
          <a:xfrm>
            <a:off x="857250" y="2400920"/>
            <a:ext cx="6515100" cy="26139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2619375" y="2709277"/>
            <a:ext cx="4752975" cy="1979109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모서리가 둥근 직사각형 49"/>
          <p:cNvSpPr/>
          <p:nvPr/>
        </p:nvSpPr>
        <p:spPr>
          <a:xfrm>
            <a:off x="2619375" y="4613687"/>
            <a:ext cx="4752975" cy="1186978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430498" y="2623796"/>
            <a:ext cx="2287076" cy="624230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430498" y="3297725"/>
            <a:ext cx="2287076" cy="93718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64" y="4236046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55" name="모서리가 둥근 직사각형 54"/>
          <p:cNvSpPr/>
          <p:nvPr/>
        </p:nvSpPr>
        <p:spPr>
          <a:xfrm>
            <a:off x="430496" y="4232101"/>
            <a:ext cx="2257048" cy="87606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7030842" y="2352420"/>
            <a:ext cx="323850" cy="3333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6973789" y="350866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511979" y="2769223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522958" y="3565321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505612" y="4533662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>
            <a:off x="505612" y="5295925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62" name="모서리가 둥근 직사각형 61"/>
          <p:cNvSpPr/>
          <p:nvPr/>
        </p:nvSpPr>
        <p:spPr>
          <a:xfrm>
            <a:off x="430496" y="5108164"/>
            <a:ext cx="2272062" cy="68314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6973789" y="5077837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7</a:t>
            </a:r>
            <a:endParaRPr lang="ko-KR" altLang="en-US"/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12171"/>
              </p:ext>
            </p:extLst>
          </p:nvPr>
        </p:nvGraphicFramePr>
        <p:xfrm>
          <a:off x="7478160" y="2348133"/>
          <a:ext cx="4380465" cy="3784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65"/>
                <a:gridCol w="1257300"/>
                <a:gridCol w="2590800"/>
              </a:tblGrid>
              <a:tr h="315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rowSpan="11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1</a:t>
                      </a: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로보 기능 상태 표시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네트워크 감도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광범위 네트워크 상태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와이파이 감도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와이파이 감도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베터리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베터리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상태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로보 운영 시스템 상태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제어장치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 시스템 상태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감시장치정보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카메라사 상태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날짜표시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날짜표시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운영시간표시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운용시작시간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현재시간</a:t>
                      </a:r>
                      <a:r>
                        <a:rPr lang="en-US" altLang="ko-KR" sz="1200" smtClean="0"/>
                        <a:t>,</a:t>
                      </a:r>
                      <a:r>
                        <a:rPr lang="en-US" altLang="ko-KR" sz="1200" baseline="0" smtClean="0"/>
                        <a:t> </a:t>
                      </a:r>
                      <a:r>
                        <a:rPr lang="ko-KR" altLang="en-US" sz="1200" baseline="0" smtClean="0"/>
                        <a:t>누적시간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선택 로봇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현재 로봇 번호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운용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로봇이 이동중</a:t>
                      </a:r>
                      <a:r>
                        <a:rPr lang="en-US" altLang="ko-KR" sz="1200" smtClean="0"/>
                        <a:t>, On</a:t>
                      </a:r>
                      <a:r>
                        <a:rPr lang="ko-KR" altLang="en-US" sz="1200" smtClean="0"/>
                        <a:t>상태 정지중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27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기능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6772" y="901147"/>
            <a:ext cx="83326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 </a:t>
            </a:r>
            <a:r>
              <a:rPr lang="ko-KR" altLang="en-US" smtClean="0"/>
              <a:t>분석영상 모니티링 뷰</a:t>
            </a:r>
            <a:r>
              <a:rPr lang="en-US" altLang="ko-KR" smtClean="0"/>
              <a:t>, </a:t>
            </a:r>
            <a:r>
              <a:rPr lang="ko-KR" altLang="en-US" smtClean="0"/>
              <a:t>날씨 정보</a:t>
            </a:r>
            <a:r>
              <a:rPr lang="en-US" altLang="ko-KR" smtClean="0"/>
              <a:t>, </a:t>
            </a:r>
            <a:r>
              <a:rPr lang="ko-KR" altLang="en-US" smtClean="0"/>
              <a:t>로봇 위치 방향 정보 뷰</a:t>
            </a:r>
            <a:endParaRPr lang="en-US" altLang="ko-KR" smtClean="0"/>
          </a:p>
          <a:p>
            <a:r>
              <a:rPr lang="ko-KR" altLang="en-US" smtClean="0"/>
              <a:t>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로봇 영상 모니터링 및 제어 기능 제공</a:t>
            </a:r>
            <a:endParaRPr lang="en-US" altLang="ko-KR" sz="1600" smtClean="0"/>
          </a:p>
        </p:txBody>
      </p:sp>
      <p:sp>
        <p:nvSpPr>
          <p:cNvPr id="7" name="TextBox 6"/>
          <p:cNvSpPr txBox="1"/>
          <p:nvPr/>
        </p:nvSpPr>
        <p:spPr>
          <a:xfrm>
            <a:off x="857250" y="1954204"/>
            <a:ext cx="9286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기능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</p:txBody>
      </p:sp>
      <p:sp>
        <p:nvSpPr>
          <p:cNvPr id="8" name="TextBox 7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 </a:t>
            </a:r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913066" y="2422485"/>
            <a:ext cx="6011966" cy="3839634"/>
            <a:chOff x="7115570" y="2632002"/>
            <a:chExt cx="3162301" cy="2020348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802" y="2632002"/>
              <a:ext cx="3160068" cy="1777538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7115570" y="4482648"/>
              <a:ext cx="3162300" cy="16970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smtClean="0"/>
                <a:t>제어 프로그램</a:t>
              </a:r>
              <a:endParaRPr lang="ko-KR" altLang="en-US" sz="1400" b="1"/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64743" y="2758195"/>
              <a:ext cx="2213128" cy="1066084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13" name="직사각형 12"/>
            <p:cNvSpPr/>
            <p:nvPr/>
          </p:nvSpPr>
          <p:spPr>
            <a:xfrm>
              <a:off x="8262560" y="3264287"/>
              <a:ext cx="637931" cy="1627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9246563" y="3264287"/>
              <a:ext cx="420363" cy="16270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9835279" y="3264287"/>
              <a:ext cx="420363" cy="16270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아래쪽 화살표 15"/>
            <p:cNvSpPr/>
            <p:nvPr/>
          </p:nvSpPr>
          <p:spPr>
            <a:xfrm>
              <a:off x="7667625" y="3313418"/>
              <a:ext cx="123825" cy="113575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모서리가 둥근 직사각형 16"/>
          <p:cNvSpPr/>
          <p:nvPr/>
        </p:nvSpPr>
        <p:spPr>
          <a:xfrm>
            <a:off x="857250" y="2400920"/>
            <a:ext cx="6515100" cy="26139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19375" y="2709277"/>
            <a:ext cx="4752975" cy="1979109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619375" y="4613687"/>
            <a:ext cx="4752975" cy="1186978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30498" y="2623796"/>
            <a:ext cx="2287076" cy="62423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30498" y="3297725"/>
            <a:ext cx="2287076" cy="93718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64" y="4236046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23" name="모서리가 둥근 직사각형 22"/>
          <p:cNvSpPr/>
          <p:nvPr/>
        </p:nvSpPr>
        <p:spPr>
          <a:xfrm>
            <a:off x="430496" y="4232101"/>
            <a:ext cx="2257048" cy="87606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030842" y="235242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973789" y="3508660"/>
            <a:ext cx="323850" cy="3333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511979" y="2769223"/>
            <a:ext cx="323850" cy="3333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22958" y="3565321"/>
            <a:ext cx="323850" cy="3333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505612" y="4533662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505612" y="5295925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430493" y="5108164"/>
            <a:ext cx="2272065" cy="68314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973789" y="5077837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7</a:t>
            </a:r>
            <a:endParaRPr lang="ko-KR" altLang="en-US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828757"/>
              </p:ext>
            </p:extLst>
          </p:nvPr>
        </p:nvGraphicFramePr>
        <p:xfrm>
          <a:off x="7478160" y="2348133"/>
          <a:ext cx="4390221" cy="340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822"/>
                <a:gridCol w="1296843"/>
                <a:gridCol w="116840"/>
                <a:gridCol w="2483716"/>
              </a:tblGrid>
              <a:tr h="315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11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모니터링</a:t>
                      </a:r>
                      <a:r>
                        <a:rPr lang="ko-KR" altLang="en-US" sz="1200" baseline="0" smtClean="0"/>
                        <a:t> 영상 분석 오브젝트 객체 인식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28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분석영상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AI </a:t>
                      </a:r>
                      <a:r>
                        <a:rPr lang="ko-KR" altLang="en-US" sz="1200" smtClean="0"/>
                        <a:t>객체 분석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분석 데이터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객서 구분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1712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날시 정보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2009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날시표시</a:t>
                      </a:r>
                      <a:r>
                        <a:rPr lang="en-US" altLang="ko-KR" sz="1200" smtClean="0"/>
                        <a:t>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바람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파도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습도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온도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15402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4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위치 방향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2009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구분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선택 로봇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02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보는 방향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보는 방향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이동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이동하고 있는 방향효시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628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위치</a:t>
                      </a:r>
                      <a:r>
                        <a:rPr lang="ko-KR" altLang="en-US" sz="1200" baseline="0" smtClean="0"/>
                        <a:t>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좌표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891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다른 로봇 위치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다른 로봇  위치 표시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3" name="아래쪽 화살표 32"/>
          <p:cNvSpPr/>
          <p:nvPr/>
        </p:nvSpPr>
        <p:spPr>
          <a:xfrm>
            <a:off x="1786310" y="3881259"/>
            <a:ext cx="235408" cy="215847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아래쪽 화살표 33"/>
          <p:cNvSpPr/>
          <p:nvPr/>
        </p:nvSpPr>
        <p:spPr>
          <a:xfrm>
            <a:off x="2105042" y="3951154"/>
            <a:ext cx="235408" cy="215847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3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기능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6773" y="901147"/>
            <a:ext cx="96903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</a:t>
            </a:r>
            <a:r>
              <a:rPr lang="ko-KR" altLang="en-US" smtClean="0"/>
              <a:t>로봇 카메랑 영상 뷰</a:t>
            </a:r>
            <a:r>
              <a:rPr lang="en-US" altLang="ko-KR" smtClean="0"/>
              <a:t>, </a:t>
            </a:r>
            <a:r>
              <a:rPr lang="ko-KR" altLang="en-US" smtClean="0"/>
              <a:t>네트워크 정보 표시</a:t>
            </a:r>
            <a:r>
              <a:rPr lang="en-US" altLang="ko-KR" smtClean="0"/>
              <a:t>, </a:t>
            </a:r>
            <a:r>
              <a:rPr lang="ko-KR" altLang="en-US" smtClean="0"/>
              <a:t>로봇 수동 원격 제어 기능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로봇 영상 모니터링 및 제어 기능 제공</a:t>
            </a:r>
            <a:endParaRPr lang="en-US" altLang="ko-KR" sz="1600" smtClean="0"/>
          </a:p>
        </p:txBody>
      </p:sp>
      <p:sp>
        <p:nvSpPr>
          <p:cNvPr id="7" name="TextBox 6"/>
          <p:cNvSpPr txBox="1"/>
          <p:nvPr/>
        </p:nvSpPr>
        <p:spPr>
          <a:xfrm>
            <a:off x="857250" y="1954204"/>
            <a:ext cx="9286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기능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</p:txBody>
      </p:sp>
      <p:sp>
        <p:nvSpPr>
          <p:cNvPr id="8" name="TextBox 7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 </a:t>
            </a:r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913066" y="2422485"/>
            <a:ext cx="6011966" cy="3839634"/>
            <a:chOff x="7115570" y="2632002"/>
            <a:chExt cx="3162301" cy="2020348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802" y="2632002"/>
              <a:ext cx="3160068" cy="1777538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7115570" y="4482648"/>
              <a:ext cx="3162300" cy="16970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smtClean="0"/>
                <a:t>제어 프로그램</a:t>
              </a:r>
              <a:endParaRPr lang="ko-KR" altLang="en-US" sz="1400" b="1"/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4743" y="2758195"/>
              <a:ext cx="2213128" cy="1066084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13" name="직사각형 12"/>
            <p:cNvSpPr/>
            <p:nvPr/>
          </p:nvSpPr>
          <p:spPr>
            <a:xfrm>
              <a:off x="8262560" y="3264287"/>
              <a:ext cx="637931" cy="16270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9246563" y="3264287"/>
              <a:ext cx="420363" cy="16270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9835279" y="3264287"/>
              <a:ext cx="420363" cy="162706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아래쪽 화살표 15"/>
            <p:cNvSpPr/>
            <p:nvPr/>
          </p:nvSpPr>
          <p:spPr>
            <a:xfrm>
              <a:off x="7667625" y="3313418"/>
              <a:ext cx="123825" cy="113575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모서리가 둥근 직사각형 16"/>
          <p:cNvSpPr/>
          <p:nvPr/>
        </p:nvSpPr>
        <p:spPr>
          <a:xfrm>
            <a:off x="857250" y="2400920"/>
            <a:ext cx="6515100" cy="261393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19375" y="2709277"/>
            <a:ext cx="4752975" cy="1979109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619375" y="4613687"/>
            <a:ext cx="4752975" cy="1186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30498" y="2623796"/>
            <a:ext cx="2287076" cy="624230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30498" y="3297725"/>
            <a:ext cx="2287076" cy="93718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64" y="4236046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23" name="모서리가 둥근 직사각형 22"/>
          <p:cNvSpPr/>
          <p:nvPr/>
        </p:nvSpPr>
        <p:spPr>
          <a:xfrm>
            <a:off x="430496" y="4232101"/>
            <a:ext cx="2257048" cy="87606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030842" y="235242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973789" y="350866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511979" y="2769223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22958" y="3565321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505612" y="4533662"/>
            <a:ext cx="323850" cy="3333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505612" y="5295925"/>
            <a:ext cx="323850" cy="3333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430496" y="5108164"/>
            <a:ext cx="2272062" cy="683147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973789" y="5077837"/>
            <a:ext cx="323850" cy="3333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7</a:t>
            </a:r>
            <a:endParaRPr lang="ko-KR" altLang="en-US"/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14688"/>
              </p:ext>
            </p:extLst>
          </p:nvPr>
        </p:nvGraphicFramePr>
        <p:xfrm>
          <a:off x="7478160" y="2348133"/>
          <a:ext cx="4380465" cy="3362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65"/>
                <a:gridCol w="1257300"/>
                <a:gridCol w="2590800"/>
              </a:tblGrid>
              <a:tr h="315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11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5</a:t>
                      </a: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모니터링 영상 화면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262834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영상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원본 영상 모니터링 뷰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6</a:t>
                      </a: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로보소 네트원크 정보 머니터링 정보창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2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네트워크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임무통제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등 연결상태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991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7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61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운용모드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자율주행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원격 주행 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0099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광학모드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광학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적외선 카메라 기능 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102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줌기능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줌기능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비상정지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운용중 긴급 사항 운영 중지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62834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제어기능 잠금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제어기능 잠표 기능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89118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</a:t>
                      </a:r>
                      <a:r>
                        <a:rPr lang="ko-KR" altLang="en-US" sz="1200" baseline="0" smtClean="0"/>
                        <a:t> 방향제어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이동을 원격으로 제어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58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61" y="2419294"/>
            <a:ext cx="6052270" cy="3404402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임무통제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기능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6773" y="901147"/>
            <a:ext cx="51625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1</a:t>
            </a:r>
            <a:r>
              <a:rPr lang="ko-KR" altLang="en-US" smtClean="0"/>
              <a:t>번 상태바 기능 </a:t>
            </a:r>
            <a:endParaRPr lang="en-US" altLang="ko-KR" smtClean="0"/>
          </a:p>
          <a:p>
            <a:r>
              <a:rPr lang="ko-KR" altLang="en-US" smtClean="0"/>
              <a:t>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로봇 영상 모니터링 및 제어 기능 제공</a:t>
            </a:r>
            <a:endParaRPr lang="en-US" altLang="ko-KR" sz="1600" smtClean="0"/>
          </a:p>
        </p:txBody>
      </p:sp>
      <p:sp>
        <p:nvSpPr>
          <p:cNvPr id="37" name="TextBox 36"/>
          <p:cNvSpPr txBox="1"/>
          <p:nvPr/>
        </p:nvSpPr>
        <p:spPr>
          <a:xfrm>
            <a:off x="857250" y="1954204"/>
            <a:ext cx="9286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기능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</p:txBody>
      </p:sp>
      <p:sp>
        <p:nvSpPr>
          <p:cNvPr id="41" name="TextBox 40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 </a:t>
            </a:r>
            <a:endParaRPr lang="ko-KR" altLang="en-US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5218544" y="2400920"/>
            <a:ext cx="2153805" cy="26139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2619375" y="2709277"/>
            <a:ext cx="4752975" cy="1979109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모서리가 둥근 직사각형 49"/>
          <p:cNvSpPr/>
          <p:nvPr/>
        </p:nvSpPr>
        <p:spPr>
          <a:xfrm>
            <a:off x="2619375" y="4613687"/>
            <a:ext cx="4752975" cy="1186978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430498" y="2623796"/>
            <a:ext cx="2287076" cy="624230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430498" y="3297725"/>
            <a:ext cx="2287076" cy="93718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64" y="4236046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55" name="모서리가 둥근 직사각형 54"/>
          <p:cNvSpPr/>
          <p:nvPr/>
        </p:nvSpPr>
        <p:spPr>
          <a:xfrm>
            <a:off x="430496" y="4232101"/>
            <a:ext cx="2257048" cy="87606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7030842" y="2352420"/>
            <a:ext cx="323850" cy="3333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6973789" y="350866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511979" y="2769223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522958" y="3565321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505612" y="4533662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>
            <a:off x="505612" y="5295925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62" name="모서리가 둥근 직사각형 61"/>
          <p:cNvSpPr/>
          <p:nvPr/>
        </p:nvSpPr>
        <p:spPr>
          <a:xfrm>
            <a:off x="430496" y="5108164"/>
            <a:ext cx="2272062" cy="68314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6973789" y="5077837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7</a:t>
            </a:r>
            <a:endParaRPr lang="ko-KR" altLang="en-US"/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48169"/>
              </p:ext>
            </p:extLst>
          </p:nvPr>
        </p:nvGraphicFramePr>
        <p:xfrm>
          <a:off x="7478160" y="2348133"/>
          <a:ext cx="4380465" cy="4100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65"/>
                <a:gridCol w="1257300"/>
                <a:gridCol w="2590800"/>
              </a:tblGrid>
              <a:tr h="315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rowSpan="11"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1</a:t>
                      </a: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로보 기능 상태 표시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네트워크 감도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광범위 네트워크 상태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와이파이 감도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와이파이 감도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베터리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베터리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상태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로보 운영 시스템 상태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제어장치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 시스템 상태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감시장치정보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카메라사 상태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날짜표시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날짜표시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운영시간표시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운용시작시간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현재시간</a:t>
                      </a:r>
                      <a:r>
                        <a:rPr lang="en-US" altLang="ko-KR" sz="1200" smtClean="0"/>
                        <a:t>,</a:t>
                      </a:r>
                      <a:r>
                        <a:rPr lang="en-US" altLang="ko-KR" sz="1200" baseline="0" smtClean="0"/>
                        <a:t> </a:t>
                      </a:r>
                      <a:r>
                        <a:rPr lang="ko-KR" altLang="en-US" sz="1200" baseline="0" smtClean="0"/>
                        <a:t>누적시간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선택 로봇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현재 로봇 번호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운용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로봇이 이동중</a:t>
                      </a:r>
                      <a:r>
                        <a:rPr lang="en-US" altLang="ko-KR" sz="1200" smtClean="0"/>
                        <a:t>, On</a:t>
                      </a:r>
                      <a:r>
                        <a:rPr lang="ko-KR" altLang="en-US" sz="1200" smtClean="0"/>
                        <a:t>상태 정지중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선택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호기 선택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현제 운영중인 로봇 호기 선택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61" y="3352097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2" name="모서리가 둥근 직사각형 1"/>
          <p:cNvSpPr/>
          <p:nvPr/>
        </p:nvSpPr>
        <p:spPr>
          <a:xfrm>
            <a:off x="1173018" y="3719704"/>
            <a:ext cx="480290" cy="1487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1890111" y="3732008"/>
            <a:ext cx="480290" cy="148732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아래쪽 화살표 2"/>
          <p:cNvSpPr/>
          <p:nvPr/>
        </p:nvSpPr>
        <p:spPr>
          <a:xfrm>
            <a:off x="5107707" y="3442990"/>
            <a:ext cx="221673" cy="2767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아래쪽 화살표 37"/>
          <p:cNvSpPr/>
          <p:nvPr/>
        </p:nvSpPr>
        <p:spPr>
          <a:xfrm>
            <a:off x="4885025" y="3751624"/>
            <a:ext cx="221673" cy="27671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아래쪽 화살표 38"/>
          <p:cNvSpPr/>
          <p:nvPr/>
        </p:nvSpPr>
        <p:spPr>
          <a:xfrm>
            <a:off x="4643868" y="4053625"/>
            <a:ext cx="221673" cy="276714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134260" y="3336847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254-124-375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85228" y="3775585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254-125-365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693512" y="4038509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254-134-365</a:t>
            </a:r>
            <a:endParaRPr lang="ko-KR" altLang="en-US" sz="1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24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61" y="2419294"/>
            <a:ext cx="6052270" cy="340440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임무통제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기능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6772" y="901147"/>
            <a:ext cx="83326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 </a:t>
            </a:r>
            <a:r>
              <a:rPr lang="ko-KR" altLang="en-US" smtClean="0"/>
              <a:t>분석영상 모니티링 뷰</a:t>
            </a:r>
            <a:r>
              <a:rPr lang="en-US" altLang="ko-KR" smtClean="0"/>
              <a:t>, </a:t>
            </a:r>
            <a:r>
              <a:rPr lang="ko-KR" altLang="en-US" smtClean="0"/>
              <a:t>날씨 정보</a:t>
            </a:r>
            <a:r>
              <a:rPr lang="en-US" altLang="ko-KR" smtClean="0"/>
              <a:t>, </a:t>
            </a:r>
            <a:r>
              <a:rPr lang="ko-KR" altLang="en-US" smtClean="0"/>
              <a:t>로봇 위치 방향 정보 뷰</a:t>
            </a:r>
            <a:endParaRPr lang="en-US" altLang="ko-KR" smtClean="0"/>
          </a:p>
          <a:p>
            <a:r>
              <a:rPr lang="ko-KR" altLang="en-US" smtClean="0"/>
              <a:t>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로봇 영상 모니터링 및 제어 기능 제공</a:t>
            </a:r>
            <a:endParaRPr lang="en-US" altLang="ko-KR" sz="1600" smtClean="0"/>
          </a:p>
        </p:txBody>
      </p:sp>
      <p:sp>
        <p:nvSpPr>
          <p:cNvPr id="7" name="TextBox 6"/>
          <p:cNvSpPr txBox="1"/>
          <p:nvPr/>
        </p:nvSpPr>
        <p:spPr>
          <a:xfrm>
            <a:off x="857250" y="1954204"/>
            <a:ext cx="9286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기능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</p:txBody>
      </p:sp>
      <p:sp>
        <p:nvSpPr>
          <p:cNvPr id="8" name="TextBox 7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 </a:t>
            </a:r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57250" y="2400920"/>
            <a:ext cx="6515100" cy="26139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19375" y="2709277"/>
            <a:ext cx="4752975" cy="1979109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619375" y="4613687"/>
            <a:ext cx="4752975" cy="1186978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30498" y="2623796"/>
            <a:ext cx="2287076" cy="62423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30498" y="3297725"/>
            <a:ext cx="2287076" cy="93718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64" y="4236046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23" name="모서리가 둥근 직사각형 22"/>
          <p:cNvSpPr/>
          <p:nvPr/>
        </p:nvSpPr>
        <p:spPr>
          <a:xfrm>
            <a:off x="430496" y="4232101"/>
            <a:ext cx="2257048" cy="87606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030842" y="235242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973789" y="3508660"/>
            <a:ext cx="323850" cy="3333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511979" y="2769223"/>
            <a:ext cx="323850" cy="3333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22958" y="3565321"/>
            <a:ext cx="323850" cy="3333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505612" y="4533662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505612" y="5295925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430493" y="5108164"/>
            <a:ext cx="2272065" cy="68314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973789" y="5077837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7</a:t>
            </a:r>
            <a:endParaRPr lang="ko-KR" altLang="en-US"/>
          </a:p>
        </p:txBody>
      </p:sp>
      <p:graphicFrame>
        <p:nvGraphicFramePr>
          <p:cNvPr id="32" name="표 31"/>
          <p:cNvGraphicFramePr>
            <a:graphicFrameLocks noGrp="1"/>
          </p:cNvGraphicFramePr>
          <p:nvPr/>
        </p:nvGraphicFramePr>
        <p:xfrm>
          <a:off x="7478160" y="2348133"/>
          <a:ext cx="4390221" cy="340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822"/>
                <a:gridCol w="1296843"/>
                <a:gridCol w="116840"/>
                <a:gridCol w="2483716"/>
              </a:tblGrid>
              <a:tr h="315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11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모니터링</a:t>
                      </a:r>
                      <a:r>
                        <a:rPr lang="ko-KR" altLang="en-US" sz="1200" baseline="0" smtClean="0"/>
                        <a:t> 영상 분석 오브젝트 객체 인식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28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분석영상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/>
                        <a:t>AI </a:t>
                      </a:r>
                      <a:r>
                        <a:rPr lang="ko-KR" altLang="en-US" sz="1200" smtClean="0"/>
                        <a:t>객체 분석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분석 데이터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객서 구분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1712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날시 정보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2009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날시표시</a:t>
                      </a:r>
                      <a:r>
                        <a:rPr lang="en-US" altLang="ko-KR" sz="1200" smtClean="0"/>
                        <a:t>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바람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파도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습도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온도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15402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4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위치 방향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20099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구분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선택 로봇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102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보는 방향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보는 방향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이동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이동하고 있는 방향효시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628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위치</a:t>
                      </a:r>
                      <a:r>
                        <a:rPr lang="ko-KR" altLang="en-US" sz="1200" baseline="0" smtClean="0"/>
                        <a:t>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좌표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891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다른 로봇 위치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다른 로봇  위치 표시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61" y="3352097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37" name="모서리가 둥근 직사각형 36"/>
          <p:cNvSpPr/>
          <p:nvPr/>
        </p:nvSpPr>
        <p:spPr>
          <a:xfrm>
            <a:off x="1173018" y="3719704"/>
            <a:ext cx="480290" cy="1487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1890111" y="3732008"/>
            <a:ext cx="480290" cy="148732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아래쪽 화살표 38"/>
          <p:cNvSpPr/>
          <p:nvPr/>
        </p:nvSpPr>
        <p:spPr>
          <a:xfrm>
            <a:off x="5107707" y="3442990"/>
            <a:ext cx="221673" cy="2767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쪽 화살표 39"/>
          <p:cNvSpPr/>
          <p:nvPr/>
        </p:nvSpPr>
        <p:spPr>
          <a:xfrm>
            <a:off x="4885025" y="3751624"/>
            <a:ext cx="221673" cy="27671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아래쪽 화살표 40"/>
          <p:cNvSpPr/>
          <p:nvPr/>
        </p:nvSpPr>
        <p:spPr>
          <a:xfrm>
            <a:off x="4643868" y="4053625"/>
            <a:ext cx="221673" cy="276714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5134260" y="3336847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254-124-375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85228" y="3775585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254-125-365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93512" y="4038509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254-134-365</a:t>
            </a:r>
            <a:endParaRPr lang="ko-KR" altLang="en-US" sz="1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34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61" y="2419294"/>
            <a:ext cx="6052270" cy="340440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임무통제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제어프로그램 기능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6773" y="901147"/>
            <a:ext cx="96903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</a:t>
            </a:r>
            <a:r>
              <a:rPr lang="ko-KR" altLang="en-US" smtClean="0"/>
              <a:t>로봇 카메랑 영상 뷰</a:t>
            </a:r>
            <a:r>
              <a:rPr lang="en-US" altLang="ko-KR" smtClean="0"/>
              <a:t>, </a:t>
            </a:r>
            <a:r>
              <a:rPr lang="ko-KR" altLang="en-US" smtClean="0"/>
              <a:t>네트워크 정보 표시</a:t>
            </a:r>
            <a:r>
              <a:rPr lang="en-US" altLang="ko-KR" smtClean="0"/>
              <a:t>, </a:t>
            </a:r>
            <a:r>
              <a:rPr lang="ko-KR" altLang="en-US" smtClean="0"/>
              <a:t>로봇 수동 원격 제어 기능 </a:t>
            </a:r>
            <a:endParaRPr lang="en-US" altLang="ko-KR" smtClean="0"/>
          </a:p>
          <a:p>
            <a:r>
              <a:rPr lang="ko-KR" altLang="en-US" sz="1600" smtClean="0"/>
              <a:t>기능 </a:t>
            </a:r>
            <a:r>
              <a:rPr lang="en-US" altLang="ko-KR" sz="1600" smtClean="0"/>
              <a:t>: </a:t>
            </a:r>
            <a:r>
              <a:rPr lang="ko-KR" altLang="en-US" sz="1600" smtClean="0"/>
              <a:t>로봇 영상 모니터링 및 제어 기능 제공</a:t>
            </a:r>
            <a:endParaRPr lang="en-US" altLang="ko-KR" sz="1600" smtClean="0"/>
          </a:p>
        </p:txBody>
      </p:sp>
      <p:sp>
        <p:nvSpPr>
          <p:cNvPr id="7" name="TextBox 6"/>
          <p:cNvSpPr txBox="1"/>
          <p:nvPr/>
        </p:nvSpPr>
        <p:spPr>
          <a:xfrm>
            <a:off x="857250" y="1954204"/>
            <a:ext cx="9286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mtClean="0"/>
              <a:t>기능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로봇 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분석영상</a:t>
            </a:r>
            <a:r>
              <a:rPr lang="en-US" altLang="ko-KR" sz="1400" smtClean="0"/>
              <a:t>, </a:t>
            </a:r>
            <a:r>
              <a:rPr lang="ko-KR" altLang="en-US" sz="1400" smtClean="0"/>
              <a:t>위치</a:t>
            </a:r>
            <a:r>
              <a:rPr lang="en-US" altLang="ko-KR" sz="1400" smtClean="0"/>
              <a:t>/</a:t>
            </a:r>
            <a:r>
              <a:rPr lang="ko-KR" altLang="en-US" sz="1400" smtClean="0"/>
              <a:t>방향 모니터링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제어 기능 제공</a:t>
            </a:r>
            <a:r>
              <a:rPr lang="en-US" altLang="ko-KR" sz="1400" smtClean="0"/>
              <a:t>, </a:t>
            </a:r>
            <a:r>
              <a:rPr lang="ko-KR" altLang="en-US" sz="1400" smtClean="0"/>
              <a:t>로봇 현황 및 하드웨어 정보 표시</a:t>
            </a:r>
            <a:endParaRPr lang="en-US" altLang="ko-KR" sz="1400" smtClean="0"/>
          </a:p>
        </p:txBody>
      </p:sp>
      <p:sp>
        <p:nvSpPr>
          <p:cNvPr id="8" name="TextBox 7"/>
          <p:cNvSpPr txBox="1"/>
          <p:nvPr/>
        </p:nvSpPr>
        <p:spPr>
          <a:xfrm>
            <a:off x="6124932" y="5846726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설 </a:t>
            </a:r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57250" y="2400920"/>
            <a:ext cx="6515100" cy="261393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19375" y="2709277"/>
            <a:ext cx="4752975" cy="1979109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619375" y="4613687"/>
            <a:ext cx="4752975" cy="1186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30498" y="2623796"/>
            <a:ext cx="2287076" cy="624230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30498" y="3297725"/>
            <a:ext cx="2287076" cy="937187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64" y="4236046"/>
            <a:ext cx="1724259" cy="830305"/>
          </a:xfrm>
          <a:prstGeom prst="rect">
            <a:avLst/>
          </a:prstGeom>
          <a:ln w="38100">
            <a:noFill/>
          </a:ln>
        </p:spPr>
      </p:pic>
      <p:sp>
        <p:nvSpPr>
          <p:cNvPr id="23" name="모서리가 둥근 직사각형 22"/>
          <p:cNvSpPr/>
          <p:nvPr/>
        </p:nvSpPr>
        <p:spPr>
          <a:xfrm>
            <a:off x="430496" y="4232101"/>
            <a:ext cx="2257048" cy="876063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030842" y="235242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6973789" y="3508660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511979" y="2769223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22958" y="3565321"/>
            <a:ext cx="323850" cy="3333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4</a:t>
            </a:r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505612" y="4533662"/>
            <a:ext cx="323850" cy="3333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5</a:t>
            </a:r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505612" y="5295925"/>
            <a:ext cx="323850" cy="3333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6</a:t>
            </a:r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430496" y="5108164"/>
            <a:ext cx="2272062" cy="683147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973789" y="5077837"/>
            <a:ext cx="323850" cy="3333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7</a:t>
            </a:r>
            <a:endParaRPr lang="ko-KR" altLang="en-US"/>
          </a:p>
        </p:txBody>
      </p:sp>
      <p:graphicFrame>
        <p:nvGraphicFramePr>
          <p:cNvPr id="32" name="표 31"/>
          <p:cNvGraphicFramePr>
            <a:graphicFrameLocks noGrp="1"/>
          </p:cNvGraphicFramePr>
          <p:nvPr/>
        </p:nvGraphicFramePr>
        <p:xfrm>
          <a:off x="7478160" y="2348133"/>
          <a:ext cx="4380465" cy="3362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65"/>
                <a:gridCol w="1257300"/>
                <a:gridCol w="2590800"/>
              </a:tblGrid>
              <a:tr h="315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11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5</a:t>
                      </a: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모니터링 영상 화면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262834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영상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원본 영상 모니터링 뷰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6</a:t>
                      </a:r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로보소 네트원크 정보 머니터링 정보창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2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네트워크 정보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임무통제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등 연결상태 표시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991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7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61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운용모드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자율주행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원격 주행 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00991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광학모드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광학</a:t>
                      </a:r>
                      <a:r>
                        <a:rPr lang="en-US" altLang="ko-KR" sz="1200" smtClean="0"/>
                        <a:t>, </a:t>
                      </a:r>
                      <a:r>
                        <a:rPr lang="ko-KR" altLang="en-US" sz="1200" smtClean="0"/>
                        <a:t>적외선 카메라 기능 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102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줌기능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카메라 줌기능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27274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비상정지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운용중 긴급 사항 운영 중지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62834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제어기능 잠금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제어기능 잠표 기능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89118">
                <a:tc vMerge="1"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</a:t>
                      </a:r>
                      <a:r>
                        <a:rPr lang="ko-KR" altLang="en-US" sz="1200" baseline="0" smtClean="0"/>
                        <a:t> 방향제어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로봇 이동을 원격으로 제어 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4" name="아래쪽 화살표 33"/>
          <p:cNvSpPr/>
          <p:nvPr/>
        </p:nvSpPr>
        <p:spPr>
          <a:xfrm>
            <a:off x="5107707" y="3442990"/>
            <a:ext cx="221673" cy="2767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아래쪽 화살표 34"/>
          <p:cNvSpPr/>
          <p:nvPr/>
        </p:nvSpPr>
        <p:spPr>
          <a:xfrm>
            <a:off x="4885025" y="3751624"/>
            <a:ext cx="221673" cy="27671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아래쪽 화살표 35"/>
          <p:cNvSpPr/>
          <p:nvPr/>
        </p:nvSpPr>
        <p:spPr>
          <a:xfrm>
            <a:off x="4643868" y="4053625"/>
            <a:ext cx="221673" cy="276714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134260" y="3336847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254-124-375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85228" y="3775585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254-125-365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93512" y="4038509"/>
            <a:ext cx="100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>
                <a:solidFill>
                  <a:srgbClr val="FF0000"/>
                </a:solidFill>
              </a:rPr>
              <a:t>254-134-365</a:t>
            </a:r>
            <a:endParaRPr lang="ko-KR" altLang="en-US" sz="1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99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461555" y="1491711"/>
            <a:ext cx="11081788" cy="5265723"/>
            <a:chOff x="426721" y="113211"/>
            <a:chExt cx="11746826" cy="6660041"/>
          </a:xfrm>
        </p:grpSpPr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426721" y="587002"/>
              <a:ext cx="3300548" cy="1342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en-US" sz="2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호기</a:t>
              </a:r>
              <a:r>
                <a:rPr kumimoji="0" lang="ko-KR" altLang="ko-KR" sz="2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별 </a:t>
              </a:r>
              <a:r>
                <a:rPr kumimoji="0" lang="ko-KR" altLang="ko-KR" sz="2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접속 ip url</a:t>
              </a:r>
              <a:endParaRPr kumimoji="0" lang="ko-KR" altLang="ko-K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050" name="Picture 2" descr="https://lh7-rt.googleusercontent.com/slidesz/AGV_vUcuQSfc-DfelcgTwJVHAl3E9ocNHViI4QerUrCwiqUkD4VIV2JnzbbNhrvLZoY54bcTNNoKrgbd1R2FbpnqQAeYfz1oxGMHyGehOSJ1yAt78OpPQCaukQ9bBHNQzrqWFyOWqV8z=s2048?key=MQ-aGVmHGIXtgqMDlt9S3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6663" y="113211"/>
              <a:ext cx="6216884" cy="626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2734492" y="3273811"/>
              <a:ext cx="2046514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>
                  <a:solidFill>
                    <a:srgbClr val="595959"/>
                  </a:solidFill>
                  <a:latin typeface="Arial" panose="020B0604020202020204" pitchFamily="34" charset="0"/>
                </a:rPr>
                <a:t>로봇제어 주소</a:t>
              </a:r>
              <a:endParaRPr lang="ko-KR" altLang="en-US" b="0" smtClean="0">
                <a:effectLst/>
              </a:endParaRPr>
            </a:p>
            <a:p>
              <a:r>
                <a:rPr lang="ko-KR" altLang="en-US" b="0" smtClean="0">
                  <a:effectLst/>
                </a:rPr>
                <a:t/>
              </a:r>
              <a:br>
                <a:rPr lang="ko-KR" altLang="en-US" b="0" smtClean="0">
                  <a:effectLst/>
                </a:rPr>
              </a:br>
              <a:r>
                <a:rPr lang="en-US" altLang="ko-KR">
                  <a:solidFill>
                    <a:srgbClr val="595959"/>
                  </a:solidFill>
                  <a:latin typeface="Arial" panose="020B0604020202020204" pitchFamily="34" charset="0"/>
                </a:rPr>
                <a:t>cam </a:t>
              </a:r>
              <a:r>
                <a:rPr lang="ko-KR" altLang="en-US">
                  <a:solidFill>
                    <a:srgbClr val="595959"/>
                  </a:solidFill>
                  <a:latin typeface="Arial" panose="020B0604020202020204" pitchFamily="34" charset="0"/>
                </a:rPr>
                <a:t>접속 </a:t>
              </a:r>
              <a:r>
                <a:rPr lang="ko-KR" altLang="en-US" smtClean="0">
                  <a:solidFill>
                    <a:srgbClr val="595959"/>
                  </a:solidFill>
                  <a:latin typeface="Arial" panose="020B0604020202020204" pitchFamily="34" charset="0"/>
                </a:rPr>
                <a:t>주소</a:t>
              </a:r>
              <a:endParaRPr lang="ko-KR" altLang="en-US" b="0" smtClean="0">
                <a:effectLst/>
              </a:endParaRPr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>
              <a:off x="4467497" y="3483429"/>
              <a:ext cx="1558834" cy="870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26721" y="6306124"/>
              <a:ext cx="7497682" cy="467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mtClean="0"/>
                <a:t>설정후 집모양</a:t>
              </a:r>
              <a:r>
                <a:rPr lang="en-US" altLang="ko-KR" smtClean="0"/>
                <a:t>(</a:t>
              </a:r>
              <a:r>
                <a:rPr lang="ko-KR" altLang="en-US" smtClean="0"/>
                <a:t>홈버튼으로 나갔다 들어오면 바로 적용 됩니다</a:t>
              </a:r>
              <a:r>
                <a:rPr lang="en-US" altLang="ko-KR" smtClean="0"/>
                <a:t>.)</a:t>
              </a:r>
              <a:endParaRPr lang="ko-KR" altLang="en-US"/>
            </a:p>
          </p:txBody>
        </p:sp>
        <p:cxnSp>
          <p:nvCxnSpPr>
            <p:cNvPr id="3" name="직선 화살표 연결선 2"/>
            <p:cNvCxnSpPr/>
            <p:nvPr/>
          </p:nvCxnSpPr>
          <p:spPr>
            <a:xfrm>
              <a:off x="4467497" y="3483429"/>
              <a:ext cx="1489166" cy="10363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/>
            <p:cNvCxnSpPr/>
            <p:nvPr/>
          </p:nvCxnSpPr>
          <p:spPr>
            <a:xfrm>
              <a:off x="4467497" y="3483429"/>
              <a:ext cx="1645920" cy="19333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/>
            <p:nvPr/>
          </p:nvCxnSpPr>
          <p:spPr>
            <a:xfrm>
              <a:off x="4467497" y="4084320"/>
              <a:ext cx="1489166" cy="261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>
              <a:off x="4467497" y="4084320"/>
              <a:ext cx="1645920" cy="10101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/>
            <p:nvPr/>
          </p:nvCxnSpPr>
          <p:spPr>
            <a:xfrm>
              <a:off x="4467497" y="4084320"/>
              <a:ext cx="1645920" cy="19253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설정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연결 주소 셋팅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)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6773" y="901147"/>
            <a:ext cx="969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</a:t>
            </a:r>
            <a:r>
              <a:rPr lang="ko-KR" altLang="en-US" smtClean="0"/>
              <a:t>로봇 카메라 연결 설정</a:t>
            </a:r>
            <a:r>
              <a:rPr lang="en-US" altLang="ko-KR" smtClean="0"/>
              <a:t>, AI </a:t>
            </a:r>
            <a:r>
              <a:rPr lang="ko-KR" altLang="en-US" smtClean="0"/>
              <a:t>분석 시스템 연결</a:t>
            </a:r>
            <a:r>
              <a:rPr lang="en-US" altLang="ko-KR" smtClean="0"/>
              <a:t>, </a:t>
            </a:r>
            <a:r>
              <a:rPr lang="ko-KR" altLang="en-US" smtClean="0"/>
              <a:t>로봇 정보 연결</a:t>
            </a:r>
            <a:endParaRPr lang="en-US" altLang="ko-KR" sz="1600" smtClean="0"/>
          </a:p>
        </p:txBody>
      </p:sp>
    </p:spTree>
    <p:extLst>
      <p:ext uri="{BB962C8B-B14F-4D97-AF65-F5344CB8AC3E}">
        <p14:creationId xmlns:p14="http://schemas.microsoft.com/office/powerpoint/2010/main" val="2323223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4909599" y="2030775"/>
            <a:ext cx="6489363" cy="4466837"/>
            <a:chOff x="1636121" y="290735"/>
            <a:chExt cx="8594184" cy="636728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6121" y="290735"/>
              <a:ext cx="8594184" cy="636728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447487" y="3409545"/>
              <a:ext cx="4120571" cy="1360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smtClean="0"/>
                <a:t>GIST -&gt; </a:t>
              </a:r>
              <a:r>
                <a:rPr lang="ko-KR" altLang="en-US" sz="1400" smtClean="0"/>
                <a:t>보낸주소</a:t>
              </a:r>
              <a:endParaRPr lang="en-US" altLang="ko-KR" sz="1400" smtClean="0"/>
            </a:p>
            <a:p>
              <a:endParaRPr lang="en-US" altLang="ko-KR" sz="1400"/>
            </a:p>
            <a:p>
              <a:r>
                <a:rPr lang="en-US" altLang="ko-KR" sz="1400" smtClean="0"/>
                <a:t>Gist </a:t>
              </a:r>
              <a:r>
                <a:rPr lang="ko-KR" altLang="en-US" sz="1400" smtClean="0"/>
                <a:t>로 보내면 영상을 부석해서 다시 받아 그려주는 형태 입니다</a:t>
              </a:r>
              <a:r>
                <a:rPr lang="en-US" altLang="ko-KR" sz="1400" smtClean="0"/>
                <a:t>. </a:t>
              </a:r>
              <a:endParaRPr lang="ko-KR" altLang="en-US" sz="1400"/>
            </a:p>
          </p:txBody>
        </p:sp>
      </p:grp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0.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운용통제 설정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연결 주소 셋팅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)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3" y="901147"/>
            <a:ext cx="969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운용통제 제어기능 </a:t>
            </a:r>
            <a:r>
              <a:rPr lang="en-US" altLang="ko-KR" smtClean="0"/>
              <a:t>– </a:t>
            </a:r>
            <a:r>
              <a:rPr lang="ko-KR" altLang="en-US" smtClean="0"/>
              <a:t>로봇 카메라 연결 설정</a:t>
            </a:r>
            <a:r>
              <a:rPr lang="en-US" altLang="ko-KR" smtClean="0"/>
              <a:t>, AI </a:t>
            </a:r>
            <a:r>
              <a:rPr lang="ko-KR" altLang="en-US" smtClean="0"/>
              <a:t>분석 시스템 연결</a:t>
            </a:r>
            <a:r>
              <a:rPr lang="en-US" altLang="ko-KR" smtClean="0"/>
              <a:t>, </a:t>
            </a:r>
            <a:r>
              <a:rPr lang="ko-KR" altLang="en-US" smtClean="0"/>
              <a:t>로봇 정보 연결</a:t>
            </a:r>
            <a:endParaRPr lang="en-US" altLang="ko-KR" sz="1600" smtClean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724608" y="4348964"/>
            <a:ext cx="3956232" cy="2148648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724608" y="2200083"/>
            <a:ext cx="949696" cy="1237145"/>
            <a:chOff x="5469822" y="1255494"/>
            <a:chExt cx="1396376" cy="1884407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9822" y="1255494"/>
              <a:ext cx="1396376" cy="1884407"/>
            </a:xfrm>
            <a:prstGeom prst="rect">
              <a:avLst/>
            </a:prstGeom>
          </p:spPr>
        </p:pic>
        <p:sp>
          <p:nvSpPr>
            <p:cNvPr id="38" name="직사각형 85"/>
            <p:cNvSpPr/>
            <p:nvPr/>
          </p:nvSpPr>
          <p:spPr>
            <a:xfrm>
              <a:off x="5963698" y="1316439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86"/>
            <p:cNvSpPr/>
            <p:nvPr/>
          </p:nvSpPr>
          <p:spPr>
            <a:xfrm>
              <a:off x="5952398" y="1717577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1903870" y="4821433"/>
            <a:ext cx="1155956" cy="1237593"/>
            <a:chOff x="1299198" y="2161308"/>
            <a:chExt cx="2432789" cy="3266399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9198" y="2161308"/>
              <a:ext cx="2432789" cy="3266399"/>
            </a:xfrm>
            <a:prstGeom prst="rect">
              <a:avLst/>
            </a:prstGeom>
          </p:spPr>
        </p:pic>
        <p:sp>
          <p:nvSpPr>
            <p:cNvPr id="35" name="직사각형 85"/>
            <p:cNvSpPr/>
            <p:nvPr/>
          </p:nvSpPr>
          <p:spPr>
            <a:xfrm>
              <a:off x="2159636" y="2266949"/>
              <a:ext cx="1031875" cy="731902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86"/>
            <p:cNvSpPr/>
            <p:nvPr/>
          </p:nvSpPr>
          <p:spPr>
            <a:xfrm>
              <a:off x="2139950" y="2962275"/>
              <a:ext cx="1050925" cy="80327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124031" y="2160072"/>
            <a:ext cx="949696" cy="1237145"/>
            <a:chOff x="7460547" y="1276490"/>
            <a:chExt cx="1396376" cy="1884407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32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566943" y="2160072"/>
            <a:ext cx="949696" cy="1237145"/>
            <a:chOff x="7460547" y="1276490"/>
            <a:chExt cx="1396376" cy="1884407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xmlns="" id="{0814747E-E9BA-A10B-0FC1-53DA5388F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0547" y="1276490"/>
              <a:ext cx="1396376" cy="1884407"/>
            </a:xfrm>
            <a:prstGeom prst="rect">
              <a:avLst/>
            </a:prstGeom>
          </p:spPr>
        </p:pic>
        <p:sp>
          <p:nvSpPr>
            <p:cNvPr id="29" name="직사각형 85"/>
            <p:cNvSpPr/>
            <p:nvPr/>
          </p:nvSpPr>
          <p:spPr>
            <a:xfrm>
              <a:off x="7954423" y="1337435"/>
              <a:ext cx="592277" cy="422239"/>
            </a:xfrm>
            <a:custGeom>
              <a:avLst/>
              <a:gdLst>
                <a:gd name="connsiteX0" fmla="*/ 0 w 914400"/>
                <a:gd name="connsiteY0" fmla="*/ 0 h 822707"/>
                <a:gd name="connsiteX1" fmla="*/ 914400 w 914400"/>
                <a:gd name="connsiteY1" fmla="*/ 0 h 822707"/>
                <a:gd name="connsiteX2" fmla="*/ 914400 w 914400"/>
                <a:gd name="connsiteY2" fmla="*/ 822707 h 822707"/>
                <a:gd name="connsiteX3" fmla="*/ 0 w 914400"/>
                <a:gd name="connsiteY3" fmla="*/ 822707 h 822707"/>
                <a:gd name="connsiteX4" fmla="*/ 0 w 91440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8288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0 w 937260"/>
                <a:gd name="connsiteY0" fmla="*/ 0 h 822707"/>
                <a:gd name="connsiteX1" fmla="*/ 937260 w 937260"/>
                <a:gd name="connsiteY1" fmla="*/ 125730 h 822707"/>
                <a:gd name="connsiteX2" fmla="*/ 914400 w 937260"/>
                <a:gd name="connsiteY2" fmla="*/ 822707 h 822707"/>
                <a:gd name="connsiteX3" fmla="*/ 0 w 937260"/>
                <a:gd name="connsiteY3" fmla="*/ 822707 h 822707"/>
                <a:gd name="connsiteX4" fmla="*/ 0 w 937260"/>
                <a:gd name="connsiteY4" fmla="*/ 0 h 822707"/>
                <a:gd name="connsiteX0" fmla="*/ 57150 w 994410"/>
                <a:gd name="connsiteY0" fmla="*/ 0 h 822707"/>
                <a:gd name="connsiteX1" fmla="*/ 994410 w 994410"/>
                <a:gd name="connsiteY1" fmla="*/ 125730 h 822707"/>
                <a:gd name="connsiteX2" fmla="*/ 971550 w 994410"/>
                <a:gd name="connsiteY2" fmla="*/ 822707 h 822707"/>
                <a:gd name="connsiteX3" fmla="*/ 0 w 994410"/>
                <a:gd name="connsiteY3" fmla="*/ 651257 h 822707"/>
                <a:gd name="connsiteX4" fmla="*/ 57150 w 994410"/>
                <a:gd name="connsiteY4" fmla="*/ 0 h 822707"/>
                <a:gd name="connsiteX0" fmla="*/ 57150 w 994410"/>
                <a:gd name="connsiteY0" fmla="*/ 0 h 799847"/>
                <a:gd name="connsiteX1" fmla="*/ 994410 w 994410"/>
                <a:gd name="connsiteY1" fmla="*/ 125730 h 799847"/>
                <a:gd name="connsiteX2" fmla="*/ 857250 w 994410"/>
                <a:gd name="connsiteY2" fmla="*/ 799847 h 799847"/>
                <a:gd name="connsiteX3" fmla="*/ 0 w 994410"/>
                <a:gd name="connsiteY3" fmla="*/ 651257 h 799847"/>
                <a:gd name="connsiteX4" fmla="*/ 57150 w 994410"/>
                <a:gd name="connsiteY4" fmla="*/ 0 h 799847"/>
                <a:gd name="connsiteX0" fmla="*/ 57150 w 994410"/>
                <a:gd name="connsiteY0" fmla="*/ 0 h 811277"/>
                <a:gd name="connsiteX1" fmla="*/ 994410 w 994410"/>
                <a:gd name="connsiteY1" fmla="*/ 125730 h 811277"/>
                <a:gd name="connsiteX2" fmla="*/ 868680 w 994410"/>
                <a:gd name="connsiteY2" fmla="*/ 811277 h 811277"/>
                <a:gd name="connsiteX3" fmla="*/ 0 w 994410"/>
                <a:gd name="connsiteY3" fmla="*/ 651257 h 811277"/>
                <a:gd name="connsiteX4" fmla="*/ 57150 w 994410"/>
                <a:gd name="connsiteY4" fmla="*/ 0 h 811277"/>
                <a:gd name="connsiteX0" fmla="*/ 5715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51257 h 811277"/>
                <a:gd name="connsiteX4" fmla="*/ 57150 w 982980"/>
                <a:gd name="connsiteY4" fmla="*/ 0 h 811277"/>
                <a:gd name="connsiteX0" fmla="*/ 0 w 925830"/>
                <a:gd name="connsiteY0" fmla="*/ 0 h 811277"/>
                <a:gd name="connsiteX1" fmla="*/ 925830 w 925830"/>
                <a:gd name="connsiteY1" fmla="*/ 125730 h 811277"/>
                <a:gd name="connsiteX2" fmla="*/ 811530 w 925830"/>
                <a:gd name="connsiteY2" fmla="*/ 811277 h 811277"/>
                <a:gd name="connsiteX3" fmla="*/ 68580 w 925830"/>
                <a:gd name="connsiteY3" fmla="*/ 674117 h 811277"/>
                <a:gd name="connsiteX4" fmla="*/ 0 w 925830"/>
                <a:gd name="connsiteY4" fmla="*/ 0 h 811277"/>
                <a:gd name="connsiteX0" fmla="*/ 0 w 914400"/>
                <a:gd name="connsiteY0" fmla="*/ 0 h 811277"/>
                <a:gd name="connsiteX1" fmla="*/ 914400 w 914400"/>
                <a:gd name="connsiteY1" fmla="*/ 125730 h 811277"/>
                <a:gd name="connsiteX2" fmla="*/ 800100 w 914400"/>
                <a:gd name="connsiteY2" fmla="*/ 811277 h 811277"/>
                <a:gd name="connsiteX3" fmla="*/ 57150 w 914400"/>
                <a:gd name="connsiteY3" fmla="*/ 674117 h 811277"/>
                <a:gd name="connsiteX4" fmla="*/ 0 w 914400"/>
                <a:gd name="connsiteY4" fmla="*/ 0 h 811277"/>
                <a:gd name="connsiteX0" fmla="*/ 68580 w 982980"/>
                <a:gd name="connsiteY0" fmla="*/ 0 h 811277"/>
                <a:gd name="connsiteX1" fmla="*/ 982980 w 982980"/>
                <a:gd name="connsiteY1" fmla="*/ 125730 h 811277"/>
                <a:gd name="connsiteX2" fmla="*/ 868680 w 982980"/>
                <a:gd name="connsiteY2" fmla="*/ 811277 h 811277"/>
                <a:gd name="connsiteX3" fmla="*/ 0 w 982980"/>
                <a:gd name="connsiteY3" fmla="*/ 662687 h 811277"/>
                <a:gd name="connsiteX4" fmla="*/ 68580 w 982980"/>
                <a:gd name="connsiteY4" fmla="*/ 0 h 811277"/>
                <a:gd name="connsiteX0" fmla="*/ 100330 w 1014730"/>
                <a:gd name="connsiteY0" fmla="*/ 0 h 811277"/>
                <a:gd name="connsiteX1" fmla="*/ 1014730 w 1014730"/>
                <a:gd name="connsiteY1" fmla="*/ 125730 h 811277"/>
                <a:gd name="connsiteX2" fmla="*/ 900430 w 1014730"/>
                <a:gd name="connsiteY2" fmla="*/ 811277 h 811277"/>
                <a:gd name="connsiteX3" fmla="*/ 0 w 1014730"/>
                <a:gd name="connsiteY3" fmla="*/ 621412 h 811277"/>
                <a:gd name="connsiteX4" fmla="*/ 100330 w 1014730"/>
                <a:gd name="connsiteY4" fmla="*/ 0 h 811277"/>
                <a:gd name="connsiteX0" fmla="*/ 122555 w 1014730"/>
                <a:gd name="connsiteY0" fmla="*/ 0 h 823977"/>
                <a:gd name="connsiteX1" fmla="*/ 1014730 w 1014730"/>
                <a:gd name="connsiteY1" fmla="*/ 138430 h 823977"/>
                <a:gd name="connsiteX2" fmla="*/ 900430 w 1014730"/>
                <a:gd name="connsiteY2" fmla="*/ 823977 h 823977"/>
                <a:gd name="connsiteX3" fmla="*/ 0 w 1014730"/>
                <a:gd name="connsiteY3" fmla="*/ 634112 h 823977"/>
                <a:gd name="connsiteX4" fmla="*/ 122555 w 1014730"/>
                <a:gd name="connsiteY4" fmla="*/ 0 h 823977"/>
                <a:gd name="connsiteX0" fmla="*/ 100330 w 1014730"/>
                <a:gd name="connsiteY0" fmla="*/ 0 h 833502"/>
                <a:gd name="connsiteX1" fmla="*/ 1014730 w 1014730"/>
                <a:gd name="connsiteY1" fmla="*/ 147955 h 833502"/>
                <a:gd name="connsiteX2" fmla="*/ 900430 w 1014730"/>
                <a:gd name="connsiteY2" fmla="*/ 833502 h 833502"/>
                <a:gd name="connsiteX3" fmla="*/ 0 w 1014730"/>
                <a:gd name="connsiteY3" fmla="*/ 643637 h 833502"/>
                <a:gd name="connsiteX4" fmla="*/ 100330 w 1014730"/>
                <a:gd name="connsiteY4" fmla="*/ 0 h 833502"/>
                <a:gd name="connsiteX0" fmla="*/ 100330 w 1030605"/>
                <a:gd name="connsiteY0" fmla="*/ 0 h 833502"/>
                <a:gd name="connsiteX1" fmla="*/ 1030605 w 1030605"/>
                <a:gd name="connsiteY1" fmla="*/ 128905 h 833502"/>
                <a:gd name="connsiteX2" fmla="*/ 900430 w 1030605"/>
                <a:gd name="connsiteY2" fmla="*/ 833502 h 833502"/>
                <a:gd name="connsiteX3" fmla="*/ 0 w 1030605"/>
                <a:gd name="connsiteY3" fmla="*/ 643637 h 833502"/>
                <a:gd name="connsiteX4" fmla="*/ 100330 w 1030605"/>
                <a:gd name="connsiteY4" fmla="*/ 0 h 833502"/>
                <a:gd name="connsiteX0" fmla="*/ 100330 w 1030605"/>
                <a:gd name="connsiteY0" fmla="*/ 0 h 801752"/>
                <a:gd name="connsiteX1" fmla="*/ 1030605 w 1030605"/>
                <a:gd name="connsiteY1" fmla="*/ 128905 h 801752"/>
                <a:gd name="connsiteX2" fmla="*/ 925830 w 1030605"/>
                <a:gd name="connsiteY2" fmla="*/ 801752 h 801752"/>
                <a:gd name="connsiteX3" fmla="*/ 0 w 1030605"/>
                <a:gd name="connsiteY3" fmla="*/ 643637 h 801752"/>
                <a:gd name="connsiteX4" fmla="*/ 100330 w 1030605"/>
                <a:gd name="connsiteY4" fmla="*/ 0 h 801752"/>
                <a:gd name="connsiteX0" fmla="*/ 113030 w 1043305"/>
                <a:gd name="connsiteY0" fmla="*/ 0 h 801752"/>
                <a:gd name="connsiteX1" fmla="*/ 1043305 w 1043305"/>
                <a:gd name="connsiteY1" fmla="*/ 128905 h 801752"/>
                <a:gd name="connsiteX2" fmla="*/ 938530 w 1043305"/>
                <a:gd name="connsiteY2" fmla="*/ 801752 h 801752"/>
                <a:gd name="connsiteX3" fmla="*/ 0 w 1043305"/>
                <a:gd name="connsiteY3" fmla="*/ 656337 h 801752"/>
                <a:gd name="connsiteX4" fmla="*/ 113030 w 1043305"/>
                <a:gd name="connsiteY4" fmla="*/ 0 h 801752"/>
                <a:gd name="connsiteX0" fmla="*/ 113030 w 1008380"/>
                <a:gd name="connsiteY0" fmla="*/ 0 h 801752"/>
                <a:gd name="connsiteX1" fmla="*/ 1008380 w 1008380"/>
                <a:gd name="connsiteY1" fmla="*/ 109855 h 801752"/>
                <a:gd name="connsiteX2" fmla="*/ 938530 w 1008380"/>
                <a:gd name="connsiteY2" fmla="*/ 801752 h 801752"/>
                <a:gd name="connsiteX3" fmla="*/ 0 w 1008380"/>
                <a:gd name="connsiteY3" fmla="*/ 656337 h 801752"/>
                <a:gd name="connsiteX4" fmla="*/ 113030 w 1008380"/>
                <a:gd name="connsiteY4" fmla="*/ 0 h 801752"/>
                <a:gd name="connsiteX0" fmla="*/ 46355 w 1008380"/>
                <a:gd name="connsiteY0" fmla="*/ 0 h 757302"/>
                <a:gd name="connsiteX1" fmla="*/ 1008380 w 1008380"/>
                <a:gd name="connsiteY1" fmla="*/ 65405 h 757302"/>
                <a:gd name="connsiteX2" fmla="*/ 938530 w 1008380"/>
                <a:gd name="connsiteY2" fmla="*/ 757302 h 757302"/>
                <a:gd name="connsiteX3" fmla="*/ 0 w 1008380"/>
                <a:gd name="connsiteY3" fmla="*/ 611887 h 757302"/>
                <a:gd name="connsiteX4" fmla="*/ 46355 w 1008380"/>
                <a:gd name="connsiteY4" fmla="*/ 0 h 757302"/>
                <a:gd name="connsiteX0" fmla="*/ 0 w 962025"/>
                <a:gd name="connsiteY0" fmla="*/ 0 h 757302"/>
                <a:gd name="connsiteX1" fmla="*/ 962025 w 962025"/>
                <a:gd name="connsiteY1" fmla="*/ 65405 h 757302"/>
                <a:gd name="connsiteX2" fmla="*/ 892175 w 962025"/>
                <a:gd name="connsiteY2" fmla="*/ 757302 h 757302"/>
                <a:gd name="connsiteX3" fmla="*/ 140970 w 962025"/>
                <a:gd name="connsiteY3" fmla="*/ 621412 h 757302"/>
                <a:gd name="connsiteX4" fmla="*/ 0 w 962025"/>
                <a:gd name="connsiteY4" fmla="*/ 0 h 757302"/>
                <a:gd name="connsiteX0" fmla="*/ 0 w 1016000"/>
                <a:gd name="connsiteY0" fmla="*/ 0 h 735077"/>
                <a:gd name="connsiteX1" fmla="*/ 962025 w 1016000"/>
                <a:gd name="connsiteY1" fmla="*/ 65405 h 735077"/>
                <a:gd name="connsiteX2" fmla="*/ 1016000 w 1016000"/>
                <a:gd name="connsiteY2" fmla="*/ 735077 h 735077"/>
                <a:gd name="connsiteX3" fmla="*/ 140970 w 1016000"/>
                <a:gd name="connsiteY3" fmla="*/ 621412 h 735077"/>
                <a:gd name="connsiteX4" fmla="*/ 0 w 1016000"/>
                <a:gd name="connsiteY4" fmla="*/ 0 h 73507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140970 w 1031875"/>
                <a:gd name="connsiteY3" fmla="*/ 621412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90170 w 1031875"/>
                <a:gd name="connsiteY3" fmla="*/ 618237 h 741427"/>
                <a:gd name="connsiteX4" fmla="*/ 0 w 1031875"/>
                <a:gd name="connsiteY4" fmla="*/ 0 h 741427"/>
                <a:gd name="connsiteX0" fmla="*/ 0 w 1031875"/>
                <a:gd name="connsiteY0" fmla="*/ 0 h 741427"/>
                <a:gd name="connsiteX1" fmla="*/ 962025 w 1031875"/>
                <a:gd name="connsiteY1" fmla="*/ 65405 h 741427"/>
                <a:gd name="connsiteX2" fmla="*/ 1031875 w 1031875"/>
                <a:gd name="connsiteY2" fmla="*/ 741427 h 741427"/>
                <a:gd name="connsiteX3" fmla="*/ 83820 w 1031875"/>
                <a:gd name="connsiteY3" fmla="*/ 637287 h 741427"/>
                <a:gd name="connsiteX4" fmla="*/ 0 w 1031875"/>
                <a:gd name="connsiteY4" fmla="*/ 0 h 741427"/>
                <a:gd name="connsiteX0" fmla="*/ 0 w 1031875"/>
                <a:gd name="connsiteY0" fmla="*/ 0 h 731902"/>
                <a:gd name="connsiteX1" fmla="*/ 962025 w 1031875"/>
                <a:gd name="connsiteY1" fmla="*/ 65405 h 731902"/>
                <a:gd name="connsiteX2" fmla="*/ 1031875 w 1031875"/>
                <a:gd name="connsiteY2" fmla="*/ 731902 h 731902"/>
                <a:gd name="connsiteX3" fmla="*/ 83820 w 1031875"/>
                <a:gd name="connsiteY3" fmla="*/ 637287 h 731902"/>
                <a:gd name="connsiteX4" fmla="*/ 0 w 1031875"/>
                <a:gd name="connsiteY4" fmla="*/ 0 h 731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875" h="731902">
                  <a:moveTo>
                    <a:pt x="0" y="0"/>
                  </a:moveTo>
                  <a:lnTo>
                    <a:pt x="962025" y="65405"/>
                  </a:lnTo>
                  <a:lnTo>
                    <a:pt x="1031875" y="731902"/>
                  </a:lnTo>
                  <a:lnTo>
                    <a:pt x="83820" y="637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86"/>
            <p:cNvSpPr/>
            <p:nvPr/>
          </p:nvSpPr>
          <p:spPr>
            <a:xfrm>
              <a:off x="7943123" y="1738573"/>
              <a:ext cx="603212" cy="463415"/>
            </a:xfrm>
            <a:custGeom>
              <a:avLst/>
              <a:gdLst>
                <a:gd name="connsiteX0" fmla="*/ 0 w 777875"/>
                <a:gd name="connsiteY0" fmla="*/ 0 h 815975"/>
                <a:gd name="connsiteX1" fmla="*/ 777875 w 777875"/>
                <a:gd name="connsiteY1" fmla="*/ 0 h 815975"/>
                <a:gd name="connsiteX2" fmla="*/ 777875 w 777875"/>
                <a:gd name="connsiteY2" fmla="*/ 815975 h 815975"/>
                <a:gd name="connsiteX3" fmla="*/ 0 w 777875"/>
                <a:gd name="connsiteY3" fmla="*/ 815975 h 815975"/>
                <a:gd name="connsiteX4" fmla="*/ 0 w 777875"/>
                <a:gd name="connsiteY4" fmla="*/ 0 h 815975"/>
                <a:gd name="connsiteX0" fmla="*/ 0 w 939800"/>
                <a:gd name="connsiteY0" fmla="*/ 0 h 815975"/>
                <a:gd name="connsiteX1" fmla="*/ 939800 w 939800"/>
                <a:gd name="connsiteY1" fmla="*/ 88900 h 815975"/>
                <a:gd name="connsiteX2" fmla="*/ 777875 w 939800"/>
                <a:gd name="connsiteY2" fmla="*/ 815975 h 815975"/>
                <a:gd name="connsiteX3" fmla="*/ 0 w 939800"/>
                <a:gd name="connsiteY3" fmla="*/ 815975 h 815975"/>
                <a:gd name="connsiteX4" fmla="*/ 0 w 939800"/>
                <a:gd name="connsiteY4" fmla="*/ 0 h 815975"/>
                <a:gd name="connsiteX0" fmla="*/ 15875 w 939800"/>
                <a:gd name="connsiteY0" fmla="*/ 0 h 838200"/>
                <a:gd name="connsiteX1" fmla="*/ 939800 w 939800"/>
                <a:gd name="connsiteY1" fmla="*/ 111125 h 838200"/>
                <a:gd name="connsiteX2" fmla="*/ 777875 w 939800"/>
                <a:gd name="connsiteY2" fmla="*/ 838200 h 838200"/>
                <a:gd name="connsiteX3" fmla="*/ 0 w 939800"/>
                <a:gd name="connsiteY3" fmla="*/ 838200 h 838200"/>
                <a:gd name="connsiteX4" fmla="*/ 15875 w 939800"/>
                <a:gd name="connsiteY4" fmla="*/ 0 h 838200"/>
                <a:gd name="connsiteX0" fmla="*/ 127000 w 1050925"/>
                <a:gd name="connsiteY0" fmla="*/ 0 h 838200"/>
                <a:gd name="connsiteX1" fmla="*/ 1050925 w 1050925"/>
                <a:gd name="connsiteY1" fmla="*/ 111125 h 838200"/>
                <a:gd name="connsiteX2" fmla="*/ 889000 w 1050925"/>
                <a:gd name="connsiteY2" fmla="*/ 838200 h 838200"/>
                <a:gd name="connsiteX3" fmla="*/ 0 w 1050925"/>
                <a:gd name="connsiteY3" fmla="*/ 650875 h 838200"/>
                <a:gd name="connsiteX4" fmla="*/ 127000 w 1050925"/>
                <a:gd name="connsiteY4" fmla="*/ 0 h 838200"/>
                <a:gd name="connsiteX0" fmla="*/ 117475 w 1050925"/>
                <a:gd name="connsiteY0" fmla="*/ 0 h 828675"/>
                <a:gd name="connsiteX1" fmla="*/ 1050925 w 1050925"/>
                <a:gd name="connsiteY1" fmla="*/ 101600 h 828675"/>
                <a:gd name="connsiteX2" fmla="*/ 889000 w 1050925"/>
                <a:gd name="connsiteY2" fmla="*/ 828675 h 828675"/>
                <a:gd name="connsiteX3" fmla="*/ 0 w 1050925"/>
                <a:gd name="connsiteY3" fmla="*/ 641350 h 828675"/>
                <a:gd name="connsiteX4" fmla="*/ 117475 w 1050925"/>
                <a:gd name="connsiteY4" fmla="*/ 0 h 828675"/>
                <a:gd name="connsiteX0" fmla="*/ 117475 w 1050925"/>
                <a:gd name="connsiteY0" fmla="*/ 0 h 803275"/>
                <a:gd name="connsiteX1" fmla="*/ 1050925 w 1050925"/>
                <a:gd name="connsiteY1" fmla="*/ 101600 h 803275"/>
                <a:gd name="connsiteX2" fmla="*/ 933450 w 1050925"/>
                <a:gd name="connsiteY2" fmla="*/ 803275 h 803275"/>
                <a:gd name="connsiteX3" fmla="*/ 0 w 1050925"/>
                <a:gd name="connsiteY3" fmla="*/ 641350 h 803275"/>
                <a:gd name="connsiteX4" fmla="*/ 117475 w 1050925"/>
                <a:gd name="connsiteY4" fmla="*/ 0 h 80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0925" h="803275">
                  <a:moveTo>
                    <a:pt x="117475" y="0"/>
                  </a:moveTo>
                  <a:lnTo>
                    <a:pt x="1050925" y="101600"/>
                  </a:lnTo>
                  <a:lnTo>
                    <a:pt x="933450" y="803275"/>
                  </a:lnTo>
                  <a:lnTo>
                    <a:pt x="0" y="641350"/>
                  </a:lnTo>
                  <a:lnTo>
                    <a:pt x="117475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A06AC0F-BB4C-999C-73AD-E0A9196B85E3}"/>
              </a:ext>
            </a:extLst>
          </p:cNvPr>
          <p:cNvSpPr txBox="1"/>
          <p:nvPr/>
        </p:nvSpPr>
        <p:spPr>
          <a:xfrm>
            <a:off x="796737" y="3585964"/>
            <a:ext cx="10480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#1</a:t>
            </a:r>
            <a:endParaRPr lang="ko-KR" altLang="en-US" sz="105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6308AD5-63CB-F7F2-17F2-D97CFACBFE4D}"/>
              </a:ext>
            </a:extLst>
          </p:cNvPr>
          <p:cNvSpPr txBox="1"/>
          <p:nvPr/>
        </p:nvSpPr>
        <p:spPr>
          <a:xfrm>
            <a:off x="2236253" y="3585964"/>
            <a:ext cx="10266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#2</a:t>
            </a:r>
            <a:endParaRPr lang="ko-KR" altLang="en-US" sz="105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2012772-4F03-8846-F7C1-08412DA8D2C3}"/>
              </a:ext>
            </a:extLst>
          </p:cNvPr>
          <p:cNvSpPr txBox="1"/>
          <p:nvPr/>
        </p:nvSpPr>
        <p:spPr>
          <a:xfrm>
            <a:off x="3654355" y="3585964"/>
            <a:ext cx="10008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운용통제 </a:t>
            </a:r>
            <a:r>
              <a:rPr lang="en-US" altLang="ko-KR" sz="1050" b="1" dirty="0"/>
              <a:t>#3</a:t>
            </a:r>
            <a:endParaRPr lang="ko-KR" altLang="en-US" sz="10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6E0FE35-48D0-DDE1-4598-BB11A08B8286}"/>
              </a:ext>
            </a:extLst>
          </p:cNvPr>
          <p:cNvSpPr txBox="1"/>
          <p:nvPr/>
        </p:nvSpPr>
        <p:spPr>
          <a:xfrm>
            <a:off x="2043068" y="6172541"/>
            <a:ext cx="891460" cy="212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/>
              <a:t>임무통제 </a:t>
            </a:r>
            <a:endParaRPr lang="ko-KR" altLang="en-US" sz="1100" b="1" dirty="0"/>
          </a:p>
        </p:txBody>
      </p:sp>
      <p:sp>
        <p:nvSpPr>
          <p:cNvPr id="19" name="정육면체 18">
            <a:extLst>
              <a:ext uri="{FF2B5EF4-FFF2-40B4-BE49-F238E27FC236}">
                <a16:creationId xmlns:a16="http://schemas.microsoft.com/office/drawing/2014/main" xmlns="" id="{4750078A-D69D-A4CF-2EB6-6289D4B0997D}"/>
              </a:ext>
            </a:extLst>
          </p:cNvPr>
          <p:cNvSpPr/>
          <p:nvPr/>
        </p:nvSpPr>
        <p:spPr>
          <a:xfrm>
            <a:off x="4194538" y="5080916"/>
            <a:ext cx="244634" cy="582562"/>
          </a:xfrm>
          <a:prstGeom prst="cube">
            <a:avLst>
              <a:gd name="adj" fmla="val 85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F3202A2-3CA7-B6F0-BCE3-41923FAF8995}"/>
              </a:ext>
            </a:extLst>
          </p:cNvPr>
          <p:cNvSpPr txBox="1"/>
          <p:nvPr/>
        </p:nvSpPr>
        <p:spPr>
          <a:xfrm>
            <a:off x="3869069" y="5861048"/>
            <a:ext cx="891460" cy="35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임무처리</a:t>
            </a:r>
            <a:r>
              <a:rPr lang="en-US" altLang="ko-KR" sz="1100" b="1" dirty="0"/>
              <a:t> SW(KIRO)</a:t>
            </a:r>
            <a:endParaRPr lang="ko-KR" altLang="en-US" sz="1100" b="1" dirty="0"/>
          </a:p>
        </p:txBody>
      </p:sp>
      <p:sp>
        <p:nvSpPr>
          <p:cNvPr id="21" name="화살표: 왼쪽/오른쪽 23">
            <a:extLst>
              <a:ext uri="{FF2B5EF4-FFF2-40B4-BE49-F238E27FC236}">
                <a16:creationId xmlns:a16="http://schemas.microsoft.com/office/drawing/2014/main" xmlns="" id="{638F4CCF-72FE-A080-F77E-E037ECB2F3D6}"/>
              </a:ext>
            </a:extLst>
          </p:cNvPr>
          <p:cNvSpPr/>
          <p:nvPr/>
        </p:nvSpPr>
        <p:spPr>
          <a:xfrm>
            <a:off x="3316294" y="5384451"/>
            <a:ext cx="661042" cy="95990"/>
          </a:xfrm>
          <a:prstGeom prst="left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45069" y="4295292"/>
            <a:ext cx="4351193" cy="619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꺾인 연결선 22"/>
          <p:cNvCxnSpPr>
            <a:stCxn id="15" idx="2"/>
            <a:endCxn id="22" idx="0"/>
          </p:cNvCxnSpPr>
          <p:nvPr/>
        </p:nvCxnSpPr>
        <p:spPr>
          <a:xfrm rot="16200000" flipH="1">
            <a:off x="1743001" y="3417627"/>
            <a:ext cx="455412" cy="1299917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6" idx="2"/>
            <a:endCxn id="22" idx="0"/>
          </p:cNvCxnSpPr>
          <p:nvPr/>
        </p:nvCxnSpPr>
        <p:spPr>
          <a:xfrm rot="5400000">
            <a:off x="2457406" y="4003140"/>
            <a:ext cx="455412" cy="128892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17" idx="2"/>
            <a:endCxn id="22" idx="0"/>
          </p:cNvCxnSpPr>
          <p:nvPr/>
        </p:nvCxnSpPr>
        <p:spPr>
          <a:xfrm rot="5400000">
            <a:off x="3160020" y="3300527"/>
            <a:ext cx="455412" cy="1534119"/>
          </a:xfrm>
          <a:prstGeom prst="bentConnector3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위쪽/아래쪽 화살표 25"/>
          <p:cNvSpPr/>
          <p:nvPr/>
        </p:nvSpPr>
        <p:spPr>
          <a:xfrm>
            <a:off x="2543402" y="4468475"/>
            <a:ext cx="154526" cy="322089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796736" y="1855797"/>
            <a:ext cx="3858479" cy="1912133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6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B14D34-C3D6-C7EA-8C43-3BBBEB158B3B}"/>
              </a:ext>
            </a:extLst>
          </p:cNvPr>
          <p:cNvSpPr txBox="1"/>
          <p:nvPr/>
        </p:nvSpPr>
        <p:spPr>
          <a:xfrm>
            <a:off x="648453" y="910262"/>
            <a:ext cx="97040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1.1 </a:t>
            </a:r>
            <a:r>
              <a:rPr lang="ko-KR" altLang="en-US" sz="1600" dirty="0"/>
              <a:t>통신 소켓 연결 </a:t>
            </a:r>
            <a:endParaRPr lang="en-US" altLang="ko-KR" sz="1600" dirty="0"/>
          </a:p>
          <a:p>
            <a:r>
              <a:rPr lang="en-US" altLang="ko-KR" sz="1600" dirty="0"/>
              <a:t> 1.1.1 </a:t>
            </a:r>
            <a:r>
              <a:rPr lang="ko-KR" altLang="en-US" sz="1600" dirty="0"/>
              <a:t>로봇플랫폼 통신</a:t>
            </a:r>
            <a:endParaRPr lang="en-US" altLang="ko-KR" sz="1600" dirty="0"/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소켓 </a:t>
            </a:r>
            <a:r>
              <a:rPr lang="en-US" altLang="ko-KR" sz="1600" dirty="0"/>
              <a:t>Server </a:t>
            </a:r>
            <a:r>
              <a:rPr lang="ko-KR" altLang="en-US" sz="1600" dirty="0"/>
              <a:t>역할 예상</a:t>
            </a:r>
            <a:r>
              <a:rPr lang="en-US" altLang="ko-KR" sz="1600" dirty="0"/>
              <a:t>(</a:t>
            </a:r>
            <a:r>
              <a:rPr lang="ko-KR" altLang="en-US" sz="1600" dirty="0"/>
              <a:t>지휘통제소 </a:t>
            </a:r>
            <a:r>
              <a:rPr lang="en-US" altLang="ko-KR" sz="1600" dirty="0"/>
              <a:t>SW </a:t>
            </a:r>
            <a:r>
              <a:rPr lang="ko-KR" altLang="en-US" sz="1600" dirty="0"/>
              <a:t>접속 방식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1.1.2 </a:t>
            </a:r>
            <a:r>
              <a:rPr lang="ko-KR" altLang="en-US" sz="1600" dirty="0"/>
              <a:t>감시장비 통신</a:t>
            </a:r>
            <a:endParaRPr lang="en-US" altLang="ko-KR" sz="1600" dirty="0"/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영상처리 </a:t>
            </a:r>
            <a:r>
              <a:rPr lang="en-US" altLang="ko-KR" sz="1600" dirty="0"/>
              <a:t>RTSP – [G Streamer] </a:t>
            </a:r>
            <a:r>
              <a:rPr lang="ko-KR" altLang="en-US" sz="1600" dirty="0"/>
              <a:t>활용 </a:t>
            </a:r>
            <a:r>
              <a:rPr lang="en-US" altLang="ko-KR" sz="1600" dirty="0"/>
              <a:t>(</a:t>
            </a:r>
            <a:r>
              <a:rPr lang="ko-KR" altLang="en-US" sz="1600" dirty="0"/>
              <a:t>멀티캐스트 송신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    : RTSP </a:t>
            </a:r>
            <a:r>
              <a:rPr lang="ko-KR" altLang="en-US" sz="1600" dirty="0"/>
              <a:t>라이브러리 확인 및 테스트 필요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→ 현재 </a:t>
            </a:r>
            <a:r>
              <a:rPr lang="en-US" altLang="ko-KR" sz="1600" dirty="0"/>
              <a:t>RTSP</a:t>
            </a:r>
            <a:r>
              <a:rPr lang="ko-KR" altLang="en-US" sz="1600" dirty="0"/>
              <a:t> 관련 변경 및 추가 협의 진행 없음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   - </a:t>
            </a:r>
            <a:r>
              <a:rPr lang="ko-KR" altLang="en-US" sz="1600" dirty="0"/>
              <a:t>소켓 </a:t>
            </a:r>
            <a:r>
              <a:rPr lang="en-US" altLang="ko-KR" sz="1600" dirty="0"/>
              <a:t>Server </a:t>
            </a:r>
            <a:r>
              <a:rPr lang="ko-KR" altLang="en-US" sz="1600" dirty="0"/>
              <a:t>고정</a:t>
            </a:r>
            <a:r>
              <a:rPr lang="en-US" altLang="ko-KR" sz="1600" dirty="0"/>
              <a:t>(</a:t>
            </a:r>
            <a:r>
              <a:rPr lang="ko-KR" altLang="en-US" sz="1600" dirty="0"/>
              <a:t>변경 불가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    : </a:t>
            </a:r>
            <a:r>
              <a:rPr lang="ko-KR" altLang="en-US" sz="1600" dirty="0"/>
              <a:t>무선 테스트 진행 </a:t>
            </a:r>
            <a:r>
              <a:rPr lang="en-US" altLang="ko-KR" sz="1600" dirty="0"/>
              <a:t>X </a:t>
            </a:r>
            <a:r>
              <a:rPr lang="ko-KR" altLang="en-US" sz="1600" dirty="0"/>
              <a:t>→ 지연시간 테스트 필요</a:t>
            </a:r>
            <a:endParaRPr lang="en-US" altLang="ko-KR" sz="1600" dirty="0"/>
          </a:p>
          <a:p>
            <a:r>
              <a:rPr lang="en-US" altLang="ko-KR" sz="1600" dirty="0"/>
              <a:t>     : </a:t>
            </a:r>
            <a:r>
              <a:rPr lang="ko-KR" altLang="en-US" sz="1600" dirty="0"/>
              <a:t>유선 테스트</a:t>
            </a:r>
            <a:r>
              <a:rPr lang="en-US" altLang="ko-KR" sz="1600" dirty="0"/>
              <a:t>(</a:t>
            </a:r>
            <a:r>
              <a:rPr lang="ko-KR" altLang="en-US" sz="1600" dirty="0"/>
              <a:t>내부 </a:t>
            </a:r>
            <a:r>
              <a:rPr lang="en-US" altLang="ko-KR" sz="1600" dirty="0"/>
              <a:t>300ms) </a:t>
            </a:r>
            <a:r>
              <a:rPr lang="ko-KR" altLang="en-US" sz="1600" dirty="0"/>
              <a:t>→ </a:t>
            </a:r>
            <a:r>
              <a:rPr lang="en-US" altLang="ko-KR" sz="1600" dirty="0"/>
              <a:t>GIST </a:t>
            </a:r>
            <a:r>
              <a:rPr lang="ko-KR" altLang="en-US" sz="1600" dirty="0"/>
              <a:t>연동 임시 테스트 약 </a:t>
            </a:r>
            <a:r>
              <a:rPr lang="en-US" altLang="ko-KR" sz="1600" dirty="0"/>
              <a:t>500ms </a:t>
            </a:r>
            <a:r>
              <a:rPr lang="ko-KR" altLang="en-US" sz="1600" dirty="0"/>
              <a:t>이상 </a:t>
            </a:r>
            <a:endParaRPr lang="en-US" altLang="ko-KR" sz="1600" dirty="0"/>
          </a:p>
          <a:p>
            <a:r>
              <a:rPr lang="en-US" altLang="ko-KR" sz="1600" dirty="0"/>
              <a:t> 1.1.3 </a:t>
            </a:r>
            <a:r>
              <a:rPr lang="ko-KR" altLang="en-US" sz="1600" dirty="0"/>
              <a:t>영상처리 통신</a:t>
            </a:r>
            <a:endParaRPr lang="en-US" altLang="ko-KR" sz="1600" dirty="0"/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영상처리관련 협의 진행 </a:t>
            </a:r>
            <a:r>
              <a:rPr lang="ko-KR" altLang="en-US" sz="1600"/>
              <a:t>사항</a:t>
            </a:r>
            <a:r>
              <a:rPr lang="en-US" altLang="ko-KR" sz="1600"/>
              <a:t> </a:t>
            </a:r>
            <a:endParaRPr lang="en-US" altLang="ko-KR" sz="1600" smtClean="0"/>
          </a:p>
          <a:p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 : </a:t>
            </a:r>
            <a:r>
              <a:rPr lang="ko-KR" altLang="en-US" sz="1600" smtClean="0">
                <a:solidFill>
                  <a:srgbClr val="0070C0"/>
                </a:solidFill>
              </a:rPr>
              <a:t>표준영상 데이터를 적용한 영상출력 진행</a:t>
            </a:r>
            <a:endParaRPr lang="en-US" altLang="ko-KR" sz="1600" smtClean="0">
              <a:solidFill>
                <a:srgbClr val="0070C0"/>
              </a:solidFill>
            </a:endParaRPr>
          </a:p>
          <a:p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 : </a:t>
            </a:r>
            <a:r>
              <a:rPr lang="ko-KR" altLang="en-US" sz="1600" smtClean="0">
                <a:solidFill>
                  <a:srgbClr val="0070C0"/>
                </a:solidFill>
              </a:rPr>
              <a:t>정의된 영상프로토콜 데이터 영상 변경 시뮬레이션 적용 완료 </a:t>
            </a:r>
            <a:r>
              <a:rPr lang="en-US" altLang="ko-KR" sz="1600" smtClean="0">
                <a:solidFill>
                  <a:srgbClr val="0070C0"/>
                </a:solidFill>
              </a:rPr>
              <a:t>   </a:t>
            </a:r>
            <a:endParaRPr lang="en-US" altLang="ko-KR" sz="1600" dirty="0">
              <a:solidFill>
                <a:srgbClr val="0070C0"/>
              </a:solidFill>
            </a:endParaRPr>
          </a:p>
          <a:p>
            <a:r>
              <a:rPr lang="en-US" altLang="ko-KR" sz="1600" dirty="0"/>
              <a:t> 1.1.4 </a:t>
            </a:r>
            <a:r>
              <a:rPr lang="ko-KR" altLang="en-US" sz="1600" dirty="0"/>
              <a:t>군집운용 통신</a:t>
            </a:r>
            <a:endParaRPr lang="en-US" altLang="ko-KR" sz="1600" dirty="0"/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추후 임무통제장치 </a:t>
            </a:r>
            <a:r>
              <a:rPr lang="en-US" altLang="ko-KR" sz="1600" dirty="0"/>
              <a:t>SW </a:t>
            </a:r>
            <a:r>
              <a:rPr lang="ko-KR" altLang="en-US" sz="1600" dirty="0"/>
              <a:t>적용 소켓 통신 내부 임무시나리오 </a:t>
            </a:r>
            <a:r>
              <a:rPr lang="ko-KR" altLang="en-US" sz="1600"/>
              <a:t>명령 </a:t>
            </a:r>
            <a:r>
              <a:rPr lang="ko-KR" altLang="en-US" sz="1600" smtClean="0"/>
              <a:t>수행</a:t>
            </a:r>
            <a:endParaRPr lang="en-US" altLang="ko-KR" sz="1600" smtClean="0"/>
          </a:p>
          <a:p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 : </a:t>
            </a:r>
            <a:r>
              <a:rPr lang="ko-KR" altLang="en-US" sz="1600" smtClean="0">
                <a:solidFill>
                  <a:srgbClr val="0070C0"/>
                </a:solidFill>
              </a:rPr>
              <a:t>시뮬레이터 개발을 통한 내부 테스트 진행후 군집운영 통신 적용 제어 진행</a:t>
            </a:r>
            <a:endParaRPr lang="en-US" altLang="ko-KR" sz="16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9F95051-DE09-52B5-6378-CF3116D8819C}"/>
              </a:ext>
            </a:extLst>
          </p:cNvPr>
          <p:cNvSpPr txBox="1"/>
          <p:nvPr/>
        </p:nvSpPr>
        <p:spPr>
          <a:xfrm>
            <a:off x="648453" y="5447754"/>
            <a:ext cx="8259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1.2 ICD </a:t>
            </a:r>
            <a:r>
              <a:rPr lang="ko-KR" altLang="en-US" sz="1600" dirty="0"/>
              <a:t>초안 관련</a:t>
            </a:r>
            <a:endParaRPr lang="en-US" altLang="ko-KR" sz="1600" dirty="0"/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현재 </a:t>
            </a:r>
            <a:r>
              <a:rPr lang="en-US" altLang="ko-KR" sz="1600" dirty="0"/>
              <a:t>ICD </a:t>
            </a:r>
            <a:r>
              <a:rPr lang="ko-KR" altLang="en-US" sz="1600" dirty="0"/>
              <a:t>초안 내부 포맷 및 주소 값 지정 관련 검토 필요</a:t>
            </a:r>
            <a:endParaRPr lang="en-US" altLang="ko-KR" sz="1600" dirty="0"/>
          </a:p>
          <a:p>
            <a:r>
              <a:rPr lang="en-US" altLang="ko-KR" sz="1600" dirty="0"/>
              <a:t>     : </a:t>
            </a:r>
            <a:r>
              <a:rPr lang="ko-KR" altLang="en-US" sz="1600" dirty="0"/>
              <a:t>변경 및 진행 현황 대비 추가 필요 사항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통합 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ICD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674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35416B7-2E4E-3B62-F950-5B731CD118A8}"/>
              </a:ext>
            </a:extLst>
          </p:cNvPr>
          <p:cNvSpPr txBox="1"/>
          <p:nvPr/>
        </p:nvSpPr>
        <p:spPr>
          <a:xfrm>
            <a:off x="965300" y="1341682"/>
            <a:ext cx="825941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2.1 </a:t>
            </a:r>
            <a:r>
              <a:rPr lang="ko-KR" altLang="en-US" sz="1600" dirty="0"/>
              <a:t>임무통제장치 </a:t>
            </a:r>
            <a:r>
              <a:rPr lang="en-US" altLang="ko-KR" sz="1600" dirty="0"/>
              <a:t>SW</a:t>
            </a:r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현재 </a:t>
            </a:r>
            <a:r>
              <a:rPr lang="en-US" altLang="ko-KR" sz="1600" dirty="0"/>
              <a:t>GUI </a:t>
            </a:r>
            <a:r>
              <a:rPr lang="ko-KR" altLang="en-US" sz="1600" dirty="0"/>
              <a:t>설계</a:t>
            </a:r>
            <a:r>
              <a:rPr lang="en-US" altLang="ko-KR" sz="1600" dirty="0"/>
              <a:t>(</a:t>
            </a:r>
            <a:r>
              <a:rPr lang="ko-KR" altLang="en-US" sz="1600" dirty="0"/>
              <a:t>안</a:t>
            </a:r>
            <a:r>
              <a:rPr lang="en-US" altLang="ko-KR" sz="1600" dirty="0"/>
              <a:t>) </a:t>
            </a:r>
            <a:r>
              <a:rPr lang="ko-KR" altLang="en-US" sz="1600" dirty="0"/>
              <a:t>기준 제작 현황 </a:t>
            </a:r>
            <a:r>
              <a:rPr lang="ko-KR" altLang="en-US" sz="1600"/>
              <a:t>확인 </a:t>
            </a:r>
            <a:r>
              <a:rPr lang="ko-KR" altLang="en-US" sz="1600" smtClean="0"/>
              <a:t>필요</a:t>
            </a:r>
            <a:endParaRPr lang="en-US" altLang="ko-KR" sz="1600" smtClean="0"/>
          </a:p>
          <a:p>
            <a:r>
              <a:rPr lang="en-US" altLang="ko-KR" sz="1600" smtClean="0">
                <a:solidFill>
                  <a:srgbClr val="0070C0"/>
                </a:solidFill>
              </a:rPr>
              <a:t>     : </a:t>
            </a:r>
            <a:r>
              <a:rPr lang="ko-KR" altLang="en-US" sz="1600" smtClean="0">
                <a:solidFill>
                  <a:srgbClr val="0070C0"/>
                </a:solidFill>
              </a:rPr>
              <a:t>임무통제 제어 프로토콜을 적용한 시뮬에이터 개발 제어 진행 </a:t>
            </a:r>
            <a:endParaRPr lang="en-US" altLang="ko-KR" sz="1600" smtClean="0">
              <a:solidFill>
                <a:srgbClr val="0070C0"/>
              </a:solidFill>
            </a:endParaRPr>
          </a:p>
          <a:p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 : </a:t>
            </a:r>
            <a:r>
              <a:rPr lang="ko-KR" altLang="en-US" sz="1600" smtClean="0">
                <a:solidFill>
                  <a:srgbClr val="0070C0"/>
                </a:solidFill>
              </a:rPr>
              <a:t>가상의 시률레이터를 활용한 테스트 진행</a:t>
            </a:r>
            <a:endParaRPr lang="en-US" altLang="ko-KR" sz="1600" smtClean="0">
              <a:solidFill>
                <a:srgbClr val="0070C0"/>
              </a:solidFill>
            </a:endParaRPr>
          </a:p>
          <a:p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 : </a:t>
            </a:r>
            <a:r>
              <a:rPr lang="ko-KR" altLang="en-US" sz="1600" smtClean="0">
                <a:solidFill>
                  <a:srgbClr val="0070C0"/>
                </a:solidFill>
              </a:rPr>
              <a:t>정의된 프로톨콜을 이용한 제어신호 적용 테스트 진행 완료</a:t>
            </a:r>
            <a:endParaRPr lang="en-US" altLang="ko-KR" sz="1600" smtClean="0">
              <a:solidFill>
                <a:srgbClr val="0070C0"/>
              </a:solidFill>
            </a:endParaRPr>
          </a:p>
          <a:p>
            <a:endParaRPr lang="en-US" altLang="ko-KR" sz="1600">
              <a:solidFill>
                <a:srgbClr val="0070C0"/>
              </a:solidFill>
            </a:endParaRPr>
          </a:p>
          <a:p>
            <a:pPr fontAlgn="base" latinLnBrk="0"/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- </a:t>
            </a:r>
            <a:r>
              <a:rPr lang="ko-KR" altLang="en-US" sz="1600" smtClean="0">
                <a:solidFill>
                  <a:srgbClr val="0070C0"/>
                </a:solidFill>
              </a:rPr>
              <a:t>시뮬레이터 </a:t>
            </a:r>
            <a:r>
              <a:rPr lang="ko-KR" altLang="en-US" sz="1600">
                <a:solidFill>
                  <a:srgbClr val="0070C0"/>
                </a:solidFill>
              </a:rPr>
              <a:t>추가 </a:t>
            </a:r>
            <a:r>
              <a:rPr lang="ko-KR" altLang="en-US" sz="1600" smtClean="0">
                <a:solidFill>
                  <a:srgbClr val="0070C0"/>
                </a:solidFill>
              </a:rPr>
              <a:t>개발</a:t>
            </a:r>
            <a:endParaRPr lang="en-US" altLang="ko-KR" sz="1600" smtClean="0">
              <a:solidFill>
                <a:srgbClr val="0070C0"/>
              </a:solidFill>
            </a:endParaRPr>
          </a:p>
          <a:p>
            <a:pPr fontAlgn="base" latinLnBrk="0"/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 : </a:t>
            </a:r>
            <a:r>
              <a:rPr lang="ko-KR" altLang="en-US" sz="1600" smtClean="0">
                <a:solidFill>
                  <a:srgbClr val="0070C0"/>
                </a:solidFill>
              </a:rPr>
              <a:t>임무통제 서버 개발</a:t>
            </a:r>
            <a:r>
              <a:rPr lang="en-US" altLang="ko-KR" sz="1600" smtClean="0">
                <a:solidFill>
                  <a:srgbClr val="0070C0"/>
                </a:solidFill>
              </a:rPr>
              <a:t>, </a:t>
            </a:r>
            <a:r>
              <a:rPr lang="ko-KR" altLang="en-US" sz="1600" smtClean="0">
                <a:solidFill>
                  <a:srgbClr val="0070C0"/>
                </a:solidFill>
              </a:rPr>
              <a:t>원격제어 클라이언트개발</a:t>
            </a:r>
            <a:r>
              <a:rPr lang="en-US" altLang="ko-KR" sz="1600" smtClean="0">
                <a:solidFill>
                  <a:srgbClr val="0070C0"/>
                </a:solidFill>
              </a:rPr>
              <a:t>, </a:t>
            </a:r>
            <a:r>
              <a:rPr lang="ko-KR" altLang="en-US" sz="1600" smtClean="0">
                <a:solidFill>
                  <a:srgbClr val="0070C0"/>
                </a:solidFill>
              </a:rPr>
              <a:t>기관정의된 프로토콜적용</a:t>
            </a:r>
            <a:endParaRPr lang="ko-KR" altLang="en-US" sz="1600">
              <a:solidFill>
                <a:srgbClr val="0070C0"/>
              </a:solidFill>
            </a:endParaRPr>
          </a:p>
          <a:p>
            <a:pPr fontAlgn="base" latinLnBrk="0"/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- </a:t>
            </a:r>
            <a:r>
              <a:rPr lang="ko-KR" altLang="en-US" sz="1600" smtClean="0">
                <a:solidFill>
                  <a:srgbClr val="0070C0"/>
                </a:solidFill>
              </a:rPr>
              <a:t>패킷 </a:t>
            </a:r>
            <a:r>
              <a:rPr lang="ko-KR" altLang="en-US" sz="1600">
                <a:solidFill>
                  <a:srgbClr val="0070C0"/>
                </a:solidFill>
              </a:rPr>
              <a:t>통신 시뮬레이션을 통한 원격 관제시스템 개발</a:t>
            </a:r>
          </a:p>
          <a:p>
            <a:pPr fontAlgn="base" latinLnBrk="0"/>
            <a:r>
              <a:rPr lang="en-US" altLang="ko-KR" sz="1600">
                <a:solidFill>
                  <a:srgbClr val="0070C0"/>
                </a:solidFill>
              </a:rPr>
              <a:t> </a:t>
            </a:r>
            <a:r>
              <a:rPr lang="en-US" altLang="ko-KR" sz="1600" smtClean="0">
                <a:solidFill>
                  <a:srgbClr val="0070C0"/>
                </a:solidFill>
              </a:rPr>
              <a:t>   - </a:t>
            </a:r>
            <a:r>
              <a:rPr lang="ko-KR" altLang="en-US" sz="1600" smtClean="0">
                <a:solidFill>
                  <a:srgbClr val="0070C0"/>
                </a:solidFill>
              </a:rPr>
              <a:t>설정 </a:t>
            </a:r>
            <a:r>
              <a:rPr lang="ko-KR" altLang="en-US" sz="1600">
                <a:solidFill>
                  <a:srgbClr val="0070C0"/>
                </a:solidFill>
              </a:rPr>
              <a:t>파일 관리 시스템 </a:t>
            </a:r>
            <a:r>
              <a:rPr lang="ko-KR" altLang="en-US" sz="1600" smtClean="0">
                <a:solidFill>
                  <a:srgbClr val="0070C0"/>
                </a:solidFill>
              </a:rPr>
              <a:t>개발</a:t>
            </a:r>
            <a:endParaRPr lang="en-US" altLang="ko-KR" sz="1600" smtClean="0">
              <a:solidFill>
                <a:srgbClr val="0070C0"/>
              </a:solidFill>
            </a:endParaRPr>
          </a:p>
          <a:p>
            <a:r>
              <a:rPr lang="en-US" altLang="ko-KR" sz="1600" smtClean="0"/>
              <a:t>    </a:t>
            </a:r>
            <a:r>
              <a:rPr lang="en-US" altLang="ko-KR" sz="1600" dirty="0"/>
              <a:t>- </a:t>
            </a:r>
            <a:r>
              <a:rPr lang="ko-KR" altLang="en-US" sz="1600" dirty="0"/>
              <a:t>추후 타 기관 </a:t>
            </a:r>
            <a:r>
              <a:rPr lang="en-US" altLang="ko-KR" sz="1600" dirty="0"/>
              <a:t>SW </a:t>
            </a:r>
            <a:r>
              <a:rPr lang="ko-KR" altLang="en-US" sz="1600" dirty="0"/>
              <a:t>통합 진행 필요 </a:t>
            </a:r>
            <a:endParaRPr lang="en-US" altLang="ko-KR" sz="1600" dirty="0"/>
          </a:p>
          <a:p>
            <a:r>
              <a:rPr lang="en-US" altLang="ko-KR" sz="1600" dirty="0"/>
              <a:t>      : </a:t>
            </a:r>
            <a:r>
              <a:rPr lang="ko-KR" altLang="en-US" sz="1600" dirty="0"/>
              <a:t>내부 소켓 활용 </a:t>
            </a:r>
            <a:r>
              <a:rPr lang="en-US" altLang="ko-KR" sz="1600" dirty="0"/>
              <a:t>[</a:t>
            </a:r>
            <a:r>
              <a:rPr lang="ko-KR" altLang="en-US" sz="1600" dirty="0" err="1"/>
              <a:t>로봇군집운용</a:t>
            </a:r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임무시나리오명령</a:t>
            </a:r>
            <a:r>
              <a:rPr lang="en-US" altLang="ko-KR" sz="1600" dirty="0"/>
              <a:t>] </a:t>
            </a:r>
            <a:r>
              <a:rPr lang="ko-KR" altLang="en-US" sz="1600" dirty="0"/>
              <a:t>관련 </a:t>
            </a:r>
            <a:r>
              <a:rPr lang="ko-KR" altLang="en-US" sz="1600"/>
              <a:t>수행 </a:t>
            </a:r>
            <a:r>
              <a:rPr lang="ko-KR" altLang="en-US" sz="1600" smtClean="0"/>
              <a:t>예정</a:t>
            </a:r>
            <a:endParaRPr lang="en-US" altLang="ko-KR" sz="1600" smtClean="0"/>
          </a:p>
          <a:p>
            <a:endParaRPr lang="en-US" altLang="ko-KR" sz="1600" dirty="0"/>
          </a:p>
          <a:p>
            <a:r>
              <a:rPr lang="en-US" altLang="ko-KR" sz="1600" dirty="0"/>
              <a:t>2.2 </a:t>
            </a:r>
            <a:r>
              <a:rPr lang="ko-KR" altLang="en-US" sz="1600" dirty="0"/>
              <a:t>휴대용조종장치 </a:t>
            </a:r>
            <a:r>
              <a:rPr lang="en-US" altLang="ko-KR" sz="1600" dirty="0"/>
              <a:t>SW</a:t>
            </a:r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현재 </a:t>
            </a:r>
            <a:r>
              <a:rPr lang="en-US" altLang="ko-KR" sz="1600" dirty="0"/>
              <a:t>GUI </a:t>
            </a:r>
            <a:r>
              <a:rPr lang="ko-KR" altLang="en-US" sz="1600" dirty="0"/>
              <a:t>설계</a:t>
            </a:r>
            <a:r>
              <a:rPr lang="en-US" altLang="ko-KR" sz="1600" dirty="0"/>
              <a:t>(</a:t>
            </a:r>
            <a:r>
              <a:rPr lang="ko-KR" altLang="en-US" sz="1600" dirty="0"/>
              <a:t>안</a:t>
            </a:r>
            <a:r>
              <a:rPr lang="en-US" altLang="ko-KR" sz="1600" dirty="0"/>
              <a:t>) </a:t>
            </a:r>
            <a:r>
              <a:rPr lang="ko-KR" altLang="en-US" sz="1600" dirty="0"/>
              <a:t>기준 제작 현황 </a:t>
            </a:r>
            <a:r>
              <a:rPr lang="ko-KR" altLang="en-US" sz="1600"/>
              <a:t>확인 </a:t>
            </a:r>
            <a:r>
              <a:rPr lang="ko-KR" altLang="en-US" sz="1600" smtClean="0"/>
              <a:t>필요</a:t>
            </a:r>
            <a:endParaRPr lang="en-US" altLang="ko-KR" sz="1600" smtClean="0"/>
          </a:p>
          <a:p>
            <a:r>
              <a:rPr lang="en-US" altLang="ko-KR" sz="1600"/>
              <a:t> </a:t>
            </a:r>
            <a:r>
              <a:rPr lang="en-US" altLang="ko-KR" sz="1600" smtClean="0"/>
              <a:t>     : </a:t>
            </a:r>
            <a:r>
              <a:rPr lang="ko-KR" altLang="en-US" sz="1600" smtClean="0"/>
              <a:t>운영통제 제어 와</a:t>
            </a:r>
            <a:r>
              <a:rPr lang="en-US" altLang="ko-KR" sz="1600" smtClean="0"/>
              <a:t> </a:t>
            </a:r>
            <a:r>
              <a:rPr lang="ko-KR" altLang="en-US" sz="1600" smtClean="0"/>
              <a:t>동일한 기능 및 제어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설계 진행 </a:t>
            </a:r>
            <a:endParaRPr lang="en-US" altLang="ko-KR" sz="1600" smtClean="0"/>
          </a:p>
          <a:p>
            <a:r>
              <a:rPr lang="en-US" altLang="ko-KR" sz="1600"/>
              <a:t> </a:t>
            </a:r>
            <a:r>
              <a:rPr lang="en-US" altLang="ko-KR" sz="1600" smtClean="0"/>
              <a:t>     : </a:t>
            </a:r>
            <a:r>
              <a:rPr lang="ko-KR" altLang="en-US" sz="1600" smtClean="0"/>
              <a:t>모바일 프로토콜 적용한 제어 프로그램 개발 진행 예정</a:t>
            </a:r>
            <a:endParaRPr lang="en-US" altLang="ko-KR" sz="1600" smtClean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제작 현황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18442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612" y="1816399"/>
            <a:ext cx="5060819" cy="975333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809941"/>
            <a:ext cx="5060819" cy="97533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71094" y="1134735"/>
            <a:ext cx="10729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3.0 </a:t>
            </a:r>
            <a:r>
              <a:rPr lang="ko-KR" altLang="en-US" smtClean="0"/>
              <a:t>임무통제장치 </a:t>
            </a:r>
            <a:r>
              <a:rPr lang="en-US" altLang="ko-KR" smtClean="0"/>
              <a:t>SW </a:t>
            </a:r>
            <a:r>
              <a:rPr lang="ko-KR" altLang="ko-KR" sz="1600" smtClean="0"/>
              <a:t>시뮬레이터</a:t>
            </a:r>
            <a:r>
              <a:rPr lang="ko-KR" altLang="ko-KR" smtClean="0"/>
              <a:t> </a:t>
            </a:r>
            <a:r>
              <a:rPr lang="ko-KR" altLang="en-US" smtClean="0"/>
              <a:t>테스트 환경</a:t>
            </a:r>
            <a:endParaRPr lang="en-US" altLang="ko-KR" smtClean="0"/>
          </a:p>
        </p:txBody>
      </p:sp>
      <p:sp>
        <p:nvSpPr>
          <p:cNvPr id="8" name="타원 7"/>
          <p:cNvSpPr/>
          <p:nvPr/>
        </p:nvSpPr>
        <p:spPr>
          <a:xfrm>
            <a:off x="2800865" y="2258405"/>
            <a:ext cx="209668" cy="2145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7607933" y="2293051"/>
            <a:ext cx="209668" cy="2145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71094" y="1467606"/>
            <a:ext cx="10729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앞축파일 </a:t>
            </a:r>
            <a:r>
              <a:rPr lang="en-US" altLang="ko-KR" sz="1400" b="1" smtClean="0"/>
              <a:t>2</a:t>
            </a:r>
            <a:r>
              <a:rPr lang="ko-KR" altLang="en-US" sz="1400" b="1" smtClean="0"/>
              <a:t>개 설치 후 </a:t>
            </a:r>
            <a:r>
              <a:rPr lang="en-US" altLang="ko-KR" sz="1400" b="1" smtClean="0"/>
              <a:t>1</a:t>
            </a:r>
            <a:r>
              <a:rPr lang="ko-KR" altLang="en-US" sz="1400" b="1" smtClean="0"/>
              <a:t>번 실행 </a:t>
            </a:r>
            <a:r>
              <a:rPr lang="en-US" altLang="ko-KR" sz="1400" b="1" smtClean="0"/>
              <a:t>nagibot-&gt;simulator-&gt;car_simulator, </a:t>
            </a:r>
            <a:r>
              <a:rPr lang="ko-KR" altLang="en-US" sz="1400" b="1" smtClean="0"/>
              <a:t>실행 </a:t>
            </a:r>
            <a:r>
              <a:rPr lang="en-US" altLang="ko-KR" sz="1400" b="1" smtClean="0"/>
              <a:t>2</a:t>
            </a:r>
            <a:r>
              <a:rPr lang="ko-KR" altLang="en-US" sz="1400" b="1" smtClean="0"/>
              <a:t>번 </a:t>
            </a:r>
            <a:r>
              <a:rPr lang="en-US" altLang="ko-KR" sz="1400" b="1" smtClean="0"/>
              <a:t>nagibot-&gt;control-&gt;app</a:t>
            </a:r>
            <a:r>
              <a:rPr lang="ko-KR" altLang="en-US" sz="1400" b="1" smtClean="0"/>
              <a:t>실행</a:t>
            </a:r>
            <a:endParaRPr lang="en-US" altLang="ko-KR" sz="1400" b="1" smtClean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제작 세부 현황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5774612" y="2785274"/>
            <a:ext cx="4911861" cy="3218362"/>
            <a:chOff x="846163" y="4121714"/>
            <a:chExt cx="3946975" cy="2473998"/>
          </a:xfrm>
        </p:grpSpPr>
        <p:grpSp>
          <p:nvGrpSpPr>
            <p:cNvPr id="20" name="그룹 19"/>
            <p:cNvGrpSpPr/>
            <p:nvPr/>
          </p:nvGrpSpPr>
          <p:grpSpPr>
            <a:xfrm>
              <a:off x="846163" y="4121714"/>
              <a:ext cx="3946975" cy="2473998"/>
              <a:chOff x="846163" y="4121714"/>
              <a:chExt cx="3946975" cy="2473998"/>
            </a:xfrm>
          </p:grpSpPr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8447" y="4432602"/>
                <a:ext cx="3884691" cy="2163110"/>
              </a:xfrm>
              <a:prstGeom prst="rect">
                <a:avLst/>
              </a:prstGeom>
            </p:spPr>
          </p:pic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972" y="4993203"/>
                <a:ext cx="1125774" cy="570286"/>
              </a:xfrm>
              <a:prstGeom prst="rect">
                <a:avLst/>
              </a:prstGeom>
              <a:ln w="38100">
                <a:noFill/>
              </a:ln>
            </p:spPr>
          </p:pic>
          <p:sp>
            <p:nvSpPr>
              <p:cNvPr id="30" name="TextBox 29"/>
              <p:cNvSpPr txBox="1"/>
              <p:nvPr/>
            </p:nvSpPr>
            <p:spPr>
              <a:xfrm>
                <a:off x="846163" y="4121714"/>
                <a:ext cx="323529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smtClean="0"/>
                  <a:t>임무통제 제어 </a:t>
                </a:r>
                <a:r>
                  <a:rPr lang="en-US" altLang="ko-KR" sz="1400" b="1" smtClean="0"/>
                  <a:t>SW</a:t>
                </a:r>
                <a:endParaRPr lang="ko-KR" altLang="en-US" sz="1400" b="1"/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1084163" y="5264748"/>
                <a:ext cx="302599" cy="1297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1431068" y="5264748"/>
                <a:ext cx="302599" cy="129747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3191642" y="5086387"/>
              <a:ext cx="1489361" cy="477102"/>
              <a:chOff x="4643868" y="3336847"/>
              <a:chExt cx="1498887" cy="993492"/>
            </a:xfrm>
          </p:grpSpPr>
          <p:sp>
            <p:nvSpPr>
              <p:cNvPr id="22" name="아래쪽 화살표 21"/>
              <p:cNvSpPr/>
              <p:nvPr/>
            </p:nvSpPr>
            <p:spPr>
              <a:xfrm>
                <a:off x="5107707" y="3442990"/>
                <a:ext cx="221673" cy="27671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아래쪽 화살표 22"/>
              <p:cNvSpPr/>
              <p:nvPr/>
            </p:nvSpPr>
            <p:spPr>
              <a:xfrm>
                <a:off x="4885025" y="3751624"/>
                <a:ext cx="221673" cy="276714"/>
              </a:xfrm>
              <a:prstGeom prst="downArrow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아래쪽 화살표 23"/>
              <p:cNvSpPr/>
              <p:nvPr/>
            </p:nvSpPr>
            <p:spPr>
              <a:xfrm>
                <a:off x="4643868" y="4053625"/>
                <a:ext cx="221673" cy="276714"/>
              </a:xfrm>
              <a:prstGeom prst="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134260" y="3336847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254-124-375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985228" y="3775585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254-125-365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693512" y="4038509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254-134-365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35" name="그룹 34"/>
          <p:cNvGrpSpPr/>
          <p:nvPr/>
        </p:nvGrpSpPr>
        <p:grpSpPr>
          <a:xfrm>
            <a:off x="719846" y="2791732"/>
            <a:ext cx="4746394" cy="3211904"/>
            <a:chOff x="846164" y="1197754"/>
            <a:chExt cx="3946975" cy="2553809"/>
          </a:xfrm>
        </p:grpSpPr>
        <p:grpSp>
          <p:nvGrpSpPr>
            <p:cNvPr id="36" name="그룹 35"/>
            <p:cNvGrpSpPr/>
            <p:nvPr/>
          </p:nvGrpSpPr>
          <p:grpSpPr>
            <a:xfrm>
              <a:off x="908447" y="1566423"/>
              <a:ext cx="3884692" cy="2185140"/>
              <a:chOff x="908447" y="1566423"/>
              <a:chExt cx="3884692" cy="2185140"/>
            </a:xfrm>
          </p:grpSpPr>
          <p:pic>
            <p:nvPicPr>
              <p:cNvPr id="38" name="그림 3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8447" y="1566423"/>
                <a:ext cx="3884692" cy="2185140"/>
              </a:xfrm>
              <a:prstGeom prst="rect">
                <a:avLst/>
              </a:prstGeom>
            </p:spPr>
          </p:pic>
          <p:pic>
            <p:nvPicPr>
              <p:cNvPr id="39" name="그림 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0453" y="1699938"/>
                <a:ext cx="2742685" cy="1321177"/>
              </a:xfrm>
              <a:prstGeom prst="rect">
                <a:avLst/>
              </a:prstGeom>
              <a:ln w="38100">
                <a:noFill/>
              </a:ln>
            </p:spPr>
          </p:pic>
          <p:sp>
            <p:nvSpPr>
              <p:cNvPr id="40" name="직사각형 39"/>
              <p:cNvSpPr/>
              <p:nvPr/>
            </p:nvSpPr>
            <p:spPr>
              <a:xfrm>
                <a:off x="2248271" y="2396530"/>
                <a:ext cx="790575" cy="22698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3232274" y="2396530"/>
                <a:ext cx="520947" cy="226987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3820990" y="2396530"/>
                <a:ext cx="520947" cy="226987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846164" y="1197754"/>
              <a:ext cx="3235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smtClean="0"/>
                <a:t>운용통제 제어 </a:t>
              </a:r>
              <a:r>
                <a:rPr lang="en-US" altLang="ko-KR" sz="1400" b="1" smtClean="0"/>
                <a:t>SW</a:t>
              </a:r>
              <a:endParaRPr lang="ko-KR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1725252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01765" y="1182301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3.1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제어 </a:t>
            </a:r>
            <a:r>
              <a:rPr lang="ko-KR" altLang="ko-KR" sz="1600"/>
              <a:t>시뮬레이터 </a:t>
            </a:r>
            <a:r>
              <a:rPr lang="ko-KR" altLang="en-US" sz="1600" smtClean="0"/>
              <a:t>시스템 아키텍처</a:t>
            </a:r>
            <a:endParaRPr lang="en-US" altLang="ko-KR" sz="1600" smtClean="0"/>
          </a:p>
        </p:txBody>
      </p:sp>
      <p:sp>
        <p:nvSpPr>
          <p:cNvPr id="3" name="직사각형 2"/>
          <p:cNvSpPr/>
          <p:nvPr/>
        </p:nvSpPr>
        <p:spPr>
          <a:xfrm>
            <a:off x="410010" y="2025837"/>
            <a:ext cx="11379177" cy="374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시뮬레이터 </a:t>
            </a: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서버 측</a:t>
            </a: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물리 시뮬레이션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: MuJoCo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엔진을 사용하여 차량의 동작을 계산합니다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. XML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모델 파일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예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: citeturn0file1, citeturn0file2)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을 통해 차량의 형상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관절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액추에이터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센서 등이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정의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통신 서버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: TCP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소켓을 열어 클라이언트의 연결을 대기하며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수신된 주행 제어 명령을 해석하고 차량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동작 반영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렌더링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: Pygame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기반의 렌더러를 이용하여 시뮬레이션 장면을 실시간으로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화면 출력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원격 제어 클라이언트 </a:t>
            </a: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클라이언트 측</a:t>
            </a: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en-US" altLang="ko-KR" sz="1600" b="1" kern="0">
                <a:solidFill>
                  <a:srgbClr val="000000"/>
                </a:solidFill>
                <a:latin typeface="+mj-ea"/>
                <a:ea typeface="+mj-ea"/>
              </a:rPr>
              <a:t>GUI 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인터페이스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: Pygame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을 이용하여 사용자에게 차량 상태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속도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위치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바퀴 상태 등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를 표시하고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키보드 입력으로 주행 명령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전진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후진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좌우 회전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 전송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citeturn0file0</a:t>
            </a: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네트워크 통신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: TCP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소켓을 통해 시뮬레이터와 양방향 통신을 수행하며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JSON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형식으로 명령과 상태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데이터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Sin,Ack.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b="1" kern="0">
                <a:solidFill>
                  <a:srgbClr val="000000"/>
                </a:solidFill>
                <a:latin typeface="+mj-ea"/>
                <a:ea typeface="+mj-ea"/>
              </a:rPr>
              <a:t>통신 프로토콜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정찰로봇 프로토콜은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Little-Endian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방식으로 패킷을 직렬화하며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패킷의 헤더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데이터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접미사를 포함하는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구조 설계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자세한 내용은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citeturn0file3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참고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)</a:t>
            </a:r>
            <a:endParaRPr lang="ko-KR" altLang="en-US" sz="1600" kern="0" spc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세부 현황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20928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12602" y="1505574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3.2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제어 프로토콜 설계</a:t>
            </a:r>
            <a:endParaRPr lang="en-US" altLang="ko-KR" sz="1600" smtClean="0"/>
          </a:p>
        </p:txBody>
      </p:sp>
      <p:sp>
        <p:nvSpPr>
          <p:cNvPr id="7" name="직사각형 6"/>
          <p:cNvSpPr/>
          <p:nvPr/>
        </p:nvSpPr>
        <p:spPr>
          <a:xfrm>
            <a:off x="704681" y="1967848"/>
            <a:ext cx="10316584" cy="374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 구조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패킷은 시작 프리픽스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(PREFIX),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송신자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/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수신자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ID,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시퀀스 번호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전송 종류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(SendType),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내용 종류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(ContentType),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길이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접미사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(SUFFIX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구성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부분에는 센서 상태 정보나 주행 제어 명령과 같이 구조체를 이진 형식으로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직렬화 값 포함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구조체 정의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b="1" kern="0">
                <a:solidFill>
                  <a:srgbClr val="000000"/>
                </a:solidFill>
                <a:latin typeface="Arial" panose="020B0604020202020204" pitchFamily="34" charset="0"/>
              </a:rPr>
              <a:t>SensorStatus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센서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ID,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온도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배터리 정보를 포함하며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이를 이진 형식으로 변환하여 패킷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포함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057910" indent="-18542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b="1" kern="0">
                <a:solidFill>
                  <a:srgbClr val="000000"/>
                </a:solidFill>
                <a:latin typeface="Arial" panose="020B0604020202020204" pitchFamily="34" charset="0"/>
              </a:rPr>
              <a:t>DriveControl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차량의 속도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회전각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라디안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운용 모드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자율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/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수동 등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포함하는 제어 명령으로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주행 제어 명령 패킷의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전송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 생성 및 파싱 함수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센서 상태 및 주행 제어 명령에 대해 각각 패킷 생성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(create_sensor_status_packet, create_drive_control_packet)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파싱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(parse_sensor_status_data, parse_drive_control_data)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기능을 제공하여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통신의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신뢰성 확보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세부 현황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63544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66419" y="1385501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3.3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시뮬레이터 개발</a:t>
            </a:r>
            <a:endParaRPr lang="en-US" altLang="ko-KR" sz="1600" smtClean="0"/>
          </a:p>
        </p:txBody>
      </p:sp>
      <p:sp>
        <p:nvSpPr>
          <p:cNvPr id="6" name="직사각형 5"/>
          <p:cNvSpPr/>
          <p:nvPr/>
        </p:nvSpPr>
        <p:spPr>
          <a:xfrm>
            <a:off x="564853" y="1833199"/>
            <a:ext cx="10660828" cy="4022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모델 로드 및 시뮬레이션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MuJoCo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의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XML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모델 파일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예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citeturn0file1)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이용하여 차량 모델을 로드합니다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차량은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freejoint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포함한 본체와 좌우 바퀴로 구성되어 있으며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tendons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통한 주행 및 회전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제어 구현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시뮬레이션 루프에서는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MuJoCo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의 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mj_step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함수를 반복 호출하여 물리 계산을 수행하며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이를 통해 차량의 위치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방향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속도 등의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 업데이트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통신 및 제어 명령 처리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TCP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서버를 열어 클라이언트의 연결을 대기하고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수신된 주행 제어 명령을 파싱하여 차량 액추에이터 제어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신호 변환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전송 함수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(send_vehicle_state)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는 차량의 센서 데이터를 패킷으로 직렬화하여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클라이언트 전송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인덱스 접근 방식은 모델의 내부 구조에 맞게 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jnt_qposadr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와 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jnt_dofadr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사용하여 올바른 데이터를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참조 구현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렌더링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97940" indent="-534670" fontAlgn="base" latinLnBrk="0">
              <a:lnSpc>
                <a:spcPct val="114000"/>
              </a:lnSpc>
            </a:pPr>
            <a:r>
              <a:rPr lang="ko-KR" altLang="en-US" sz="1600" kern="0" smtClean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Pygame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사용하여 실시간 렌더링을 수행하며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시뮬레이터의 창 종료 이벤트를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통해</a:t>
            </a:r>
            <a:endParaRPr lang="en-US" altLang="ko-KR" sz="1600" kern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  <a:p>
            <a:pPr marL="1297940" indent="-53467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시뮬레이션 및 통신 루프를 정상적으로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종료 설계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세부 현황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94030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38710" y="1265428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3.4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원격 제어 클라이언트 개발</a:t>
            </a:r>
            <a:endParaRPr lang="en-US" altLang="ko-KR" sz="1600" smtClean="0"/>
          </a:p>
        </p:txBody>
      </p:sp>
      <p:sp>
        <p:nvSpPr>
          <p:cNvPr id="4" name="직사각형 3"/>
          <p:cNvSpPr/>
          <p:nvPr/>
        </p:nvSpPr>
        <p:spPr>
          <a:xfrm>
            <a:off x="537144" y="1634760"/>
            <a:ext cx="10823090" cy="2618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GUI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사용자 입력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Pygame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기반의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GUI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통해 차량 상태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위치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속도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바퀴 위치 등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시각적으로 표시하며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키보드 입력을 통해 주행 명령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전진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후진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좌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/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우 회전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제어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실시간 입력에 따라 명령 값이 변화하고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일정 시간 간격마다 명령이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TCP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소켓을 통해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시뮬레이터 전송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수신 및 업데이트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별도의 수신 스레드를 통해 시뮬레이터로부터 상태 메시지를 받아 처리하고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GUI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에 해당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정보 업데이트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데이터는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JSON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형식으로 전송되며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이를 파싱하여 차량의 현재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반영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유연한 운영 모드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GUI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모드와 콘솔 모드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텍스트 기반 입력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모두 지원하여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다양한 환경에서 시스템을 테스트하고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운영 설계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42322" y="4438220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3.5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기술 스택</a:t>
            </a:r>
            <a:endParaRPr lang="en-US" altLang="ko-KR" sz="1600" smtClean="0"/>
          </a:p>
        </p:txBody>
      </p:sp>
      <p:sp>
        <p:nvSpPr>
          <p:cNvPr id="6" name="직사각형 5"/>
          <p:cNvSpPr/>
          <p:nvPr/>
        </p:nvSpPr>
        <p:spPr>
          <a:xfrm>
            <a:off x="967862" y="4807552"/>
            <a:ext cx="8054410" cy="149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언어 및 라이브러리</a:t>
            </a: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: Python, NumPy, struct, threading, socket</a:t>
            </a:r>
          </a:p>
          <a:p>
            <a:pPr marL="6858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시뮬레이션 엔진</a:t>
            </a: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: MuJoCo</a:t>
            </a:r>
          </a:p>
          <a:p>
            <a:pPr marL="6858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그래픽 및 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GUI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Pygame, PySide6 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일부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UI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모듈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프로토콜 구현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사용자 정의 정찰로봇 프로토콜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이진 패킷 직렬화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직렬화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JSON 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클라이언트 상태 전송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세부 현황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756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78855" y="1173605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4.1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시스템 구성 및 아키텍처</a:t>
            </a:r>
            <a:endParaRPr lang="en-US" altLang="ko-KR" sz="1600" smtClean="0"/>
          </a:p>
        </p:txBody>
      </p:sp>
      <p:sp>
        <p:nvSpPr>
          <p:cNvPr id="5" name="직사각형 4"/>
          <p:cNvSpPr/>
          <p:nvPr/>
        </p:nvSpPr>
        <p:spPr>
          <a:xfrm>
            <a:off x="777289" y="1542937"/>
            <a:ext cx="10625381" cy="2211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모듈 </a:t>
            </a:r>
            <a:r>
              <a:rPr lang="ko-KR" altLang="en-US" sz="1600" b="1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분리</a:t>
            </a:r>
            <a:endParaRPr lang="en-US" altLang="ko-KR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Arial" panose="020B0604020202020204" pitchFamily="34" charset="0"/>
              </a:rPr>
              <a:t>     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 통신 모듈 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(protocol.py)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통신 프로토콜의 직렬화 및 파싱을 담당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원격 관제 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GUI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모듈 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(mainForm.py)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PySide6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활용해 사용자 인터페이스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영상 스트림 처리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업데이트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제어 명령 전송 기능을 구현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통신 흐름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정찰로봇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클라이언트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와 지휘통제소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서버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간에 패킷 단위로 데이터를 주고받으며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시뮬레이션 환경에서는 가상 센서 데이터와 영상 스트림을 사용하여 전체 시스템 동작을 검증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시뮬레이션 원격 제어 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l="65687"/>
          <a:stretch/>
        </p:blipFill>
        <p:spPr>
          <a:xfrm>
            <a:off x="6807199" y="3784961"/>
            <a:ext cx="2660073" cy="2786953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1788121" y="3771117"/>
            <a:ext cx="4834351" cy="2813936"/>
            <a:chOff x="908447" y="4432602"/>
            <a:chExt cx="3884691" cy="2163110"/>
          </a:xfrm>
        </p:grpSpPr>
        <p:grpSp>
          <p:nvGrpSpPr>
            <p:cNvPr id="12" name="그룹 11"/>
            <p:cNvGrpSpPr/>
            <p:nvPr/>
          </p:nvGrpSpPr>
          <p:grpSpPr>
            <a:xfrm>
              <a:off x="908447" y="4432602"/>
              <a:ext cx="3884691" cy="2163110"/>
              <a:chOff x="908447" y="4432602"/>
              <a:chExt cx="3884691" cy="2163110"/>
            </a:xfrm>
          </p:grpSpPr>
          <p:pic>
            <p:nvPicPr>
              <p:cNvPr id="20" name="그림 1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8447" y="4432602"/>
                <a:ext cx="3884691" cy="2163110"/>
              </a:xfrm>
              <a:prstGeom prst="rect">
                <a:avLst/>
              </a:prstGeom>
            </p:spPr>
          </p:pic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972" y="4993203"/>
                <a:ext cx="1125774" cy="570286"/>
              </a:xfrm>
              <a:prstGeom prst="rect">
                <a:avLst/>
              </a:prstGeom>
              <a:ln w="38100">
                <a:noFill/>
              </a:ln>
            </p:spPr>
          </p:pic>
          <p:sp>
            <p:nvSpPr>
              <p:cNvPr id="23" name="직사각형 22"/>
              <p:cNvSpPr/>
              <p:nvPr/>
            </p:nvSpPr>
            <p:spPr>
              <a:xfrm>
                <a:off x="1084163" y="5264748"/>
                <a:ext cx="302599" cy="1297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1431068" y="5264748"/>
                <a:ext cx="302599" cy="129747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3191642" y="5086387"/>
              <a:ext cx="1489361" cy="477102"/>
              <a:chOff x="4643868" y="3336847"/>
              <a:chExt cx="1498887" cy="993492"/>
            </a:xfrm>
          </p:grpSpPr>
          <p:sp>
            <p:nvSpPr>
              <p:cNvPr id="14" name="아래쪽 화살표 13"/>
              <p:cNvSpPr/>
              <p:nvPr/>
            </p:nvSpPr>
            <p:spPr>
              <a:xfrm>
                <a:off x="5107707" y="3442990"/>
                <a:ext cx="221673" cy="27671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아래쪽 화살표 14"/>
              <p:cNvSpPr/>
              <p:nvPr/>
            </p:nvSpPr>
            <p:spPr>
              <a:xfrm>
                <a:off x="4885025" y="3751624"/>
                <a:ext cx="221673" cy="276714"/>
              </a:xfrm>
              <a:prstGeom prst="downArrow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아래쪽 화살표 15"/>
              <p:cNvSpPr/>
              <p:nvPr/>
            </p:nvSpPr>
            <p:spPr>
              <a:xfrm>
                <a:off x="4643868" y="4053625"/>
                <a:ext cx="221673" cy="276714"/>
              </a:xfrm>
              <a:prstGeom prst="down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134260" y="3336847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254-124-375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985228" y="3775585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254-125-365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693512" y="4038509"/>
                <a:ext cx="10084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smtClean="0">
                    <a:solidFill>
                      <a:srgbClr val="FF0000"/>
                    </a:solidFill>
                  </a:rPr>
                  <a:t>254-134-365</a:t>
                </a:r>
                <a:endParaRPr lang="ko-KR" altLang="en-US" sz="100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0323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62765" y="2448619"/>
            <a:ext cx="11358180" cy="374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 구조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헤더 구성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71270" indent="-2921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 프리픽스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(PREFIX: 0xAABB)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와 접미사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(SUFFIX: 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0xEDFF)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명시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71270" indent="-2921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 송신자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/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수신자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ID,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순번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(Sequence Number),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전송 타입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(Send Type),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내용 타입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(Content Type),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길이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(Data Length</a:t>
            </a: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포함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테이터 부분</a:t>
            </a: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■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센서 상태 정보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주행 제어 명령 등 실제 제어 및 상태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담음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직렬화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/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파싱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Python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의 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struct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모듈을 사용하여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Little-Endian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방식으로 데이터를 직렬화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to_bytes()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파싱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from_bytes()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처리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센서 정보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(SensorStatus)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와 주행 명령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(DriveControl)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위한 별도의 클래스와 메서드를 구현하여 각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구조체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단위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변환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오류 검증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프리픽스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접미사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 길이 등의 검증 로직을 포함하여 패킷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무결성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확보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66419" y="1930077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4.2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패킷 통신 프로토콜 구현</a:t>
            </a:r>
            <a:endParaRPr lang="en-US" altLang="ko-KR" sz="1600" smtClean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시뮬레이션 원격 제어 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0451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94129" y="1338950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4.3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GUI </a:t>
            </a:r>
            <a:r>
              <a:rPr lang="ko-KR" altLang="en-US" sz="1600" smtClean="0"/>
              <a:t>및 영상 처리 구현</a:t>
            </a:r>
            <a:endParaRPr lang="en-US" altLang="ko-KR" sz="1600" smtClean="0"/>
          </a:p>
        </p:txBody>
      </p:sp>
      <p:sp>
        <p:nvSpPr>
          <p:cNvPr id="6" name="직사각형 5"/>
          <p:cNvSpPr/>
          <p:nvPr/>
        </p:nvSpPr>
        <p:spPr>
          <a:xfrm>
            <a:off x="592563" y="1941891"/>
            <a:ext cx="9852454" cy="374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PySide6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기반 사용자 인터페이스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다중 화면 처리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31570" indent="-22352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 메인 카메라 화면과 서브 카메라 화면을 별도 스레드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(VideoThread)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통해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RTSP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스트림 처리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31570" indent="-22352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OpenStreetMap URL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사용하여 지도 정보를 웹 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(QWebEngineView)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표시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실시간 상태 업데이트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31570" indent="-22352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StatusUpdateThread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통해 주기적으로 센서 데이터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네트워크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배터리 상태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시간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정보 업데이트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기록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UI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구성 요소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31570" indent="-22352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 버튼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라벨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텍스트 박스 등 다양한 위젯을 활용해 제어 명령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표시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폰트 적용 및 테마 변경 기능 구현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스레드 기반 처리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영상 데이터 처리와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UI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업데이트를 별도의 스레드에서 실행하여 메인 스레드의 블로킹 없이 실시간 처리 보장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시뮬레이션 원격 제어 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148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74056" y="1210391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4.4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로봇 클라이언트 통신 및 제어 명령 처리</a:t>
            </a:r>
            <a:endParaRPr lang="en-US" altLang="ko-KR" sz="1600" smtClean="0"/>
          </a:p>
        </p:txBody>
      </p:sp>
      <p:sp>
        <p:nvSpPr>
          <p:cNvPr id="5" name="직사각형 4"/>
          <p:cNvSpPr/>
          <p:nvPr/>
        </p:nvSpPr>
        <p:spPr>
          <a:xfrm>
            <a:off x="472491" y="1579723"/>
            <a:ext cx="10931078" cy="2338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로봇 클라이언트 모듈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robot_client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모듈을 통해 로봇과의 연결을 관리하며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연결 성공 시 센서 데이터 업데이트와 제어 명령 전송 기능 활성화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키 및 버튼 이벤트 처리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각 방향키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전진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후진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좌회전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우회전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비상 정지 버튼에 대해 눌림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/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해제 이벤트 처리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이벤트 발생 시 대응하는 드라이브 제어 명령을 생성하고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해당 명령 패킷 직렬화 전송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드라이브 제어 패킷 생성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DriveControl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구조체를 통해 속도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방향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운용 모드를 지정하고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이를 바탕으로 주행 제어 패킷 생성 로봇 전송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4056" y="3858730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4.5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시뮬레이션 환경 및 테스트</a:t>
            </a:r>
            <a:endParaRPr lang="en-US" altLang="ko-KR" sz="1600" smtClean="0"/>
          </a:p>
        </p:txBody>
      </p:sp>
      <p:sp>
        <p:nvSpPr>
          <p:cNvPr id="7" name="직사각형 6"/>
          <p:cNvSpPr/>
          <p:nvPr/>
        </p:nvSpPr>
        <p:spPr>
          <a:xfrm>
            <a:off x="674056" y="4138215"/>
            <a:ext cx="11242850" cy="2338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가상 데이터 생성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센서 데이터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온도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강수량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풍속 등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는 난수로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생성 시스템 응답성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검증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실제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RTSP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스트림 대신 테스트용 비디오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스트림 영상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처리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기능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확인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 통신 검증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패킷의 직렬화 및 파싱 과정을 반복 테스트하여 데이터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무결성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오류 검출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기능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검증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센서 상태와 주행 명령의 각 전송 및 수신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과정 로그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실시간 모니터링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UI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반응성 테스트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다중 스레드 환경에서 영상 스트림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상태 업데이트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지도 로딩 등 각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기능 동기적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정상 </a:t>
            </a: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작동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확인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시뮬레이션 원격 제어 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4907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08623" y="1199863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5.1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ConfigManager </a:t>
            </a:r>
            <a:r>
              <a:rPr lang="ko-KR" altLang="en-US" sz="1600" smtClean="0"/>
              <a:t>모듈 구현</a:t>
            </a:r>
            <a:endParaRPr lang="en-US" altLang="ko-KR" sz="1600" smtClean="0"/>
          </a:p>
        </p:txBody>
      </p:sp>
      <p:sp>
        <p:nvSpPr>
          <p:cNvPr id="5" name="직사각형 4"/>
          <p:cNvSpPr/>
          <p:nvPr/>
        </p:nvSpPr>
        <p:spPr>
          <a:xfrm>
            <a:off x="757233" y="1642945"/>
            <a:ext cx="8394357" cy="934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기본 구성 설정 데이터 구조</a:t>
            </a: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918210" indent="-11684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최대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3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대의 차량 정보를 관리하며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각 차량은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IP,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포트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카메라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URL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저장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143000" indent="-228600" fontAlgn="base" latinLnBrk="0">
              <a:lnSpc>
                <a:spcPct val="114000"/>
              </a:lnSpc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추가로 전역 설정인 사운드 활성화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(isSoundOn)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포함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13735" y="2930850"/>
            <a:ext cx="6096000" cy="355321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self.config = {</a:t>
            </a:r>
            <a:endParaRPr lang="en-US" altLang="ko-KR" sz="1600" kern="0">
              <a:solidFill>
                <a:srgbClr val="000000"/>
              </a:solidFill>
              <a:latin typeface="Arial" panose="020B0604020202020204" pitchFamily="34" charset="0"/>
              <a:ea typeface="Arial Unicode MS" panose="020B0604020202020204" pitchFamily="50" charset="-127"/>
            </a:endParaRP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"cars": [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{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"ip": "127.0.0.1",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"port": 8080,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"camUrl": "http://127.0.0.1:8081/stream"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},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{ "ip": "", "port": 8080, "camUrl": "" },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{ "ip": "", "port": 8080, "camUrl": "" }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],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"isSoundOn": True</a:t>
            </a:r>
          </a:p>
          <a:p>
            <a:pPr fontAlgn="base" latinLnBrk="0">
              <a:lnSpc>
                <a:spcPct val="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}</a:t>
            </a:r>
            <a:endParaRPr lang="en-US" altLang="ko-KR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5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설정파일 관리 시스템 구현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75463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27222" y="1512024"/>
            <a:ext cx="9531178" cy="4639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14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JSON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기반 파일 입출력</a:t>
            </a:r>
            <a:endParaRPr lang="ko-KR" altLang="en-US" sz="1600" kern="0">
              <a:solidFill>
                <a:srgbClr val="434343"/>
              </a:solidFill>
              <a:latin typeface="Arial" panose="020B0604020202020204" pitchFamily="34" charset="0"/>
            </a:endParaRPr>
          </a:p>
          <a:p>
            <a:pPr marL="461010" indent="-11684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저장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(save_config) </a:t>
            </a:r>
            <a:r>
              <a:rPr lang="en-US" altLang="ko-KR" sz="1600" kern="0">
                <a:solidFill>
                  <a:srgbClr val="188038"/>
                </a:solidFill>
                <a:latin typeface="Roboto Mono"/>
                <a:ea typeface="Roboto Mono"/>
              </a:rPr>
              <a:t>json.dump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사용하여 사람이 읽기 좋은 인덴트 형식으로 설정값을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JSON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파일 저장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불러오기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(load_config)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설정 파일이 존재할 경우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JSON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파일을 읽어 기본 설정 딕셔너리와 병합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파일이 없거나 예외가 발생하면 기본 설정 적용 설계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 latinLnBrk="0">
              <a:lnSpc>
                <a:spcPct val="114000"/>
              </a:lnSpc>
              <a:spcBef>
                <a:spcPts val="1400"/>
              </a:spcBef>
              <a:spcAft>
                <a:spcPts val="400"/>
              </a:spcAft>
            </a:pP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개별 설정 접근 및 변경</a:t>
            </a:r>
            <a:endParaRPr lang="ko-KR" altLang="en-US" sz="1600" kern="0">
              <a:solidFill>
                <a:srgbClr val="434343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Getter/Setter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메서드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74370" indent="-22352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■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차량의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IP,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포트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카메라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URL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개별적으로 조회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(get_car_ip, get_car_port, get_car_cam_url)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및 설정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(set_car_ip, set_car_port, set_car_cam_url).</a:t>
            </a:r>
            <a:endParaRPr lang="en-US" altLang="ko-KR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74370" indent="-22352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■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차량 전체 정보를 다루기 위한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get_car_info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set_car_info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메서드 제공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en-US" altLang="ko-KR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- </a:t>
            </a:r>
            <a:r>
              <a:rPr lang="ko-KR" altLang="en-US" sz="16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유효성 검증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■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차량 인덱스가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0~2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범위 내에 있는지 검사하여 잘못된 접근 시 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ValueError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발생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85800" indent="-228600" fontAlgn="base" latinLnBrk="0">
              <a:lnSpc>
                <a:spcPct val="114000"/>
              </a:lnSpc>
            </a:pPr>
            <a:r>
              <a:rPr lang="ko-KR" altLang="en-US" sz="1600" kern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 ■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데이터의 무결성을 유지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잘못된 설정값 입력 방지</a:t>
            </a:r>
            <a:r>
              <a:rPr lang="en-US" altLang="ko-KR" sz="16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72898" y="1104068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5.2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ConfigManager </a:t>
            </a:r>
            <a:r>
              <a:rPr lang="ko-KR" altLang="en-US" sz="1600" smtClean="0"/>
              <a:t>모듈 구현</a:t>
            </a:r>
            <a:endParaRPr lang="en-US" altLang="ko-KR" sz="1600" smtClean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5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설정파일 관리 시스템 구현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81582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017332" y="1731086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5.3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설정 폼 </a:t>
            </a:r>
            <a:r>
              <a:rPr lang="en-US" altLang="ko-KR" sz="1600" smtClean="0"/>
              <a:t>GUI </a:t>
            </a:r>
            <a:r>
              <a:rPr lang="ko-KR" altLang="en-US" sz="1600" smtClean="0"/>
              <a:t>구현</a:t>
            </a:r>
            <a:r>
              <a:rPr lang="en-US" altLang="ko-KR" sz="1600" smtClean="0"/>
              <a:t>(setupForm </a:t>
            </a:r>
            <a:r>
              <a:rPr lang="ko-KR" altLang="en-US" sz="1600" smtClean="0"/>
              <a:t>모듈</a:t>
            </a:r>
            <a:r>
              <a:rPr lang="en-US" altLang="ko-KR" sz="1600" smtClean="0"/>
              <a:t>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319938" y="2185642"/>
            <a:ext cx="10506302" cy="384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>
              <a:lnSpc>
                <a:spcPct val="114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altLang="ko-KR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UI </a:t>
            </a:r>
            <a:r>
              <a:rPr lang="ko-KR" altLang="en-US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구성 및 초기 데이터 반영</a:t>
            </a:r>
            <a:endParaRPr lang="ko-KR" altLang="en-US" sz="1400" kern="0">
              <a:solidFill>
                <a:srgbClr val="434343"/>
              </a:solidFill>
              <a:latin typeface="Arial" panose="020B0604020202020204" pitchFamily="34" charset="0"/>
            </a:endParaRPr>
          </a:p>
          <a:p>
            <a:pPr marL="461010" indent="-11684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4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ko-KR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PySide6 </a:t>
            </a:r>
            <a:r>
              <a:rPr lang="ko-KR" altLang="en-US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기반 폼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setupForm.py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는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PySide6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활용한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UI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위젯으로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UI.setupForm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모듈을 상속받아 폼 레이아웃 구성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61010" indent="-116840" fontAlgn="base" latinLnBrk="0">
              <a:lnSpc>
                <a:spcPct val="114000"/>
              </a:lnSpc>
            </a:pPr>
            <a:r>
              <a:rPr lang="en-US" altLang="ko-KR" sz="14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초기 설정 로드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폼 생성 시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ConfigManager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인스턴스를 생성하고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load_config()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호출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JSON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파일 설정값 불러옴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61010" indent="-116840" fontAlgn="base" latinLnBrk="0">
              <a:lnSpc>
                <a:spcPct val="114000"/>
              </a:lnSpc>
            </a:pPr>
            <a:r>
              <a:rPr lang="en-US" altLang="ko-KR" sz="14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설정값을 각 텍스트 에디터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예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: textEditCar1ip, textEditCar1port, textEditCar1Camurl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등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)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에 반영되어 사용자가 현재 설정 확인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 latinLnBrk="0">
              <a:lnSpc>
                <a:spcPct val="114000"/>
              </a:lnSpc>
              <a:spcBef>
                <a:spcPts val="1400"/>
              </a:spcBef>
              <a:spcAft>
                <a:spcPts val="400"/>
              </a:spcAft>
            </a:pPr>
            <a:r>
              <a:rPr lang="ko-KR" altLang="en-US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사용자 입력 처리 및 저장</a:t>
            </a:r>
            <a:endParaRPr lang="ko-KR" altLang="en-US" sz="1400" kern="0">
              <a:solidFill>
                <a:srgbClr val="434343"/>
              </a:solidFill>
              <a:latin typeface="Arial" panose="020B0604020202020204" pitchFamily="34" charset="0"/>
            </a:endParaRPr>
          </a:p>
          <a:p>
            <a:pPr marL="461010" indent="-11684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en-US" altLang="ko-KR" sz="14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설정 변경 이벤트 처리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75640" indent="-22352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</a:t>
            </a:r>
            <a:r>
              <a:rPr lang="ko-KR" altLang="en-US" sz="1400" kern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"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저장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"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버튼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(pushButton_saveSetup)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클릭 시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onClick_btnSaveSetup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핸들 호출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75640" indent="-22352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</a:t>
            </a:r>
            <a:r>
              <a:rPr lang="ko-KR" altLang="en-US" sz="1400" kern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이 핸들러는 각 텍스트 필드의 값을 읽어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ConfigManager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의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setter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메서드를 통해 내부 설정 값 업데이트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75640" indent="-223520" fontAlgn="base" latinLnBrk="0">
              <a:lnSpc>
                <a:spcPct val="114000"/>
              </a:lnSpc>
              <a:spcBef>
                <a:spcPts val="1200"/>
              </a:spcBef>
            </a:pP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■</a:t>
            </a:r>
            <a:r>
              <a:rPr lang="ko-KR" altLang="en-US" sz="1400" kern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변경된 설정은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save_config()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를 호출하여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JSON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파일 다시 저장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61010" indent="-116840" fontAlgn="base" latinLnBrk="0">
              <a:lnSpc>
                <a:spcPct val="114000"/>
              </a:lnSpc>
            </a:pPr>
            <a:r>
              <a:rPr lang="en-US" altLang="ko-KR" sz="1400" kern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sz="1400" b="1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폼 전환 및 종료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뒤로가기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" 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버튼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(btnBack)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은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backSignal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emit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하여 폼 전환 기능을 지원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, closeEvent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에서도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closedSignal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을 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emit</a:t>
            </a:r>
            <a:r>
              <a:rPr lang="ko-KR" altLang="en-US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하여 폼 종료 시 후속 처리</a:t>
            </a:r>
            <a:r>
              <a:rPr lang="en-US" altLang="ko-KR" sz="1400" ker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rPr>
              <a:t>.</a:t>
            </a:r>
            <a:endParaRPr lang="ko-KR" altLang="en-US" sz="1400" kern="0" spc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1232535" y="1112747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5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설정파일 관리 시스템 구현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61373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72898" y="1104068"/>
            <a:ext cx="10729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smtClean="0"/>
              <a:t>5.4 </a:t>
            </a:r>
            <a:r>
              <a:rPr lang="ko-KR" altLang="en-US" sz="1600" smtClean="0"/>
              <a:t>임무통제장치 </a:t>
            </a:r>
            <a:r>
              <a:rPr lang="en-US" altLang="ko-KR" sz="1600" smtClean="0"/>
              <a:t>SW </a:t>
            </a:r>
            <a:r>
              <a:rPr lang="ko-KR" altLang="en-US" sz="1600" smtClean="0"/>
              <a:t>통합 구현 흐름 및 특징</a:t>
            </a:r>
            <a:endParaRPr lang="en-US" altLang="ko-KR" sz="1600" smtClean="0"/>
          </a:p>
        </p:txBody>
      </p:sp>
      <p:sp>
        <p:nvSpPr>
          <p:cNvPr id="6" name="직사각형 5"/>
          <p:cNvSpPr/>
          <p:nvPr/>
        </p:nvSpPr>
        <p:spPr>
          <a:xfrm>
            <a:off x="716692" y="1769230"/>
            <a:ext cx="985245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구현 흐름</a:t>
            </a:r>
          </a:p>
          <a:p>
            <a:pPr algn="just" fontAlgn="base"/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ConfigManager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생성 시 기본 설정이 정의되고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load_config()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로 기존 설정 파일 불러옴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setupForm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폼에서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ConfigManager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를 통해 각 차량 및 사운드 설정값을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UI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위젯 반영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사용자가 텍스트 에디터를 통해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IP,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포트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카메라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UR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을 수정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저장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버튼 클릭 시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입력값이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setter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메서드를 통해 업데이트되고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save_config()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가 호출되어 변경된 설정 </a:t>
            </a:r>
            <a:endParaRPr lang="en-US" altLang="ko-KR" sz="1600" kern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 JSON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파일 기록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</a:p>
          <a:p>
            <a:pPr marL="379730" indent="-379730" algn="just" fontAlgn="base">
              <a:buFontTx/>
              <a:buChar char="-"/>
            </a:pPr>
            <a:endParaRPr lang="ko-KR" altLang="en-US" sz="16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기술적 장점 및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확장성</a:t>
            </a:r>
            <a:endParaRPr lang="en-US" altLang="ko-KR" sz="1600" kern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모듈화 설정 관리 기능이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ConfigManager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클래스로 분리되어 있어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다른 프로젝트나 모듈 재사용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</a:p>
          <a:p>
            <a:pPr algn="just" fontAlgn="base"/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유지보수성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JSON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포맷을 사용하여 설정 파일이 사람이 읽기 쉽고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수동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편집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가능 설계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</a:p>
          <a:p>
            <a:pPr algn="just" fontAlgn="base"/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데이터 무결성 각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setter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메서드에서 인덱스 범위 체크 등 유효성 검증 로직을 포함하여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잘못된 데이터 </a:t>
            </a:r>
            <a:endParaRPr lang="en-US" altLang="ko-KR" sz="1600" kern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    입력 방지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</a:p>
          <a:p>
            <a:pPr algn="just" fontAlgn="base"/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GUI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와의 통합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PySide6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기반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UI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에서 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ConfigManager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를 직접 호출하여 실시간으로 설정값을 반영하고</a:t>
            </a:r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      </a:t>
            </a:r>
          </a:p>
          <a:p>
            <a:pPr algn="just" fontAlgn="base"/>
            <a:r>
              <a:rPr lang="en-US" altLang="ko-KR" sz="1600" ker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  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변경 </a:t>
            </a:r>
            <a:r>
              <a:rPr lang="ko-KR" altLang="en-US" sz="1600" kern="0">
                <a:solidFill>
                  <a:srgbClr val="000000"/>
                </a:solidFill>
                <a:latin typeface="+mj-ea"/>
                <a:ea typeface="+mj-ea"/>
              </a:rPr>
              <a:t>사항을 </a:t>
            </a:r>
            <a:r>
              <a:rPr lang="ko-KR" altLang="en-US" sz="1600" kern="0" smtClean="0">
                <a:solidFill>
                  <a:srgbClr val="000000"/>
                </a:solidFill>
                <a:latin typeface="+mj-ea"/>
                <a:ea typeface="+mj-ea"/>
              </a:rPr>
              <a:t>저장 편의성 확보</a:t>
            </a:r>
            <a:r>
              <a:rPr lang="en-US" altLang="ko-KR" sz="1600" kern="0" smtClean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600" kern="0" spc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63DF3899-EE5B-47C5-83EA-7BB62A671E6F}"/>
              </a:ext>
            </a:extLst>
          </p:cNvPr>
          <p:cNvCxnSpPr/>
          <p:nvPr/>
        </p:nvCxnSpPr>
        <p:spPr>
          <a:xfrm>
            <a:off x="866775" y="677318"/>
            <a:ext cx="8267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451A649-005E-4715-BC79-8265594409C3}"/>
              </a:ext>
            </a:extLst>
          </p:cNvPr>
          <p:cNvSpPr txBox="1"/>
          <p:nvPr/>
        </p:nvSpPr>
        <p:spPr>
          <a:xfrm>
            <a:off x="857250" y="2815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5</a:t>
            </a:r>
            <a:r>
              <a:rPr lang="en-US" altLang="ko-KR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smtClean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소프트웨어 설정파일 관리 시스템 구현</a:t>
            </a:r>
            <a:endParaRPr lang="en-US" altLang="ko-KR" b="1" dirty="0">
              <a:solidFill>
                <a:schemeClr val="bg2">
                  <a:lumMod val="1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8541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2687</Words>
  <Application>Microsoft Office PowerPoint</Application>
  <PresentationFormat>와이드스크린</PresentationFormat>
  <Paragraphs>542</Paragraphs>
  <Slides>29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Arial Unicode MS</vt:lpstr>
      <vt:lpstr>Roboto Mono</vt:lpstr>
      <vt:lpstr>나눔바른고딕</vt:lpstr>
      <vt:lpstr>맑은 고딕</vt:lpstr>
      <vt:lpstr>페이퍼로지 8 ExtraBold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Ace</dc:creator>
  <cp:lastModifiedBy>Ace</cp:lastModifiedBy>
  <cp:revision>21</cp:revision>
  <dcterms:created xsi:type="dcterms:W3CDTF">2025-08-08T03:45:19Z</dcterms:created>
  <dcterms:modified xsi:type="dcterms:W3CDTF">2025-08-08T07:00:10Z</dcterms:modified>
</cp:coreProperties>
</file>